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7"/>
                </a:moveTo>
                <a:lnTo>
                  <a:pt x="0" y="5143497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7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905000" y="0"/>
            <a:ext cx="5334000" cy="5130800"/>
          </a:xfrm>
          <a:custGeom>
            <a:avLst/>
            <a:gdLst/>
            <a:ahLst/>
            <a:cxnLst/>
            <a:rect l="l" t="t" r="r" b="b"/>
            <a:pathLst>
              <a:path w="5334000" h="5130800">
                <a:moveTo>
                  <a:pt x="3413098" y="5130799"/>
                </a:moveTo>
                <a:lnTo>
                  <a:pt x="1920901" y="5130799"/>
                </a:lnTo>
                <a:lnTo>
                  <a:pt x="1832763" y="5105399"/>
                </a:lnTo>
                <a:lnTo>
                  <a:pt x="1789190" y="5079999"/>
                </a:lnTo>
                <a:lnTo>
                  <a:pt x="1660543" y="5041899"/>
                </a:lnTo>
                <a:lnTo>
                  <a:pt x="1618375" y="5016499"/>
                </a:lnTo>
                <a:lnTo>
                  <a:pt x="1576578" y="5003799"/>
                </a:lnTo>
                <a:lnTo>
                  <a:pt x="1535157" y="4978399"/>
                </a:lnTo>
                <a:lnTo>
                  <a:pt x="1494120" y="4965699"/>
                </a:lnTo>
                <a:lnTo>
                  <a:pt x="1413229" y="4914899"/>
                </a:lnTo>
                <a:lnTo>
                  <a:pt x="1373389" y="4902199"/>
                </a:lnTo>
                <a:lnTo>
                  <a:pt x="1294957" y="4851399"/>
                </a:lnTo>
                <a:lnTo>
                  <a:pt x="1218236" y="4800599"/>
                </a:lnTo>
                <a:lnTo>
                  <a:pt x="1143285" y="4749799"/>
                </a:lnTo>
                <a:lnTo>
                  <a:pt x="1070163" y="4698999"/>
                </a:lnTo>
                <a:lnTo>
                  <a:pt x="998927" y="4648199"/>
                </a:lnTo>
                <a:lnTo>
                  <a:pt x="964035" y="4622799"/>
                </a:lnTo>
                <a:lnTo>
                  <a:pt x="929636" y="4584699"/>
                </a:lnTo>
                <a:lnTo>
                  <a:pt x="895739" y="4559299"/>
                </a:lnTo>
                <a:lnTo>
                  <a:pt x="862349" y="4533899"/>
                </a:lnTo>
                <a:lnTo>
                  <a:pt x="829475" y="4495799"/>
                </a:lnTo>
                <a:lnTo>
                  <a:pt x="797123" y="4470399"/>
                </a:lnTo>
                <a:lnTo>
                  <a:pt x="765302" y="4432299"/>
                </a:lnTo>
                <a:lnTo>
                  <a:pt x="734017" y="4406899"/>
                </a:lnTo>
                <a:lnTo>
                  <a:pt x="703278" y="4368799"/>
                </a:lnTo>
                <a:lnTo>
                  <a:pt x="673090" y="4330699"/>
                </a:lnTo>
                <a:lnTo>
                  <a:pt x="643461" y="4305299"/>
                </a:lnTo>
                <a:lnTo>
                  <a:pt x="614398" y="4267199"/>
                </a:lnTo>
                <a:lnTo>
                  <a:pt x="585909" y="4229099"/>
                </a:lnTo>
                <a:lnTo>
                  <a:pt x="558002" y="4203699"/>
                </a:lnTo>
                <a:lnTo>
                  <a:pt x="530682" y="4165599"/>
                </a:lnTo>
                <a:lnTo>
                  <a:pt x="503958" y="4127499"/>
                </a:lnTo>
                <a:lnTo>
                  <a:pt x="477837" y="4089399"/>
                </a:lnTo>
                <a:lnTo>
                  <a:pt x="452326" y="4051299"/>
                </a:lnTo>
                <a:lnTo>
                  <a:pt x="427432" y="4013199"/>
                </a:lnTo>
                <a:lnTo>
                  <a:pt x="403163" y="3975099"/>
                </a:lnTo>
                <a:lnTo>
                  <a:pt x="379526" y="3936999"/>
                </a:lnTo>
                <a:lnTo>
                  <a:pt x="356529" y="3898899"/>
                </a:lnTo>
                <a:lnTo>
                  <a:pt x="334178" y="3860799"/>
                </a:lnTo>
                <a:lnTo>
                  <a:pt x="312480" y="3822699"/>
                </a:lnTo>
                <a:lnTo>
                  <a:pt x="291444" y="3784599"/>
                </a:lnTo>
                <a:lnTo>
                  <a:pt x="271076" y="3733799"/>
                </a:lnTo>
                <a:lnTo>
                  <a:pt x="251384" y="3695699"/>
                </a:lnTo>
                <a:lnTo>
                  <a:pt x="232375" y="3657599"/>
                </a:lnTo>
                <a:lnTo>
                  <a:pt x="214057" y="3619499"/>
                </a:lnTo>
                <a:lnTo>
                  <a:pt x="196435" y="3568699"/>
                </a:lnTo>
                <a:lnTo>
                  <a:pt x="179519" y="3530599"/>
                </a:lnTo>
                <a:lnTo>
                  <a:pt x="163315" y="3492499"/>
                </a:lnTo>
                <a:lnTo>
                  <a:pt x="147830" y="3441699"/>
                </a:lnTo>
                <a:lnTo>
                  <a:pt x="133072" y="3403599"/>
                </a:lnTo>
                <a:lnTo>
                  <a:pt x="119048" y="3352799"/>
                </a:lnTo>
                <a:lnTo>
                  <a:pt x="105765" y="3314699"/>
                </a:lnTo>
                <a:lnTo>
                  <a:pt x="93231" y="3263899"/>
                </a:lnTo>
                <a:lnTo>
                  <a:pt x="81452" y="3225799"/>
                </a:lnTo>
                <a:lnTo>
                  <a:pt x="70437" y="3174999"/>
                </a:lnTo>
                <a:lnTo>
                  <a:pt x="60192" y="3136899"/>
                </a:lnTo>
                <a:lnTo>
                  <a:pt x="50725" y="3086099"/>
                </a:lnTo>
                <a:lnTo>
                  <a:pt x="42043" y="3035299"/>
                </a:lnTo>
                <a:lnTo>
                  <a:pt x="34153" y="2997199"/>
                </a:lnTo>
                <a:lnTo>
                  <a:pt x="27063" y="2946399"/>
                </a:lnTo>
                <a:lnTo>
                  <a:pt x="20779" y="2895599"/>
                </a:lnTo>
                <a:lnTo>
                  <a:pt x="15310" y="2857499"/>
                </a:lnTo>
                <a:lnTo>
                  <a:pt x="10662" y="2806699"/>
                </a:lnTo>
                <a:lnTo>
                  <a:pt x="6843" y="2755899"/>
                </a:lnTo>
                <a:lnTo>
                  <a:pt x="3860" y="2705099"/>
                </a:lnTo>
                <a:lnTo>
                  <a:pt x="1720" y="2666999"/>
                </a:lnTo>
                <a:lnTo>
                  <a:pt x="431" y="2616199"/>
                </a:lnTo>
                <a:lnTo>
                  <a:pt x="0" y="2565399"/>
                </a:lnTo>
                <a:lnTo>
                  <a:pt x="431" y="2514599"/>
                </a:lnTo>
                <a:lnTo>
                  <a:pt x="1720" y="2463799"/>
                </a:lnTo>
                <a:lnTo>
                  <a:pt x="3860" y="2425699"/>
                </a:lnTo>
                <a:lnTo>
                  <a:pt x="6843" y="2374899"/>
                </a:lnTo>
                <a:lnTo>
                  <a:pt x="10662" y="2324099"/>
                </a:lnTo>
                <a:lnTo>
                  <a:pt x="15310" y="2273299"/>
                </a:lnTo>
                <a:lnTo>
                  <a:pt x="20779" y="2235199"/>
                </a:lnTo>
                <a:lnTo>
                  <a:pt x="27063" y="2184399"/>
                </a:lnTo>
                <a:lnTo>
                  <a:pt x="34153" y="2133599"/>
                </a:lnTo>
                <a:lnTo>
                  <a:pt x="42043" y="2095499"/>
                </a:lnTo>
                <a:lnTo>
                  <a:pt x="50725" y="2044699"/>
                </a:lnTo>
                <a:lnTo>
                  <a:pt x="60192" y="1993899"/>
                </a:lnTo>
                <a:lnTo>
                  <a:pt x="70437" y="1955799"/>
                </a:lnTo>
                <a:lnTo>
                  <a:pt x="81452" y="1904999"/>
                </a:lnTo>
                <a:lnTo>
                  <a:pt x="93231" y="1866899"/>
                </a:lnTo>
                <a:lnTo>
                  <a:pt x="105765" y="1816099"/>
                </a:lnTo>
                <a:lnTo>
                  <a:pt x="119048" y="1777999"/>
                </a:lnTo>
                <a:lnTo>
                  <a:pt x="133072" y="1727199"/>
                </a:lnTo>
                <a:lnTo>
                  <a:pt x="147830" y="1689099"/>
                </a:lnTo>
                <a:lnTo>
                  <a:pt x="163315" y="1638299"/>
                </a:lnTo>
                <a:lnTo>
                  <a:pt x="179519" y="1600199"/>
                </a:lnTo>
                <a:lnTo>
                  <a:pt x="196435" y="1562099"/>
                </a:lnTo>
                <a:lnTo>
                  <a:pt x="214057" y="1511299"/>
                </a:lnTo>
                <a:lnTo>
                  <a:pt x="232375" y="1473199"/>
                </a:lnTo>
                <a:lnTo>
                  <a:pt x="251384" y="1435099"/>
                </a:lnTo>
                <a:lnTo>
                  <a:pt x="271076" y="1396999"/>
                </a:lnTo>
                <a:lnTo>
                  <a:pt x="291444" y="1346199"/>
                </a:lnTo>
                <a:lnTo>
                  <a:pt x="312480" y="1308099"/>
                </a:lnTo>
                <a:lnTo>
                  <a:pt x="334178" y="1269999"/>
                </a:lnTo>
                <a:lnTo>
                  <a:pt x="356529" y="1231899"/>
                </a:lnTo>
                <a:lnTo>
                  <a:pt x="379526" y="1193799"/>
                </a:lnTo>
                <a:lnTo>
                  <a:pt x="403163" y="1155699"/>
                </a:lnTo>
                <a:lnTo>
                  <a:pt x="427432" y="1117599"/>
                </a:lnTo>
                <a:lnTo>
                  <a:pt x="452326" y="1079499"/>
                </a:lnTo>
                <a:lnTo>
                  <a:pt x="477837" y="1041399"/>
                </a:lnTo>
                <a:lnTo>
                  <a:pt x="503958" y="1003299"/>
                </a:lnTo>
                <a:lnTo>
                  <a:pt x="530682" y="965199"/>
                </a:lnTo>
                <a:lnTo>
                  <a:pt x="558002" y="927099"/>
                </a:lnTo>
                <a:lnTo>
                  <a:pt x="585909" y="901699"/>
                </a:lnTo>
                <a:lnTo>
                  <a:pt x="614398" y="863599"/>
                </a:lnTo>
                <a:lnTo>
                  <a:pt x="643461" y="825499"/>
                </a:lnTo>
                <a:lnTo>
                  <a:pt x="673090" y="800099"/>
                </a:lnTo>
                <a:lnTo>
                  <a:pt x="703278" y="761999"/>
                </a:lnTo>
                <a:lnTo>
                  <a:pt x="734017" y="723899"/>
                </a:lnTo>
                <a:lnTo>
                  <a:pt x="765302" y="698499"/>
                </a:lnTo>
                <a:lnTo>
                  <a:pt x="797123" y="660399"/>
                </a:lnTo>
                <a:lnTo>
                  <a:pt x="829475" y="634999"/>
                </a:lnTo>
                <a:lnTo>
                  <a:pt x="862349" y="596899"/>
                </a:lnTo>
                <a:lnTo>
                  <a:pt x="895739" y="571499"/>
                </a:lnTo>
                <a:lnTo>
                  <a:pt x="929636" y="546099"/>
                </a:lnTo>
                <a:lnTo>
                  <a:pt x="964035" y="507999"/>
                </a:lnTo>
                <a:lnTo>
                  <a:pt x="998927" y="482599"/>
                </a:lnTo>
                <a:lnTo>
                  <a:pt x="1070163" y="431799"/>
                </a:lnTo>
                <a:lnTo>
                  <a:pt x="1143285" y="380999"/>
                </a:lnTo>
                <a:lnTo>
                  <a:pt x="1218236" y="330199"/>
                </a:lnTo>
                <a:lnTo>
                  <a:pt x="1294957" y="279399"/>
                </a:lnTo>
                <a:lnTo>
                  <a:pt x="1373389" y="228599"/>
                </a:lnTo>
                <a:lnTo>
                  <a:pt x="1413229" y="215899"/>
                </a:lnTo>
                <a:lnTo>
                  <a:pt x="1494120" y="165099"/>
                </a:lnTo>
                <a:lnTo>
                  <a:pt x="1535157" y="152399"/>
                </a:lnTo>
                <a:lnTo>
                  <a:pt x="1576578" y="126999"/>
                </a:lnTo>
                <a:lnTo>
                  <a:pt x="1618375" y="114299"/>
                </a:lnTo>
                <a:lnTo>
                  <a:pt x="1660543" y="88899"/>
                </a:lnTo>
                <a:lnTo>
                  <a:pt x="1789190" y="50799"/>
                </a:lnTo>
                <a:lnTo>
                  <a:pt x="1832763" y="25399"/>
                </a:lnTo>
                <a:lnTo>
                  <a:pt x="1920901" y="0"/>
                </a:lnTo>
                <a:lnTo>
                  <a:pt x="3406972" y="0"/>
                </a:lnTo>
                <a:lnTo>
                  <a:pt x="3454516" y="12699"/>
                </a:lnTo>
                <a:lnTo>
                  <a:pt x="3501768" y="38099"/>
                </a:lnTo>
                <a:lnTo>
                  <a:pt x="3595349" y="63499"/>
                </a:lnTo>
                <a:lnTo>
                  <a:pt x="3641653" y="88899"/>
                </a:lnTo>
                <a:lnTo>
                  <a:pt x="3687616" y="101599"/>
                </a:lnTo>
                <a:lnTo>
                  <a:pt x="3733228" y="126999"/>
                </a:lnTo>
                <a:lnTo>
                  <a:pt x="3778475" y="139699"/>
                </a:lnTo>
                <a:lnTo>
                  <a:pt x="3823345" y="165099"/>
                </a:lnTo>
                <a:lnTo>
                  <a:pt x="3867827" y="177799"/>
                </a:lnTo>
                <a:lnTo>
                  <a:pt x="3998820" y="253999"/>
                </a:lnTo>
                <a:lnTo>
                  <a:pt x="4125881" y="330199"/>
                </a:lnTo>
                <a:lnTo>
                  <a:pt x="4167304" y="355599"/>
                </a:lnTo>
                <a:lnTo>
                  <a:pt x="4208242" y="393699"/>
                </a:lnTo>
                <a:lnTo>
                  <a:pt x="4288614" y="444499"/>
                </a:lnTo>
                <a:lnTo>
                  <a:pt x="4328024" y="482599"/>
                </a:lnTo>
                <a:lnTo>
                  <a:pt x="4366900" y="507999"/>
                </a:lnTo>
                <a:lnTo>
                  <a:pt x="4405231" y="546099"/>
                </a:lnTo>
                <a:lnTo>
                  <a:pt x="4443003" y="571499"/>
                </a:lnTo>
                <a:lnTo>
                  <a:pt x="4480206" y="609599"/>
                </a:lnTo>
                <a:lnTo>
                  <a:pt x="4516827" y="647699"/>
                </a:lnTo>
                <a:lnTo>
                  <a:pt x="4552853" y="685799"/>
                </a:lnTo>
                <a:lnTo>
                  <a:pt x="4588206" y="711199"/>
                </a:lnTo>
                <a:lnTo>
                  <a:pt x="4622807" y="749299"/>
                </a:lnTo>
                <a:lnTo>
                  <a:pt x="4656653" y="787399"/>
                </a:lnTo>
                <a:lnTo>
                  <a:pt x="4689739" y="825499"/>
                </a:lnTo>
                <a:lnTo>
                  <a:pt x="4722059" y="863599"/>
                </a:lnTo>
                <a:lnTo>
                  <a:pt x="4753608" y="901699"/>
                </a:lnTo>
                <a:lnTo>
                  <a:pt x="4784383" y="939799"/>
                </a:lnTo>
                <a:lnTo>
                  <a:pt x="4814376" y="977899"/>
                </a:lnTo>
                <a:lnTo>
                  <a:pt x="4843584" y="1028699"/>
                </a:lnTo>
                <a:lnTo>
                  <a:pt x="4872001" y="1066799"/>
                </a:lnTo>
                <a:lnTo>
                  <a:pt x="4899623" y="1104899"/>
                </a:lnTo>
                <a:lnTo>
                  <a:pt x="4926445" y="1142999"/>
                </a:lnTo>
                <a:lnTo>
                  <a:pt x="4952461" y="1193799"/>
                </a:lnTo>
                <a:lnTo>
                  <a:pt x="4977666" y="1231899"/>
                </a:lnTo>
                <a:lnTo>
                  <a:pt x="5002055" y="1282699"/>
                </a:lnTo>
                <a:lnTo>
                  <a:pt x="5025625" y="1320799"/>
                </a:lnTo>
                <a:lnTo>
                  <a:pt x="5048368" y="1358899"/>
                </a:lnTo>
                <a:lnTo>
                  <a:pt x="5070281" y="1409699"/>
                </a:lnTo>
                <a:lnTo>
                  <a:pt x="5091358" y="1447799"/>
                </a:lnTo>
                <a:lnTo>
                  <a:pt x="5111595" y="1498599"/>
                </a:lnTo>
                <a:lnTo>
                  <a:pt x="5130986" y="1549399"/>
                </a:lnTo>
                <a:lnTo>
                  <a:pt x="5149527" y="1587499"/>
                </a:lnTo>
                <a:lnTo>
                  <a:pt x="5167212" y="1638299"/>
                </a:lnTo>
                <a:lnTo>
                  <a:pt x="5184036" y="1689099"/>
                </a:lnTo>
                <a:lnTo>
                  <a:pt x="5199995" y="1727199"/>
                </a:lnTo>
                <a:lnTo>
                  <a:pt x="5215083" y="1777999"/>
                </a:lnTo>
                <a:lnTo>
                  <a:pt x="5229295" y="1828799"/>
                </a:lnTo>
                <a:lnTo>
                  <a:pt x="5242627" y="1879599"/>
                </a:lnTo>
                <a:lnTo>
                  <a:pt x="5255073" y="1917699"/>
                </a:lnTo>
                <a:lnTo>
                  <a:pt x="5266628" y="1968499"/>
                </a:lnTo>
                <a:lnTo>
                  <a:pt x="5277288" y="2019299"/>
                </a:lnTo>
                <a:lnTo>
                  <a:pt x="5287047" y="2070099"/>
                </a:lnTo>
                <a:lnTo>
                  <a:pt x="5295900" y="2120899"/>
                </a:lnTo>
                <a:lnTo>
                  <a:pt x="5303843" y="2171699"/>
                </a:lnTo>
                <a:lnTo>
                  <a:pt x="5310870" y="2209799"/>
                </a:lnTo>
                <a:lnTo>
                  <a:pt x="5316976" y="2260599"/>
                </a:lnTo>
                <a:lnTo>
                  <a:pt x="5322157" y="2311399"/>
                </a:lnTo>
                <a:lnTo>
                  <a:pt x="5326407" y="2362199"/>
                </a:lnTo>
                <a:lnTo>
                  <a:pt x="5329721" y="2412999"/>
                </a:lnTo>
                <a:lnTo>
                  <a:pt x="5332095" y="2463799"/>
                </a:lnTo>
                <a:lnTo>
                  <a:pt x="5333522" y="2514599"/>
                </a:lnTo>
                <a:lnTo>
                  <a:pt x="5333999" y="2565399"/>
                </a:lnTo>
                <a:lnTo>
                  <a:pt x="5333568" y="2616199"/>
                </a:lnTo>
                <a:lnTo>
                  <a:pt x="5332279" y="2666999"/>
                </a:lnTo>
                <a:lnTo>
                  <a:pt x="5330139" y="2705099"/>
                </a:lnTo>
                <a:lnTo>
                  <a:pt x="5327156" y="2755899"/>
                </a:lnTo>
                <a:lnTo>
                  <a:pt x="5323337" y="2806699"/>
                </a:lnTo>
                <a:lnTo>
                  <a:pt x="5318689" y="2857499"/>
                </a:lnTo>
                <a:lnTo>
                  <a:pt x="5313220" y="2895599"/>
                </a:lnTo>
                <a:lnTo>
                  <a:pt x="5306936" y="2946399"/>
                </a:lnTo>
                <a:lnTo>
                  <a:pt x="5299846" y="2997199"/>
                </a:lnTo>
                <a:lnTo>
                  <a:pt x="5291956" y="3035299"/>
                </a:lnTo>
                <a:lnTo>
                  <a:pt x="5283274" y="3086099"/>
                </a:lnTo>
                <a:lnTo>
                  <a:pt x="5273807" y="3136899"/>
                </a:lnTo>
                <a:lnTo>
                  <a:pt x="5263562" y="3174999"/>
                </a:lnTo>
                <a:lnTo>
                  <a:pt x="5252547" y="3225799"/>
                </a:lnTo>
                <a:lnTo>
                  <a:pt x="5240768" y="3263899"/>
                </a:lnTo>
                <a:lnTo>
                  <a:pt x="5228234" y="3314699"/>
                </a:lnTo>
                <a:lnTo>
                  <a:pt x="5214951" y="3352799"/>
                </a:lnTo>
                <a:lnTo>
                  <a:pt x="5200927" y="3403599"/>
                </a:lnTo>
                <a:lnTo>
                  <a:pt x="5186169" y="3441699"/>
                </a:lnTo>
                <a:lnTo>
                  <a:pt x="5170684" y="3492499"/>
                </a:lnTo>
                <a:lnTo>
                  <a:pt x="5154480" y="3530599"/>
                </a:lnTo>
                <a:lnTo>
                  <a:pt x="5137564" y="3568699"/>
                </a:lnTo>
                <a:lnTo>
                  <a:pt x="5119942" y="3619499"/>
                </a:lnTo>
                <a:lnTo>
                  <a:pt x="5101624" y="3657599"/>
                </a:lnTo>
                <a:lnTo>
                  <a:pt x="5082615" y="3695699"/>
                </a:lnTo>
                <a:lnTo>
                  <a:pt x="5062922" y="3733799"/>
                </a:lnTo>
                <a:lnTo>
                  <a:pt x="5042555" y="3784599"/>
                </a:lnTo>
                <a:lnTo>
                  <a:pt x="5021519" y="3822699"/>
                </a:lnTo>
                <a:lnTo>
                  <a:pt x="4999821" y="3860799"/>
                </a:lnTo>
                <a:lnTo>
                  <a:pt x="4977470" y="3898899"/>
                </a:lnTo>
                <a:lnTo>
                  <a:pt x="4954472" y="3936999"/>
                </a:lnTo>
                <a:lnTo>
                  <a:pt x="4930836" y="3975099"/>
                </a:lnTo>
                <a:lnTo>
                  <a:pt x="4906567" y="4013199"/>
                </a:lnTo>
                <a:lnTo>
                  <a:pt x="4881673" y="4051299"/>
                </a:lnTo>
                <a:lnTo>
                  <a:pt x="4856162" y="4089399"/>
                </a:lnTo>
                <a:lnTo>
                  <a:pt x="4830041" y="4127499"/>
                </a:lnTo>
                <a:lnTo>
                  <a:pt x="4803317" y="4165599"/>
                </a:lnTo>
                <a:lnTo>
                  <a:pt x="4775997" y="4203699"/>
                </a:lnTo>
                <a:lnTo>
                  <a:pt x="4748089" y="4229099"/>
                </a:lnTo>
                <a:lnTo>
                  <a:pt x="4719601" y="4267199"/>
                </a:lnTo>
                <a:lnTo>
                  <a:pt x="4690538" y="4305299"/>
                </a:lnTo>
                <a:lnTo>
                  <a:pt x="4660909" y="4330699"/>
                </a:lnTo>
                <a:lnTo>
                  <a:pt x="4630721" y="4368799"/>
                </a:lnTo>
                <a:lnTo>
                  <a:pt x="4599982" y="4406899"/>
                </a:lnTo>
                <a:lnTo>
                  <a:pt x="4568697" y="4432299"/>
                </a:lnTo>
                <a:lnTo>
                  <a:pt x="4536876" y="4470399"/>
                </a:lnTo>
                <a:lnTo>
                  <a:pt x="4504524" y="4495799"/>
                </a:lnTo>
                <a:lnTo>
                  <a:pt x="4471650" y="4533899"/>
                </a:lnTo>
                <a:lnTo>
                  <a:pt x="4438260" y="4559299"/>
                </a:lnTo>
                <a:lnTo>
                  <a:pt x="4404362" y="4584699"/>
                </a:lnTo>
                <a:lnTo>
                  <a:pt x="4369964" y="4622799"/>
                </a:lnTo>
                <a:lnTo>
                  <a:pt x="4335072" y="4648199"/>
                </a:lnTo>
                <a:lnTo>
                  <a:pt x="4263836" y="4698999"/>
                </a:lnTo>
                <a:lnTo>
                  <a:pt x="4190714" y="4749799"/>
                </a:lnTo>
                <a:lnTo>
                  <a:pt x="4115763" y="4800599"/>
                </a:lnTo>
                <a:lnTo>
                  <a:pt x="4039042" y="4851399"/>
                </a:lnTo>
                <a:lnTo>
                  <a:pt x="3960610" y="4902199"/>
                </a:lnTo>
                <a:lnTo>
                  <a:pt x="3920770" y="4914899"/>
                </a:lnTo>
                <a:lnTo>
                  <a:pt x="3839878" y="4965699"/>
                </a:lnTo>
                <a:lnTo>
                  <a:pt x="3798842" y="4978399"/>
                </a:lnTo>
                <a:lnTo>
                  <a:pt x="3757421" y="5003799"/>
                </a:lnTo>
                <a:lnTo>
                  <a:pt x="3715624" y="5016499"/>
                </a:lnTo>
                <a:lnTo>
                  <a:pt x="3673456" y="5041899"/>
                </a:lnTo>
                <a:lnTo>
                  <a:pt x="3544809" y="5079999"/>
                </a:lnTo>
                <a:lnTo>
                  <a:pt x="3501236" y="5105399"/>
                </a:lnTo>
                <a:lnTo>
                  <a:pt x="3413098" y="5130799"/>
                </a:lnTo>
                <a:close/>
              </a:path>
            </a:pathLst>
          </a:custGeom>
          <a:solidFill>
            <a:srgbClr val="CCFAF1">
              <a:alpha val="2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714500" y="1142999"/>
            <a:ext cx="5715000" cy="2857500"/>
          </a:xfrm>
          <a:custGeom>
            <a:avLst/>
            <a:gdLst/>
            <a:ahLst/>
            <a:cxnLst/>
            <a:rect l="l" t="t" r="r" b="b"/>
            <a:pathLst>
              <a:path w="5715000" h="2857500">
                <a:moveTo>
                  <a:pt x="5524518" y="2857499"/>
                </a:moveTo>
                <a:lnTo>
                  <a:pt x="190480" y="2857499"/>
                </a:lnTo>
                <a:lnTo>
                  <a:pt x="146805" y="2852469"/>
                </a:lnTo>
                <a:lnTo>
                  <a:pt x="106712" y="2838139"/>
                </a:lnTo>
                <a:lnTo>
                  <a:pt x="71344" y="2815653"/>
                </a:lnTo>
                <a:lnTo>
                  <a:pt x="41846" y="2786155"/>
                </a:lnTo>
                <a:lnTo>
                  <a:pt x="19360" y="2750787"/>
                </a:lnTo>
                <a:lnTo>
                  <a:pt x="5030" y="2710694"/>
                </a:lnTo>
                <a:lnTo>
                  <a:pt x="0" y="2667019"/>
                </a:lnTo>
                <a:lnTo>
                  <a:pt x="0" y="190480"/>
                </a:lnTo>
                <a:lnTo>
                  <a:pt x="5030" y="146805"/>
                </a:lnTo>
                <a:lnTo>
                  <a:pt x="19360" y="106712"/>
                </a:lnTo>
                <a:lnTo>
                  <a:pt x="41846" y="71344"/>
                </a:lnTo>
                <a:lnTo>
                  <a:pt x="71344" y="41846"/>
                </a:lnTo>
                <a:lnTo>
                  <a:pt x="106712" y="19360"/>
                </a:lnTo>
                <a:lnTo>
                  <a:pt x="146805" y="5030"/>
                </a:lnTo>
                <a:lnTo>
                  <a:pt x="190480" y="0"/>
                </a:lnTo>
                <a:lnTo>
                  <a:pt x="5524518" y="0"/>
                </a:lnTo>
                <a:lnTo>
                  <a:pt x="5597412" y="14499"/>
                </a:lnTo>
                <a:lnTo>
                  <a:pt x="5659209" y="55790"/>
                </a:lnTo>
                <a:lnTo>
                  <a:pt x="5700500" y="117587"/>
                </a:lnTo>
                <a:lnTo>
                  <a:pt x="5714999" y="190480"/>
                </a:lnTo>
                <a:lnTo>
                  <a:pt x="5714999" y="2667019"/>
                </a:lnTo>
                <a:lnTo>
                  <a:pt x="5709969" y="2710694"/>
                </a:lnTo>
                <a:lnTo>
                  <a:pt x="5695639" y="2750787"/>
                </a:lnTo>
                <a:lnTo>
                  <a:pt x="5673153" y="2786155"/>
                </a:lnTo>
                <a:lnTo>
                  <a:pt x="5643655" y="2815653"/>
                </a:lnTo>
                <a:lnTo>
                  <a:pt x="5608287" y="2838139"/>
                </a:lnTo>
                <a:lnTo>
                  <a:pt x="5568194" y="2852469"/>
                </a:lnTo>
                <a:lnTo>
                  <a:pt x="5524518" y="2857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714500" y="1142999"/>
            <a:ext cx="5715000" cy="2857500"/>
          </a:xfrm>
          <a:custGeom>
            <a:avLst/>
            <a:gdLst/>
            <a:ahLst/>
            <a:cxnLst/>
            <a:rect l="l" t="t" r="r" b="b"/>
            <a:pathLst>
              <a:path w="5715000" h="2857500">
                <a:moveTo>
                  <a:pt x="0" y="190480"/>
                </a:moveTo>
                <a:lnTo>
                  <a:pt x="5030" y="146805"/>
                </a:lnTo>
                <a:lnTo>
                  <a:pt x="19360" y="106712"/>
                </a:lnTo>
                <a:lnTo>
                  <a:pt x="41846" y="71344"/>
                </a:lnTo>
                <a:lnTo>
                  <a:pt x="71344" y="41846"/>
                </a:lnTo>
                <a:lnTo>
                  <a:pt x="106712" y="19360"/>
                </a:lnTo>
                <a:lnTo>
                  <a:pt x="146805" y="5030"/>
                </a:lnTo>
                <a:lnTo>
                  <a:pt x="190480" y="0"/>
                </a:lnTo>
                <a:lnTo>
                  <a:pt x="5524518" y="0"/>
                </a:lnTo>
                <a:lnTo>
                  <a:pt x="5597412" y="14499"/>
                </a:lnTo>
                <a:lnTo>
                  <a:pt x="5659209" y="55790"/>
                </a:lnTo>
                <a:lnTo>
                  <a:pt x="5700500" y="117587"/>
                </a:lnTo>
                <a:lnTo>
                  <a:pt x="5714999" y="190480"/>
                </a:lnTo>
                <a:lnTo>
                  <a:pt x="5714999" y="2667019"/>
                </a:lnTo>
                <a:lnTo>
                  <a:pt x="5709969" y="2710694"/>
                </a:lnTo>
                <a:lnTo>
                  <a:pt x="5695639" y="2750787"/>
                </a:lnTo>
                <a:lnTo>
                  <a:pt x="5673153" y="2786155"/>
                </a:lnTo>
                <a:lnTo>
                  <a:pt x="5643655" y="2815653"/>
                </a:lnTo>
                <a:lnTo>
                  <a:pt x="5608287" y="2838139"/>
                </a:lnTo>
                <a:lnTo>
                  <a:pt x="5568194" y="2852469"/>
                </a:lnTo>
                <a:lnTo>
                  <a:pt x="5524518" y="2857499"/>
                </a:lnTo>
                <a:lnTo>
                  <a:pt x="190480" y="2857499"/>
                </a:lnTo>
                <a:lnTo>
                  <a:pt x="146805" y="2852469"/>
                </a:lnTo>
                <a:lnTo>
                  <a:pt x="106712" y="2838139"/>
                </a:lnTo>
                <a:lnTo>
                  <a:pt x="71344" y="2815653"/>
                </a:lnTo>
                <a:lnTo>
                  <a:pt x="41846" y="2786155"/>
                </a:lnTo>
                <a:lnTo>
                  <a:pt x="19360" y="2750787"/>
                </a:lnTo>
                <a:lnTo>
                  <a:pt x="5030" y="2710694"/>
                </a:lnTo>
                <a:lnTo>
                  <a:pt x="0" y="2667019"/>
                </a:lnTo>
                <a:lnTo>
                  <a:pt x="0" y="190480"/>
                </a:lnTo>
                <a:close/>
              </a:path>
            </a:pathLst>
          </a:custGeom>
          <a:ln w="14299">
            <a:solidFill>
              <a:srgbClr val="E1E7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714500" y="1142999"/>
            <a:ext cx="5715000" cy="57785"/>
          </a:xfrm>
          <a:custGeom>
            <a:avLst/>
            <a:gdLst/>
            <a:ahLst/>
            <a:cxnLst/>
            <a:rect l="l" t="t" r="r" b="b"/>
            <a:pathLst>
              <a:path w="5715000" h="57784">
                <a:moveTo>
                  <a:pt x="5686349" y="57299"/>
                </a:moveTo>
                <a:lnTo>
                  <a:pt x="28649" y="57299"/>
                </a:lnTo>
                <a:lnTo>
                  <a:pt x="17498" y="55048"/>
                </a:lnTo>
                <a:lnTo>
                  <a:pt x="8391" y="48908"/>
                </a:lnTo>
                <a:lnTo>
                  <a:pt x="2251" y="39801"/>
                </a:lnTo>
                <a:lnTo>
                  <a:pt x="0" y="28649"/>
                </a:lnTo>
                <a:lnTo>
                  <a:pt x="2251" y="17498"/>
                </a:lnTo>
                <a:lnTo>
                  <a:pt x="8391" y="8391"/>
                </a:lnTo>
                <a:lnTo>
                  <a:pt x="17498" y="2251"/>
                </a:lnTo>
                <a:lnTo>
                  <a:pt x="28649" y="0"/>
                </a:lnTo>
                <a:lnTo>
                  <a:pt x="5693948" y="0"/>
                </a:lnTo>
                <a:lnTo>
                  <a:pt x="5701235" y="3018"/>
                </a:lnTo>
                <a:lnTo>
                  <a:pt x="5711981" y="13764"/>
                </a:lnTo>
                <a:lnTo>
                  <a:pt x="5714999" y="21051"/>
                </a:lnTo>
                <a:lnTo>
                  <a:pt x="5714999" y="28649"/>
                </a:lnTo>
                <a:lnTo>
                  <a:pt x="5712748" y="39801"/>
                </a:lnTo>
                <a:lnTo>
                  <a:pt x="5706608" y="48908"/>
                </a:lnTo>
                <a:lnTo>
                  <a:pt x="5697501" y="55048"/>
                </a:lnTo>
                <a:lnTo>
                  <a:pt x="5686349" y="57299"/>
                </a:lnTo>
                <a:close/>
              </a:path>
            </a:pathLst>
          </a:custGeom>
          <a:solidFill>
            <a:srgbClr val="0D94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905250" y="1476374"/>
            <a:ext cx="1333500" cy="248285"/>
          </a:xfrm>
          <a:custGeom>
            <a:avLst/>
            <a:gdLst/>
            <a:ahLst/>
            <a:cxnLst/>
            <a:rect l="l" t="t" r="r" b="b"/>
            <a:pathLst>
              <a:path w="1333500" h="248285">
                <a:moveTo>
                  <a:pt x="1209599" y="247799"/>
                </a:moveTo>
                <a:lnTo>
                  <a:pt x="123899" y="247799"/>
                </a:lnTo>
                <a:lnTo>
                  <a:pt x="75672" y="238063"/>
                </a:lnTo>
                <a:lnTo>
                  <a:pt x="36289" y="211510"/>
                </a:lnTo>
                <a:lnTo>
                  <a:pt x="9736" y="172127"/>
                </a:lnTo>
                <a:lnTo>
                  <a:pt x="0" y="123899"/>
                </a:lnTo>
                <a:lnTo>
                  <a:pt x="9736" y="75672"/>
                </a:lnTo>
                <a:lnTo>
                  <a:pt x="36289" y="36289"/>
                </a:lnTo>
                <a:lnTo>
                  <a:pt x="75672" y="9736"/>
                </a:lnTo>
                <a:lnTo>
                  <a:pt x="123899" y="0"/>
                </a:lnTo>
                <a:lnTo>
                  <a:pt x="1209599" y="0"/>
                </a:lnTo>
                <a:lnTo>
                  <a:pt x="1257014" y="9431"/>
                </a:lnTo>
                <a:lnTo>
                  <a:pt x="1297210" y="36289"/>
                </a:lnTo>
                <a:lnTo>
                  <a:pt x="1324068" y="76485"/>
                </a:lnTo>
                <a:lnTo>
                  <a:pt x="1333499" y="123899"/>
                </a:lnTo>
                <a:lnTo>
                  <a:pt x="1323763" y="172127"/>
                </a:lnTo>
                <a:lnTo>
                  <a:pt x="1297210" y="211510"/>
                </a:lnTo>
                <a:lnTo>
                  <a:pt x="1257827" y="238063"/>
                </a:lnTo>
                <a:lnTo>
                  <a:pt x="1209599" y="247799"/>
                </a:lnTo>
                <a:close/>
              </a:path>
            </a:pathLst>
          </a:custGeom>
          <a:solidFill>
            <a:srgbClr val="CCFA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64207" y="1868043"/>
            <a:ext cx="301497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F1E1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rgbClr val="3B353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F1E1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3B353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F1E1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F1E1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7"/>
                </a:moveTo>
                <a:lnTo>
                  <a:pt x="0" y="5143497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7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550" y="267102"/>
            <a:ext cx="5207000" cy="753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F1E1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4127" y="1311621"/>
            <a:ext cx="5211445" cy="3281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rgbClr val="3B353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550" y="390347"/>
            <a:ext cx="3254375" cy="91757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782955">
              <a:lnSpc>
                <a:spcPct val="100499"/>
              </a:lnSpc>
              <a:spcBef>
                <a:spcPts val="85"/>
              </a:spcBef>
            </a:pPr>
            <a:r>
              <a:rPr dirty="0" spc="-20" b="1">
                <a:solidFill>
                  <a:srgbClr val="008080"/>
                </a:solidFill>
                <a:latin typeface="Arial"/>
                <a:cs typeface="Arial"/>
              </a:rPr>
              <a:t>AI-</a:t>
            </a:r>
            <a:r>
              <a:rPr dirty="0" b="1">
                <a:solidFill>
                  <a:srgbClr val="008080"/>
                </a:solidFill>
                <a:latin typeface="Arial"/>
                <a:cs typeface="Arial"/>
              </a:rPr>
              <a:t>Based</a:t>
            </a:r>
            <a:r>
              <a:rPr dirty="0" spc="-8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08080"/>
                </a:solidFill>
                <a:latin typeface="Arial"/>
                <a:cs typeface="Arial"/>
              </a:rPr>
              <a:t>Diabetes Prediction</a:t>
            </a:r>
            <a:r>
              <a:rPr dirty="0" spc="-6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08080"/>
                </a:solidFill>
                <a:latin typeface="Arial"/>
                <a:cs typeface="Arial"/>
              </a:rPr>
              <a:t>System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100" spc="-10">
                <a:solidFill>
                  <a:srgbClr val="4A4A4A"/>
                </a:solidFill>
              </a:rPr>
              <a:t>Machine</a:t>
            </a:r>
            <a:r>
              <a:rPr dirty="0" sz="1100" spc="-20">
                <a:solidFill>
                  <a:srgbClr val="4A4A4A"/>
                </a:solidFill>
              </a:rPr>
              <a:t> </a:t>
            </a:r>
            <a:r>
              <a:rPr dirty="0" sz="1100" spc="-10">
                <a:solidFill>
                  <a:srgbClr val="4A4A4A"/>
                </a:solidFill>
              </a:rPr>
              <a:t>Learning</a:t>
            </a:r>
            <a:r>
              <a:rPr dirty="0" sz="1100" spc="-2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for</a:t>
            </a:r>
            <a:r>
              <a:rPr dirty="0" sz="1100" spc="-2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Early</a:t>
            </a:r>
            <a:r>
              <a:rPr dirty="0" sz="1100" spc="-2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Diabetes</a:t>
            </a:r>
            <a:r>
              <a:rPr dirty="0" sz="1100" spc="-2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Risk</a:t>
            </a:r>
            <a:r>
              <a:rPr dirty="0" sz="1100" spc="-20">
                <a:solidFill>
                  <a:srgbClr val="4A4A4A"/>
                </a:solidFill>
              </a:rPr>
              <a:t> </a:t>
            </a:r>
            <a:r>
              <a:rPr dirty="0" sz="1100" spc="-10">
                <a:solidFill>
                  <a:srgbClr val="4A4A4A"/>
                </a:solidFill>
              </a:rPr>
              <a:t>Prediction</a:t>
            </a:r>
            <a:endParaRPr sz="1100"/>
          </a:p>
        </p:txBody>
      </p:sp>
      <p:sp>
        <p:nvSpPr>
          <p:cNvPr id="3" name="object 3"/>
          <p:cNvSpPr/>
          <p:nvPr/>
        </p:nvSpPr>
        <p:spPr>
          <a:xfrm>
            <a:off x="476250" y="1428750"/>
            <a:ext cx="4572000" cy="476884"/>
          </a:xfrm>
          <a:custGeom>
            <a:avLst/>
            <a:gdLst/>
            <a:ahLst/>
            <a:cxnLst/>
            <a:rect l="l" t="t" r="r" b="b"/>
            <a:pathLst>
              <a:path w="4572000" h="476885">
                <a:moveTo>
                  <a:pt x="4533886" y="476397"/>
                </a:moveTo>
                <a:lnTo>
                  <a:pt x="38110" y="476397"/>
                </a:lnTo>
                <a:lnTo>
                  <a:pt x="23276" y="473402"/>
                </a:lnTo>
                <a:lnTo>
                  <a:pt x="11161" y="465235"/>
                </a:lnTo>
                <a:lnTo>
                  <a:pt x="2994" y="453120"/>
                </a:lnTo>
                <a:lnTo>
                  <a:pt x="0" y="438286"/>
                </a:lnTo>
                <a:lnTo>
                  <a:pt x="0" y="38110"/>
                </a:lnTo>
                <a:lnTo>
                  <a:pt x="2994" y="23276"/>
                </a:lnTo>
                <a:lnTo>
                  <a:pt x="11161" y="11161"/>
                </a:lnTo>
                <a:lnTo>
                  <a:pt x="23276" y="2994"/>
                </a:lnTo>
                <a:lnTo>
                  <a:pt x="38110" y="0"/>
                </a:lnTo>
                <a:lnTo>
                  <a:pt x="4533886" y="0"/>
                </a:lnTo>
                <a:lnTo>
                  <a:pt x="4569097" y="23526"/>
                </a:lnTo>
                <a:lnTo>
                  <a:pt x="4571998" y="38110"/>
                </a:lnTo>
                <a:lnTo>
                  <a:pt x="4571998" y="438286"/>
                </a:lnTo>
                <a:lnTo>
                  <a:pt x="4569003" y="453120"/>
                </a:lnTo>
                <a:lnTo>
                  <a:pt x="4560836" y="465235"/>
                </a:lnTo>
                <a:lnTo>
                  <a:pt x="4548721" y="473402"/>
                </a:lnTo>
                <a:lnTo>
                  <a:pt x="4533886" y="476397"/>
                </a:lnTo>
                <a:close/>
              </a:path>
            </a:pathLst>
          </a:custGeom>
          <a:solidFill>
            <a:srgbClr val="F0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3550" y="1451810"/>
            <a:ext cx="4254500" cy="114617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250"/>
              </a:spcBef>
            </a:pPr>
            <a:r>
              <a:rPr dirty="0" sz="1050" b="1">
                <a:solidFill>
                  <a:srgbClr val="008080"/>
                </a:solidFill>
                <a:latin typeface="Arial"/>
                <a:cs typeface="Arial"/>
              </a:rPr>
              <a:t>Project</a:t>
            </a:r>
            <a:r>
              <a:rPr dirty="0" sz="1050" spc="-4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050" spc="-50" b="1">
                <a:solidFill>
                  <a:srgbClr val="008080"/>
                </a:solidFill>
                <a:latin typeface="Arial"/>
                <a:cs typeface="Arial"/>
              </a:rPr>
              <a:t>-</a:t>
            </a:r>
            <a:endParaRPr sz="10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  <a:spcBef>
                <a:spcPts val="150"/>
              </a:spcBef>
            </a:pPr>
            <a:r>
              <a:rPr dirty="0" sz="1050" spc="-10">
                <a:solidFill>
                  <a:srgbClr val="3B3535"/>
                </a:solidFill>
                <a:latin typeface="Arial MT"/>
                <a:cs typeface="Arial MT"/>
              </a:rPr>
              <a:t>DSN2098 </a:t>
            </a:r>
            <a:r>
              <a:rPr dirty="0" sz="1050">
                <a:solidFill>
                  <a:srgbClr val="3B3535"/>
                </a:solidFill>
                <a:latin typeface="Arial MT"/>
                <a:cs typeface="Arial MT"/>
              </a:rPr>
              <a:t>–</a:t>
            </a:r>
            <a:r>
              <a:rPr dirty="0" sz="1050" spc="-5">
                <a:solidFill>
                  <a:srgbClr val="3B353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B3535"/>
                </a:solidFill>
                <a:latin typeface="Arial MT"/>
                <a:cs typeface="Arial MT"/>
              </a:rPr>
              <a:t>Project</a:t>
            </a:r>
            <a:r>
              <a:rPr dirty="0" sz="1050" spc="-5">
                <a:solidFill>
                  <a:srgbClr val="3B353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3B3535"/>
                </a:solidFill>
                <a:latin typeface="Arial MT"/>
                <a:cs typeface="Arial MT"/>
              </a:rPr>
              <a:t>Exhibition-</a:t>
            </a:r>
            <a:r>
              <a:rPr dirty="0" sz="1050">
                <a:solidFill>
                  <a:srgbClr val="3B3535"/>
                </a:solidFill>
                <a:latin typeface="Arial MT"/>
                <a:cs typeface="Arial MT"/>
              </a:rPr>
              <a:t>I</a:t>
            </a:r>
            <a:r>
              <a:rPr dirty="0" sz="1050" spc="-5">
                <a:solidFill>
                  <a:srgbClr val="3B353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B3535"/>
                </a:solidFill>
                <a:latin typeface="Arial MT"/>
                <a:cs typeface="Arial MT"/>
              </a:rPr>
              <a:t>·</a:t>
            </a:r>
            <a:r>
              <a:rPr dirty="0" sz="1050" spc="-5">
                <a:solidFill>
                  <a:srgbClr val="3B353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3B3535"/>
                </a:solidFill>
                <a:latin typeface="Arial MT"/>
                <a:cs typeface="Arial MT"/>
              </a:rPr>
              <a:t>Review: </a:t>
            </a:r>
            <a:r>
              <a:rPr dirty="0" sz="1050" spc="-20">
                <a:solidFill>
                  <a:srgbClr val="3B3535"/>
                </a:solidFill>
                <a:latin typeface="Arial MT"/>
                <a:cs typeface="Arial MT"/>
              </a:rPr>
              <a:t>Review-</a:t>
            </a:r>
            <a:r>
              <a:rPr dirty="0" sz="1050" spc="-50">
                <a:solidFill>
                  <a:srgbClr val="3B3535"/>
                </a:solidFill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solidFill>
                  <a:srgbClr val="008080"/>
                </a:solidFill>
                <a:latin typeface="Arial"/>
                <a:cs typeface="Arial"/>
              </a:rPr>
              <a:t>Project</a:t>
            </a:r>
            <a:r>
              <a:rPr dirty="0" sz="1000" spc="-1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08080"/>
                </a:solidFill>
                <a:latin typeface="Arial"/>
                <a:cs typeface="Arial"/>
              </a:rPr>
              <a:t>Team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40"/>
              </a:spcBef>
            </a:pP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Aarjav</a:t>
            </a:r>
            <a:r>
              <a:rPr dirty="0" sz="11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Jain,</a:t>
            </a:r>
            <a:r>
              <a:rPr dirty="0" sz="11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Samarth</a:t>
            </a:r>
            <a:r>
              <a:rPr dirty="0" sz="11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Arial MT"/>
                <a:cs typeface="Arial MT"/>
              </a:rPr>
              <a:t>Khare,</a:t>
            </a:r>
            <a:r>
              <a:rPr dirty="0" sz="11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Aryan</a:t>
            </a:r>
            <a:r>
              <a:rPr dirty="0" sz="11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Srivastava,</a:t>
            </a:r>
            <a:r>
              <a:rPr dirty="0" sz="11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Shubhankar</a:t>
            </a:r>
            <a:r>
              <a:rPr dirty="0" sz="11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Arial MT"/>
                <a:cs typeface="Arial MT"/>
              </a:rPr>
              <a:t>Sharma, </a:t>
            </a: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Ishan</a:t>
            </a:r>
            <a:r>
              <a:rPr dirty="0" sz="11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Arial MT"/>
                <a:cs typeface="Arial MT"/>
              </a:rPr>
              <a:t>Bharti,</a:t>
            </a:r>
            <a:r>
              <a:rPr dirty="0" sz="11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33"/>
                </a:solidFill>
                <a:latin typeface="Arial MT"/>
                <a:cs typeface="Arial MT"/>
              </a:rPr>
              <a:t>Aryan</a:t>
            </a:r>
            <a:r>
              <a:rPr dirty="0" sz="11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Arial MT"/>
                <a:cs typeface="Arial MT"/>
              </a:rPr>
              <a:t>Srivastava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487" y="2947987"/>
            <a:ext cx="4581525" cy="1772285"/>
            <a:chOff x="471487" y="2947987"/>
            <a:chExt cx="4581525" cy="1772285"/>
          </a:xfrm>
        </p:grpSpPr>
        <p:sp>
          <p:nvSpPr>
            <p:cNvPr id="6" name="object 6"/>
            <p:cNvSpPr/>
            <p:nvPr/>
          </p:nvSpPr>
          <p:spPr>
            <a:xfrm>
              <a:off x="476250" y="2952750"/>
              <a:ext cx="4572000" cy="1762760"/>
            </a:xfrm>
            <a:custGeom>
              <a:avLst/>
              <a:gdLst/>
              <a:ahLst/>
              <a:cxnLst/>
              <a:rect l="l" t="t" r="r" b="b"/>
              <a:pathLst>
                <a:path w="4572000" h="1762760">
                  <a:moveTo>
                    <a:pt x="4514851" y="1762198"/>
                  </a:moveTo>
                  <a:lnTo>
                    <a:pt x="57147" y="1762198"/>
                  </a:lnTo>
                  <a:lnTo>
                    <a:pt x="34902" y="1757708"/>
                  </a:lnTo>
                  <a:lnTo>
                    <a:pt x="16737" y="1745460"/>
                  </a:lnTo>
                  <a:lnTo>
                    <a:pt x="4489" y="1727295"/>
                  </a:lnTo>
                  <a:lnTo>
                    <a:pt x="0" y="1705051"/>
                  </a:lnTo>
                  <a:lnTo>
                    <a:pt x="0" y="57147"/>
                  </a:lnTo>
                  <a:lnTo>
                    <a:pt x="4489" y="34902"/>
                  </a:lnTo>
                  <a:lnTo>
                    <a:pt x="16737" y="16737"/>
                  </a:lnTo>
                  <a:lnTo>
                    <a:pt x="34902" y="4489"/>
                  </a:lnTo>
                  <a:lnTo>
                    <a:pt x="57147" y="0"/>
                  </a:lnTo>
                  <a:lnTo>
                    <a:pt x="4514851" y="0"/>
                  </a:lnTo>
                  <a:lnTo>
                    <a:pt x="4555260" y="16737"/>
                  </a:lnTo>
                  <a:lnTo>
                    <a:pt x="4571998" y="57147"/>
                  </a:lnTo>
                  <a:lnTo>
                    <a:pt x="4571998" y="1705051"/>
                  </a:lnTo>
                  <a:lnTo>
                    <a:pt x="4567508" y="1727295"/>
                  </a:lnTo>
                  <a:lnTo>
                    <a:pt x="4555260" y="1745460"/>
                  </a:lnTo>
                  <a:lnTo>
                    <a:pt x="4537095" y="1757708"/>
                  </a:lnTo>
                  <a:lnTo>
                    <a:pt x="4514851" y="1762198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6250" y="2952750"/>
              <a:ext cx="4572000" cy="1762760"/>
            </a:xfrm>
            <a:custGeom>
              <a:avLst/>
              <a:gdLst/>
              <a:ahLst/>
              <a:cxnLst/>
              <a:rect l="l" t="t" r="r" b="b"/>
              <a:pathLst>
                <a:path w="4572000" h="1762760">
                  <a:moveTo>
                    <a:pt x="0" y="57147"/>
                  </a:moveTo>
                  <a:lnTo>
                    <a:pt x="4489" y="34902"/>
                  </a:lnTo>
                  <a:lnTo>
                    <a:pt x="16737" y="16737"/>
                  </a:lnTo>
                  <a:lnTo>
                    <a:pt x="34902" y="4489"/>
                  </a:lnTo>
                  <a:lnTo>
                    <a:pt x="57147" y="0"/>
                  </a:lnTo>
                  <a:lnTo>
                    <a:pt x="4514851" y="0"/>
                  </a:lnTo>
                  <a:lnTo>
                    <a:pt x="4555260" y="16737"/>
                  </a:lnTo>
                  <a:lnTo>
                    <a:pt x="4571998" y="57147"/>
                  </a:lnTo>
                  <a:lnTo>
                    <a:pt x="4571998" y="1705051"/>
                  </a:lnTo>
                  <a:lnTo>
                    <a:pt x="4567508" y="1727295"/>
                  </a:lnTo>
                  <a:lnTo>
                    <a:pt x="4555260" y="1745460"/>
                  </a:lnTo>
                  <a:lnTo>
                    <a:pt x="4537095" y="1757708"/>
                  </a:lnTo>
                  <a:lnTo>
                    <a:pt x="4514851" y="1762198"/>
                  </a:lnTo>
                  <a:lnTo>
                    <a:pt x="57147" y="1762198"/>
                  </a:lnTo>
                  <a:lnTo>
                    <a:pt x="34902" y="1757708"/>
                  </a:lnTo>
                  <a:lnTo>
                    <a:pt x="16737" y="1745460"/>
                  </a:lnTo>
                  <a:lnTo>
                    <a:pt x="4489" y="1727295"/>
                  </a:lnTo>
                  <a:lnTo>
                    <a:pt x="0" y="1705051"/>
                  </a:lnTo>
                  <a:lnTo>
                    <a:pt x="0" y="57147"/>
                  </a:lnTo>
                  <a:close/>
                </a:path>
              </a:pathLst>
            </a:custGeom>
            <a:ln w="9524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050" y="3121833"/>
            <a:ext cx="1506220" cy="13652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000" spc="-10" b="1">
                <a:solidFill>
                  <a:srgbClr val="666666"/>
                </a:solidFill>
                <a:latin typeface="Arial"/>
                <a:cs typeface="Arial"/>
              </a:rPr>
              <a:t>Supervisor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200" spc="-10" b="1">
                <a:solidFill>
                  <a:srgbClr val="111111"/>
                </a:solidFill>
                <a:latin typeface="Arial"/>
                <a:cs typeface="Arial"/>
              </a:rPr>
              <a:t>Dr.</a:t>
            </a:r>
            <a:r>
              <a:rPr dirty="0" sz="12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11111"/>
                </a:solidFill>
                <a:latin typeface="Arial"/>
                <a:cs typeface="Arial"/>
              </a:rPr>
              <a:t>Chayan</a:t>
            </a:r>
            <a:r>
              <a:rPr dirty="0" sz="12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11111"/>
                </a:solidFill>
                <a:latin typeface="Arial"/>
                <a:cs typeface="Arial"/>
              </a:rPr>
              <a:t>Paul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000" b="1">
                <a:solidFill>
                  <a:srgbClr val="666666"/>
                </a:solidFill>
                <a:latin typeface="Arial"/>
                <a:cs typeface="Arial"/>
              </a:rPr>
              <a:t>Reviewer</a:t>
            </a:r>
            <a:r>
              <a:rPr dirty="0" sz="1000" spc="-4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50" b="1">
                <a:solidFill>
                  <a:srgbClr val="666666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200" spc="-10" b="1">
                <a:solidFill>
                  <a:srgbClr val="111111"/>
                </a:solidFill>
                <a:latin typeface="Arial"/>
                <a:cs typeface="Arial"/>
              </a:rPr>
              <a:t>Dr.</a:t>
            </a:r>
            <a:r>
              <a:rPr dirty="0" sz="12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11111"/>
                </a:solidFill>
                <a:latin typeface="Arial"/>
                <a:cs typeface="Arial"/>
              </a:rPr>
              <a:t>G.</a:t>
            </a:r>
            <a:r>
              <a:rPr dirty="0" sz="12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11111"/>
                </a:solidFill>
                <a:latin typeface="Arial"/>
                <a:cs typeface="Arial"/>
              </a:rPr>
              <a:t>Prabhu</a:t>
            </a:r>
            <a:r>
              <a:rPr dirty="0" sz="12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11111"/>
                </a:solidFill>
                <a:latin typeface="Arial"/>
                <a:cs typeface="Arial"/>
              </a:rPr>
              <a:t>Kanna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000" b="1">
                <a:solidFill>
                  <a:srgbClr val="666666"/>
                </a:solidFill>
                <a:latin typeface="Arial"/>
                <a:cs typeface="Arial"/>
              </a:rPr>
              <a:t>Reviewer</a:t>
            </a:r>
            <a:r>
              <a:rPr dirty="0" sz="1000" spc="-4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50" b="1">
                <a:solidFill>
                  <a:srgbClr val="666666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200" spc="-10" b="1">
                <a:solidFill>
                  <a:srgbClr val="111111"/>
                </a:solidFill>
                <a:latin typeface="Arial"/>
                <a:cs typeface="Arial"/>
              </a:rPr>
              <a:t>Dr.</a:t>
            </a:r>
            <a:r>
              <a:rPr dirty="0" sz="12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11111"/>
                </a:solidFill>
                <a:latin typeface="Arial"/>
                <a:cs typeface="Arial"/>
              </a:rPr>
              <a:t>Chayan</a:t>
            </a:r>
            <a:r>
              <a:rPr dirty="0" sz="12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11111"/>
                </a:solidFill>
                <a:latin typeface="Arial"/>
                <a:cs typeface="Arial"/>
              </a:rPr>
              <a:t>Paul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7050"/>
            <a:ext cx="3809998" cy="5136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6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r>
              <a:rPr dirty="0" b="1">
                <a:solidFill>
                  <a:srgbClr val="008080"/>
                </a:solidFill>
                <a:latin typeface="Arial"/>
                <a:cs typeface="Arial"/>
              </a:rPr>
              <a:t>Problem</a:t>
            </a:r>
            <a:r>
              <a:rPr dirty="0" spc="-4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08080"/>
                </a:solidFill>
                <a:latin typeface="Arial"/>
                <a:cs typeface="Arial"/>
              </a:rPr>
              <a:t>Statement</a:t>
            </a:r>
            <a:r>
              <a:rPr dirty="0" spc="-114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08080"/>
                </a:solidFill>
                <a:latin typeface="Arial"/>
                <a:cs typeface="Arial"/>
              </a:rPr>
              <a:t>And</a:t>
            </a:r>
            <a:r>
              <a:rPr dirty="0" spc="-4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08080"/>
                </a:solidFill>
                <a:latin typeface="Arial"/>
                <a:cs typeface="Arial"/>
              </a:rPr>
              <a:t>Objectives</a:t>
            </a: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dirty="0" sz="1100">
                <a:solidFill>
                  <a:srgbClr val="666666"/>
                </a:solidFill>
              </a:rPr>
              <a:t>Core</a:t>
            </a:r>
            <a:r>
              <a:rPr dirty="0" sz="1100" spc="-25">
                <a:solidFill>
                  <a:srgbClr val="666666"/>
                </a:solidFill>
              </a:rPr>
              <a:t> </a:t>
            </a:r>
            <a:r>
              <a:rPr dirty="0" sz="1100">
                <a:solidFill>
                  <a:srgbClr val="666666"/>
                </a:solidFill>
              </a:rPr>
              <a:t>medical</a:t>
            </a:r>
            <a:r>
              <a:rPr dirty="0" sz="1100" spc="-25">
                <a:solidFill>
                  <a:srgbClr val="666666"/>
                </a:solidFill>
              </a:rPr>
              <a:t> </a:t>
            </a:r>
            <a:r>
              <a:rPr dirty="0" sz="1100">
                <a:solidFill>
                  <a:srgbClr val="666666"/>
                </a:solidFill>
              </a:rPr>
              <a:t>focus</a:t>
            </a:r>
            <a:r>
              <a:rPr dirty="0" sz="1100" spc="-25">
                <a:solidFill>
                  <a:srgbClr val="666666"/>
                </a:solidFill>
              </a:rPr>
              <a:t> </a:t>
            </a:r>
            <a:r>
              <a:rPr dirty="0" sz="1100">
                <a:solidFill>
                  <a:srgbClr val="666666"/>
                </a:solidFill>
              </a:rPr>
              <a:t>and</a:t>
            </a:r>
            <a:r>
              <a:rPr dirty="0" sz="1100" spc="-25">
                <a:solidFill>
                  <a:srgbClr val="666666"/>
                </a:solidFill>
              </a:rPr>
              <a:t> </a:t>
            </a:r>
            <a:r>
              <a:rPr dirty="0" sz="1100">
                <a:solidFill>
                  <a:srgbClr val="666666"/>
                </a:solidFill>
              </a:rPr>
              <a:t>strategic</a:t>
            </a:r>
            <a:r>
              <a:rPr dirty="0" sz="1100" spc="-20">
                <a:solidFill>
                  <a:srgbClr val="666666"/>
                </a:solidFill>
              </a:rPr>
              <a:t> </a:t>
            </a:r>
            <a:r>
              <a:rPr dirty="0" sz="1100">
                <a:solidFill>
                  <a:srgbClr val="666666"/>
                </a:solidFill>
              </a:rPr>
              <a:t>goals</a:t>
            </a:r>
            <a:r>
              <a:rPr dirty="0" sz="1100" spc="-25">
                <a:solidFill>
                  <a:srgbClr val="666666"/>
                </a:solidFill>
              </a:rPr>
              <a:t> </a:t>
            </a:r>
            <a:r>
              <a:rPr dirty="0" sz="1100">
                <a:solidFill>
                  <a:srgbClr val="666666"/>
                </a:solidFill>
              </a:rPr>
              <a:t>of</a:t>
            </a:r>
            <a:r>
              <a:rPr dirty="0" sz="1100" spc="-25">
                <a:solidFill>
                  <a:srgbClr val="666666"/>
                </a:solidFill>
              </a:rPr>
              <a:t> </a:t>
            </a:r>
            <a:r>
              <a:rPr dirty="0" sz="1100">
                <a:solidFill>
                  <a:srgbClr val="666666"/>
                </a:solidFill>
              </a:rPr>
              <a:t>the</a:t>
            </a:r>
            <a:r>
              <a:rPr dirty="0" sz="1100" spc="-25">
                <a:solidFill>
                  <a:srgbClr val="666666"/>
                </a:solidFill>
              </a:rPr>
              <a:t> </a:t>
            </a:r>
            <a:r>
              <a:rPr dirty="0" sz="1100" spc="-10">
                <a:solidFill>
                  <a:srgbClr val="666666"/>
                </a:solidFill>
              </a:rPr>
              <a:t>prediction</a:t>
            </a:r>
            <a:r>
              <a:rPr dirty="0" sz="1100" spc="-20">
                <a:solidFill>
                  <a:srgbClr val="666666"/>
                </a:solidFill>
              </a:rPr>
              <a:t> </a:t>
            </a:r>
            <a:r>
              <a:rPr dirty="0" sz="1100" spc="-10">
                <a:solidFill>
                  <a:srgbClr val="666666"/>
                </a:solidFill>
              </a:rPr>
              <a:t>system</a:t>
            </a:r>
            <a:endParaRPr sz="1100"/>
          </a:p>
        </p:txBody>
      </p:sp>
      <p:grpSp>
        <p:nvGrpSpPr>
          <p:cNvPr id="3" name="object 3"/>
          <p:cNvGrpSpPr/>
          <p:nvPr/>
        </p:nvGrpSpPr>
        <p:grpSpPr>
          <a:xfrm>
            <a:off x="449897" y="1088072"/>
            <a:ext cx="3957954" cy="3634104"/>
            <a:chOff x="449897" y="1088072"/>
            <a:chExt cx="3957954" cy="3634104"/>
          </a:xfrm>
        </p:grpSpPr>
        <p:sp>
          <p:nvSpPr>
            <p:cNvPr id="4" name="object 4"/>
            <p:cNvSpPr/>
            <p:nvPr/>
          </p:nvSpPr>
          <p:spPr>
            <a:xfrm>
              <a:off x="457199" y="1095375"/>
              <a:ext cx="3943350" cy="3619500"/>
            </a:xfrm>
            <a:custGeom>
              <a:avLst/>
              <a:gdLst/>
              <a:ahLst/>
              <a:cxnLst/>
              <a:rect l="l" t="t" r="r" b="b"/>
              <a:pathLst>
                <a:path w="3943350" h="3619500">
                  <a:moveTo>
                    <a:pt x="3847970" y="3619499"/>
                  </a:moveTo>
                  <a:lnTo>
                    <a:pt x="95229" y="3619499"/>
                  </a:lnTo>
                  <a:lnTo>
                    <a:pt x="58161" y="3612016"/>
                  </a:lnTo>
                  <a:lnTo>
                    <a:pt x="27891" y="3591608"/>
                  </a:lnTo>
                  <a:lnTo>
                    <a:pt x="7483" y="3561338"/>
                  </a:lnTo>
                  <a:lnTo>
                    <a:pt x="0" y="3524270"/>
                  </a:lnTo>
                  <a:lnTo>
                    <a:pt x="0" y="95228"/>
                  </a:lnTo>
                  <a:lnTo>
                    <a:pt x="7483" y="58161"/>
                  </a:lnTo>
                  <a:lnTo>
                    <a:pt x="27891" y="27891"/>
                  </a:lnTo>
                  <a:lnTo>
                    <a:pt x="58161" y="7483"/>
                  </a:lnTo>
                  <a:lnTo>
                    <a:pt x="95229" y="0"/>
                  </a:lnTo>
                  <a:lnTo>
                    <a:pt x="3847970" y="0"/>
                  </a:lnTo>
                  <a:lnTo>
                    <a:pt x="3900804" y="15999"/>
                  </a:lnTo>
                  <a:lnTo>
                    <a:pt x="3935951" y="58786"/>
                  </a:lnTo>
                  <a:lnTo>
                    <a:pt x="3943199" y="95228"/>
                  </a:lnTo>
                  <a:lnTo>
                    <a:pt x="3943199" y="3524270"/>
                  </a:lnTo>
                  <a:lnTo>
                    <a:pt x="3935716" y="3561338"/>
                  </a:lnTo>
                  <a:lnTo>
                    <a:pt x="3915308" y="3591608"/>
                  </a:lnTo>
                  <a:lnTo>
                    <a:pt x="3885038" y="3612016"/>
                  </a:lnTo>
                  <a:lnTo>
                    <a:pt x="3847970" y="3619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199" y="1095375"/>
              <a:ext cx="3943350" cy="3619500"/>
            </a:xfrm>
            <a:custGeom>
              <a:avLst/>
              <a:gdLst/>
              <a:ahLst/>
              <a:cxnLst/>
              <a:rect l="l" t="t" r="r" b="b"/>
              <a:pathLst>
                <a:path w="3943350" h="3619500">
                  <a:moveTo>
                    <a:pt x="0" y="95228"/>
                  </a:moveTo>
                  <a:lnTo>
                    <a:pt x="7483" y="58161"/>
                  </a:lnTo>
                  <a:lnTo>
                    <a:pt x="27891" y="27891"/>
                  </a:lnTo>
                  <a:lnTo>
                    <a:pt x="58161" y="7483"/>
                  </a:lnTo>
                  <a:lnTo>
                    <a:pt x="95229" y="0"/>
                  </a:lnTo>
                  <a:lnTo>
                    <a:pt x="3847970" y="0"/>
                  </a:lnTo>
                  <a:lnTo>
                    <a:pt x="3900804" y="15999"/>
                  </a:lnTo>
                  <a:lnTo>
                    <a:pt x="3935951" y="58786"/>
                  </a:lnTo>
                  <a:lnTo>
                    <a:pt x="3943199" y="95228"/>
                  </a:lnTo>
                  <a:lnTo>
                    <a:pt x="3943199" y="3524270"/>
                  </a:lnTo>
                  <a:lnTo>
                    <a:pt x="3935716" y="3561338"/>
                  </a:lnTo>
                  <a:lnTo>
                    <a:pt x="3915308" y="3591608"/>
                  </a:lnTo>
                  <a:lnTo>
                    <a:pt x="3885038" y="3612016"/>
                  </a:lnTo>
                  <a:lnTo>
                    <a:pt x="3847970" y="3619499"/>
                  </a:lnTo>
                  <a:lnTo>
                    <a:pt x="95229" y="3619499"/>
                  </a:lnTo>
                  <a:lnTo>
                    <a:pt x="58161" y="3612016"/>
                  </a:lnTo>
                  <a:lnTo>
                    <a:pt x="27891" y="3591608"/>
                  </a:lnTo>
                  <a:lnTo>
                    <a:pt x="7483" y="3561338"/>
                  </a:lnTo>
                  <a:lnTo>
                    <a:pt x="0" y="3524270"/>
                  </a:lnTo>
                  <a:lnTo>
                    <a:pt x="0" y="95228"/>
                  </a:lnTo>
                  <a:close/>
                </a:path>
              </a:pathLst>
            </a:custGeom>
            <a:ln w="14299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095387"/>
              <a:ext cx="3943350" cy="438784"/>
            </a:xfrm>
            <a:custGeom>
              <a:avLst/>
              <a:gdLst/>
              <a:ahLst/>
              <a:cxnLst/>
              <a:rect l="l" t="t" r="r" b="b"/>
              <a:pathLst>
                <a:path w="3943350" h="438784">
                  <a:moveTo>
                    <a:pt x="3943197" y="95275"/>
                  </a:moveTo>
                  <a:lnTo>
                    <a:pt x="3927183" y="42418"/>
                  </a:lnTo>
                  <a:lnTo>
                    <a:pt x="3884371" y="7251"/>
                  </a:lnTo>
                  <a:lnTo>
                    <a:pt x="3847909" y="0"/>
                  </a:lnTo>
                  <a:lnTo>
                    <a:pt x="95275" y="0"/>
                  </a:lnTo>
                  <a:lnTo>
                    <a:pt x="58191" y="7480"/>
                  </a:lnTo>
                  <a:lnTo>
                    <a:pt x="27901" y="27901"/>
                  </a:lnTo>
                  <a:lnTo>
                    <a:pt x="7480" y="58191"/>
                  </a:lnTo>
                  <a:lnTo>
                    <a:pt x="0" y="95275"/>
                  </a:lnTo>
                  <a:lnTo>
                    <a:pt x="0" y="342900"/>
                  </a:lnTo>
                  <a:lnTo>
                    <a:pt x="0" y="438289"/>
                  </a:lnTo>
                  <a:lnTo>
                    <a:pt x="95275" y="438289"/>
                  </a:lnTo>
                  <a:lnTo>
                    <a:pt x="3847909" y="438289"/>
                  </a:lnTo>
                  <a:lnTo>
                    <a:pt x="3943197" y="438289"/>
                  </a:lnTo>
                  <a:lnTo>
                    <a:pt x="3943197" y="343014"/>
                  </a:lnTo>
                  <a:lnTo>
                    <a:pt x="3943197" y="95275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35000" y="1213813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000" y="1666621"/>
            <a:ext cx="3329940" cy="64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08080"/>
                </a:solidFill>
                <a:latin typeface="Arial"/>
                <a:cs typeface="Arial"/>
              </a:rPr>
              <a:t>Early</a:t>
            </a:r>
            <a:r>
              <a:rPr dirty="0" sz="1300" spc="-2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08080"/>
                </a:solidFill>
                <a:latin typeface="Arial"/>
                <a:cs typeface="Arial"/>
              </a:rPr>
              <a:t>Diabetes</a:t>
            </a:r>
            <a:r>
              <a:rPr dirty="0" sz="1300" spc="-2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08080"/>
                </a:solidFill>
                <a:latin typeface="Arial"/>
                <a:cs typeface="Arial"/>
              </a:rPr>
              <a:t>Detection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60"/>
              </a:spcBef>
            </a:pP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Early</a:t>
            </a:r>
            <a:r>
              <a:rPr dirty="0" sz="105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 MT"/>
                <a:cs typeface="Arial MT"/>
              </a:rPr>
              <a:t>identification</a:t>
            </a:r>
            <a:r>
              <a:rPr dirty="0" sz="105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dirty="0" sz="105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disease</a:t>
            </a:r>
            <a:r>
              <a:rPr dirty="0" sz="105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risk</a:t>
            </a:r>
            <a:r>
              <a:rPr dirty="0" sz="105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helps</a:t>
            </a:r>
            <a:r>
              <a:rPr dirty="0" sz="105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individuals</a:t>
            </a:r>
            <a:r>
              <a:rPr dirty="0" sz="10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444444"/>
                </a:solidFill>
                <a:latin typeface="Arial MT"/>
                <a:cs typeface="Arial MT"/>
              </a:rPr>
              <a:t>seek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timely</a:t>
            </a:r>
            <a:r>
              <a:rPr dirty="0" sz="1050" spc="-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medical</a:t>
            </a:r>
            <a:r>
              <a:rPr dirty="0" sz="1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 MT"/>
                <a:cs typeface="Arial MT"/>
              </a:rPr>
              <a:t>advice.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000" y="2395601"/>
            <a:ext cx="3389629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Health</a:t>
            </a:r>
            <a:r>
              <a:rPr dirty="0" sz="1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datasets</a:t>
            </a:r>
            <a:r>
              <a:rPr dirty="0" sz="1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(Diabetes)</a:t>
            </a:r>
            <a:r>
              <a:rPr dirty="0" sz="1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contain</a:t>
            </a:r>
            <a:r>
              <a:rPr dirty="0" sz="1050" spc="-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patterns</a:t>
            </a:r>
            <a:r>
              <a:rPr dirty="0" sz="1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that</a:t>
            </a:r>
            <a:r>
              <a:rPr dirty="0" sz="105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 MT"/>
                <a:cs typeface="Arial MT"/>
              </a:rPr>
              <a:t>machine learning</a:t>
            </a:r>
            <a:r>
              <a:rPr dirty="0" sz="10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can</a:t>
            </a:r>
            <a:r>
              <a:rPr dirty="0" sz="10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help</a:t>
            </a:r>
            <a:r>
              <a:rPr dirty="0" sz="10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identify</a:t>
            </a:r>
            <a:r>
              <a:rPr dirty="0" sz="105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10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 MT"/>
                <a:cs typeface="Arial MT"/>
              </a:rPr>
              <a:t>produce</a:t>
            </a:r>
            <a:r>
              <a:rPr dirty="0" sz="10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44444"/>
                </a:solidFill>
                <a:latin typeface="Arial MT"/>
                <a:cs typeface="Arial MT"/>
              </a:rPr>
              <a:t>preliminary</a:t>
            </a:r>
            <a:r>
              <a:rPr dirty="0" sz="10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444444"/>
                </a:solidFill>
                <a:latin typeface="Arial MT"/>
                <a:cs typeface="Arial MT"/>
              </a:rPr>
              <a:t>risk </a:t>
            </a:r>
            <a:r>
              <a:rPr dirty="0" sz="1050" spc="-10">
                <a:solidFill>
                  <a:srgbClr val="444444"/>
                </a:solidFill>
                <a:latin typeface="Arial MT"/>
                <a:cs typeface="Arial MT"/>
              </a:rPr>
              <a:t>assessment.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2937" y="3757612"/>
            <a:ext cx="3571875" cy="733425"/>
            <a:chOff x="642937" y="3757612"/>
            <a:chExt cx="3571875" cy="733425"/>
          </a:xfrm>
        </p:grpSpPr>
        <p:sp>
          <p:nvSpPr>
            <p:cNvPr id="11" name="object 11"/>
            <p:cNvSpPr/>
            <p:nvPr/>
          </p:nvSpPr>
          <p:spPr>
            <a:xfrm>
              <a:off x="647700" y="3762375"/>
              <a:ext cx="3562350" cy="723900"/>
            </a:xfrm>
            <a:custGeom>
              <a:avLst/>
              <a:gdLst/>
              <a:ahLst/>
              <a:cxnLst/>
              <a:rect l="l" t="t" r="r" b="b"/>
              <a:pathLst>
                <a:path w="3562350" h="723900">
                  <a:moveTo>
                    <a:pt x="3486002" y="723899"/>
                  </a:moveTo>
                  <a:lnTo>
                    <a:pt x="76197" y="723899"/>
                  </a:lnTo>
                  <a:lnTo>
                    <a:pt x="46538" y="717911"/>
                  </a:lnTo>
                  <a:lnTo>
                    <a:pt x="22317" y="701582"/>
                  </a:lnTo>
                  <a:lnTo>
                    <a:pt x="5987" y="677361"/>
                  </a:lnTo>
                  <a:lnTo>
                    <a:pt x="0" y="647702"/>
                  </a:lnTo>
                  <a:lnTo>
                    <a:pt x="0" y="76197"/>
                  </a:lnTo>
                  <a:lnTo>
                    <a:pt x="5987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7" y="0"/>
                  </a:lnTo>
                  <a:lnTo>
                    <a:pt x="3486002" y="0"/>
                  </a:lnTo>
                  <a:lnTo>
                    <a:pt x="3528276" y="12802"/>
                  </a:lnTo>
                  <a:lnTo>
                    <a:pt x="3556399" y="47038"/>
                  </a:lnTo>
                  <a:lnTo>
                    <a:pt x="3562199" y="76197"/>
                  </a:lnTo>
                  <a:lnTo>
                    <a:pt x="3562199" y="647702"/>
                  </a:lnTo>
                  <a:lnTo>
                    <a:pt x="3556211" y="677361"/>
                  </a:lnTo>
                  <a:lnTo>
                    <a:pt x="3539882" y="701582"/>
                  </a:lnTo>
                  <a:lnTo>
                    <a:pt x="3515661" y="717911"/>
                  </a:lnTo>
                  <a:lnTo>
                    <a:pt x="3486002" y="723899"/>
                  </a:lnTo>
                  <a:close/>
                </a:path>
              </a:pathLst>
            </a:custGeom>
            <a:solidFill>
              <a:srgbClr val="F0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7700" y="3762375"/>
              <a:ext cx="3562350" cy="723900"/>
            </a:xfrm>
            <a:custGeom>
              <a:avLst/>
              <a:gdLst/>
              <a:ahLst/>
              <a:cxnLst/>
              <a:rect l="l" t="t" r="r" b="b"/>
              <a:pathLst>
                <a:path w="3562350" h="723900">
                  <a:moveTo>
                    <a:pt x="0" y="76197"/>
                  </a:moveTo>
                  <a:lnTo>
                    <a:pt x="5987" y="46538"/>
                  </a:lnTo>
                  <a:lnTo>
                    <a:pt x="22317" y="22317"/>
                  </a:lnTo>
                  <a:lnTo>
                    <a:pt x="46538" y="5988"/>
                  </a:lnTo>
                  <a:lnTo>
                    <a:pt x="76197" y="0"/>
                  </a:lnTo>
                  <a:lnTo>
                    <a:pt x="3486002" y="0"/>
                  </a:lnTo>
                  <a:lnTo>
                    <a:pt x="3528276" y="12802"/>
                  </a:lnTo>
                  <a:lnTo>
                    <a:pt x="3556399" y="47038"/>
                  </a:lnTo>
                  <a:lnTo>
                    <a:pt x="3562199" y="76197"/>
                  </a:lnTo>
                  <a:lnTo>
                    <a:pt x="3562199" y="647702"/>
                  </a:lnTo>
                  <a:lnTo>
                    <a:pt x="3556211" y="677361"/>
                  </a:lnTo>
                  <a:lnTo>
                    <a:pt x="3539882" y="701582"/>
                  </a:lnTo>
                  <a:lnTo>
                    <a:pt x="3515661" y="717911"/>
                  </a:lnTo>
                  <a:lnTo>
                    <a:pt x="3486002" y="723899"/>
                  </a:lnTo>
                  <a:lnTo>
                    <a:pt x="76197" y="723899"/>
                  </a:lnTo>
                  <a:lnTo>
                    <a:pt x="46538" y="717911"/>
                  </a:lnTo>
                  <a:lnTo>
                    <a:pt x="22317" y="701582"/>
                  </a:lnTo>
                  <a:lnTo>
                    <a:pt x="5987" y="677361"/>
                  </a:lnTo>
                  <a:lnTo>
                    <a:pt x="0" y="647702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CCE1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87400" y="3826142"/>
            <a:ext cx="3183255" cy="54610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000" b="1">
                <a:solidFill>
                  <a:srgbClr val="008080"/>
                </a:solidFill>
                <a:latin typeface="Arial"/>
                <a:cs typeface="Arial"/>
              </a:rPr>
              <a:t>Key</a:t>
            </a:r>
            <a:r>
              <a:rPr dirty="0" sz="1000" spc="-2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8080"/>
                </a:solidFill>
                <a:latin typeface="Arial"/>
                <a:cs typeface="Arial"/>
              </a:rPr>
              <a:t>Focus</a:t>
            </a:r>
            <a:r>
              <a:rPr dirty="0" sz="1000" spc="-5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08080"/>
                </a:solidFill>
                <a:latin typeface="Arial"/>
                <a:cs typeface="Arial"/>
              </a:rPr>
              <a:t>Area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05"/>
              </a:spcBef>
            </a:pP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Leveraging</a:t>
            </a:r>
            <a:r>
              <a:rPr dirty="0" sz="9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55555"/>
                </a:solidFill>
                <a:latin typeface="Arial MT"/>
                <a:cs typeface="Arial MT"/>
              </a:rPr>
              <a:t>data-driven</a:t>
            </a:r>
            <a:r>
              <a:rPr dirty="0" sz="950" spc="-5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AI</a:t>
            </a:r>
            <a:r>
              <a:rPr dirty="0" sz="9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models</a:t>
            </a:r>
            <a:r>
              <a:rPr dirty="0" sz="950" spc="-1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for</a:t>
            </a:r>
            <a:r>
              <a:rPr dirty="0" sz="9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preventive</a:t>
            </a:r>
            <a:r>
              <a:rPr dirty="0" sz="950" spc="-10">
                <a:solidFill>
                  <a:srgbClr val="555555"/>
                </a:solidFill>
                <a:latin typeface="Arial MT"/>
                <a:cs typeface="Arial MT"/>
              </a:rPr>
              <a:t> healthcare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dirty="0" sz="9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early</a:t>
            </a:r>
            <a:r>
              <a:rPr dirty="0" sz="9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clinical</a:t>
            </a:r>
            <a:r>
              <a:rPr dirty="0" sz="9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decision</a:t>
            </a:r>
            <a:r>
              <a:rPr dirty="0" sz="9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55555"/>
                </a:solidFill>
                <a:latin typeface="Arial MT"/>
                <a:cs typeface="Arial MT"/>
              </a:rPr>
              <a:t>support.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36147" y="1088072"/>
            <a:ext cx="3957954" cy="3634104"/>
            <a:chOff x="4736147" y="1088072"/>
            <a:chExt cx="3957954" cy="3634104"/>
          </a:xfrm>
        </p:grpSpPr>
        <p:sp>
          <p:nvSpPr>
            <p:cNvPr id="15" name="object 15"/>
            <p:cNvSpPr/>
            <p:nvPr/>
          </p:nvSpPr>
          <p:spPr>
            <a:xfrm>
              <a:off x="4743449" y="1095375"/>
              <a:ext cx="3943350" cy="3619500"/>
            </a:xfrm>
            <a:custGeom>
              <a:avLst/>
              <a:gdLst/>
              <a:ahLst/>
              <a:cxnLst/>
              <a:rect l="l" t="t" r="r" b="b"/>
              <a:pathLst>
                <a:path w="3943350" h="3619500">
                  <a:moveTo>
                    <a:pt x="3847970" y="3619499"/>
                  </a:moveTo>
                  <a:lnTo>
                    <a:pt x="95228" y="3619499"/>
                  </a:lnTo>
                  <a:lnTo>
                    <a:pt x="58161" y="3612016"/>
                  </a:lnTo>
                  <a:lnTo>
                    <a:pt x="27891" y="3591608"/>
                  </a:lnTo>
                  <a:lnTo>
                    <a:pt x="7483" y="3561338"/>
                  </a:lnTo>
                  <a:lnTo>
                    <a:pt x="0" y="3524270"/>
                  </a:lnTo>
                  <a:lnTo>
                    <a:pt x="0" y="95228"/>
                  </a:lnTo>
                  <a:lnTo>
                    <a:pt x="7483" y="58161"/>
                  </a:lnTo>
                  <a:lnTo>
                    <a:pt x="27891" y="27891"/>
                  </a:lnTo>
                  <a:lnTo>
                    <a:pt x="58161" y="7483"/>
                  </a:lnTo>
                  <a:lnTo>
                    <a:pt x="95228" y="0"/>
                  </a:lnTo>
                  <a:lnTo>
                    <a:pt x="3847970" y="0"/>
                  </a:lnTo>
                  <a:lnTo>
                    <a:pt x="3900803" y="15999"/>
                  </a:lnTo>
                  <a:lnTo>
                    <a:pt x="3935951" y="58786"/>
                  </a:lnTo>
                  <a:lnTo>
                    <a:pt x="3943199" y="95228"/>
                  </a:lnTo>
                  <a:lnTo>
                    <a:pt x="3943199" y="3524270"/>
                  </a:lnTo>
                  <a:lnTo>
                    <a:pt x="3935716" y="3561338"/>
                  </a:lnTo>
                  <a:lnTo>
                    <a:pt x="3915308" y="3591608"/>
                  </a:lnTo>
                  <a:lnTo>
                    <a:pt x="3885038" y="3612016"/>
                  </a:lnTo>
                  <a:lnTo>
                    <a:pt x="3847970" y="3619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743449" y="1095375"/>
              <a:ext cx="3943350" cy="3619500"/>
            </a:xfrm>
            <a:custGeom>
              <a:avLst/>
              <a:gdLst/>
              <a:ahLst/>
              <a:cxnLst/>
              <a:rect l="l" t="t" r="r" b="b"/>
              <a:pathLst>
                <a:path w="3943350" h="3619500">
                  <a:moveTo>
                    <a:pt x="0" y="95228"/>
                  </a:moveTo>
                  <a:lnTo>
                    <a:pt x="7483" y="58161"/>
                  </a:lnTo>
                  <a:lnTo>
                    <a:pt x="27891" y="27891"/>
                  </a:lnTo>
                  <a:lnTo>
                    <a:pt x="58161" y="7483"/>
                  </a:lnTo>
                  <a:lnTo>
                    <a:pt x="95228" y="0"/>
                  </a:lnTo>
                  <a:lnTo>
                    <a:pt x="3847970" y="0"/>
                  </a:lnTo>
                  <a:lnTo>
                    <a:pt x="3900803" y="15999"/>
                  </a:lnTo>
                  <a:lnTo>
                    <a:pt x="3935951" y="58786"/>
                  </a:lnTo>
                  <a:lnTo>
                    <a:pt x="3943199" y="95228"/>
                  </a:lnTo>
                  <a:lnTo>
                    <a:pt x="3943199" y="3524270"/>
                  </a:lnTo>
                  <a:lnTo>
                    <a:pt x="3935716" y="3561338"/>
                  </a:lnTo>
                  <a:lnTo>
                    <a:pt x="3915308" y="3591608"/>
                  </a:lnTo>
                  <a:lnTo>
                    <a:pt x="3885038" y="3612016"/>
                  </a:lnTo>
                  <a:lnTo>
                    <a:pt x="3847970" y="3619499"/>
                  </a:lnTo>
                  <a:lnTo>
                    <a:pt x="95228" y="3619499"/>
                  </a:lnTo>
                  <a:lnTo>
                    <a:pt x="58161" y="3612016"/>
                  </a:lnTo>
                  <a:lnTo>
                    <a:pt x="27891" y="3591608"/>
                  </a:lnTo>
                  <a:lnTo>
                    <a:pt x="7483" y="3561338"/>
                  </a:lnTo>
                  <a:lnTo>
                    <a:pt x="0" y="3524270"/>
                  </a:lnTo>
                  <a:lnTo>
                    <a:pt x="0" y="95228"/>
                  </a:lnTo>
                  <a:close/>
                </a:path>
              </a:pathLst>
            </a:custGeom>
            <a:ln w="14299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43450" y="1095387"/>
              <a:ext cx="3943350" cy="438784"/>
            </a:xfrm>
            <a:custGeom>
              <a:avLst/>
              <a:gdLst/>
              <a:ahLst/>
              <a:cxnLst/>
              <a:rect l="l" t="t" r="r" b="b"/>
              <a:pathLst>
                <a:path w="3943350" h="438784">
                  <a:moveTo>
                    <a:pt x="3943197" y="95275"/>
                  </a:moveTo>
                  <a:lnTo>
                    <a:pt x="3927183" y="42418"/>
                  </a:lnTo>
                  <a:lnTo>
                    <a:pt x="3884371" y="7251"/>
                  </a:lnTo>
                  <a:lnTo>
                    <a:pt x="3847909" y="0"/>
                  </a:lnTo>
                  <a:lnTo>
                    <a:pt x="95275" y="0"/>
                  </a:lnTo>
                  <a:lnTo>
                    <a:pt x="58191" y="7480"/>
                  </a:lnTo>
                  <a:lnTo>
                    <a:pt x="27901" y="27901"/>
                  </a:lnTo>
                  <a:lnTo>
                    <a:pt x="7480" y="58191"/>
                  </a:lnTo>
                  <a:lnTo>
                    <a:pt x="0" y="95275"/>
                  </a:lnTo>
                  <a:lnTo>
                    <a:pt x="0" y="342900"/>
                  </a:lnTo>
                  <a:lnTo>
                    <a:pt x="0" y="438289"/>
                  </a:lnTo>
                  <a:lnTo>
                    <a:pt x="95275" y="438289"/>
                  </a:lnTo>
                  <a:lnTo>
                    <a:pt x="3847909" y="438289"/>
                  </a:lnTo>
                  <a:lnTo>
                    <a:pt x="3943197" y="438289"/>
                  </a:lnTo>
                  <a:lnTo>
                    <a:pt x="3943197" y="343014"/>
                  </a:lnTo>
                  <a:lnTo>
                    <a:pt x="3943197" y="95275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921250" y="1213813"/>
            <a:ext cx="989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53000" y="17049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1201" y="259901"/>
                </a:lnTo>
                <a:lnTo>
                  <a:pt x="54595" y="240971"/>
                </a:lnTo>
                <a:lnTo>
                  <a:pt x="25728" y="212104"/>
                </a:lnTo>
                <a:lnTo>
                  <a:pt x="6798" y="175498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159486" y="2585"/>
                </a:lnTo>
                <a:lnTo>
                  <a:pt x="207332" y="22404"/>
                </a:lnTo>
                <a:lnTo>
                  <a:pt x="244295" y="59367"/>
                </a:lnTo>
                <a:lnTo>
                  <a:pt x="264114" y="107213"/>
                </a:lnTo>
                <a:lnTo>
                  <a:pt x="266699" y="133349"/>
                </a:lnTo>
                <a:lnTo>
                  <a:pt x="259901" y="175498"/>
                </a:lnTo>
                <a:lnTo>
                  <a:pt x="240971" y="212104"/>
                </a:lnTo>
                <a:lnTo>
                  <a:pt x="212104" y="240971"/>
                </a:lnTo>
                <a:lnTo>
                  <a:pt x="175498" y="259901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E6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003046" y="1744345"/>
            <a:ext cx="167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08080"/>
                </a:solidFill>
                <a:latin typeface="Arial"/>
                <a:cs typeface="Arial"/>
              </a:rPr>
              <a:t>01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0350" y="1687195"/>
            <a:ext cx="26009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Develop</a:t>
            </a:r>
            <a:r>
              <a:rPr dirty="0" sz="10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an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 ML-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based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system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disease-</a:t>
            </a:r>
            <a:r>
              <a:rPr dirty="0" sz="1000" spc="-20">
                <a:solidFill>
                  <a:srgbClr val="333333"/>
                </a:solidFill>
                <a:latin typeface="Arial MT"/>
                <a:cs typeface="Arial MT"/>
              </a:rPr>
              <a:t>risk 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prediction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53000" y="21621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1201" y="259901"/>
                </a:lnTo>
                <a:lnTo>
                  <a:pt x="54595" y="240971"/>
                </a:lnTo>
                <a:lnTo>
                  <a:pt x="25728" y="212104"/>
                </a:lnTo>
                <a:lnTo>
                  <a:pt x="6798" y="175498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159486" y="2585"/>
                </a:lnTo>
                <a:lnTo>
                  <a:pt x="207332" y="22404"/>
                </a:lnTo>
                <a:lnTo>
                  <a:pt x="244295" y="59367"/>
                </a:lnTo>
                <a:lnTo>
                  <a:pt x="264114" y="107213"/>
                </a:lnTo>
                <a:lnTo>
                  <a:pt x="266699" y="133349"/>
                </a:lnTo>
                <a:lnTo>
                  <a:pt x="259901" y="175498"/>
                </a:lnTo>
                <a:lnTo>
                  <a:pt x="240971" y="212104"/>
                </a:lnTo>
                <a:lnTo>
                  <a:pt x="212104" y="240971"/>
                </a:lnTo>
                <a:lnTo>
                  <a:pt x="175498" y="259901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E6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003046" y="2201545"/>
            <a:ext cx="167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08080"/>
                </a:solidFill>
                <a:latin typeface="Arial"/>
                <a:cs typeface="Arial"/>
              </a:rPr>
              <a:t>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40350" y="2144395"/>
            <a:ext cx="27768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Analyse</a:t>
            </a:r>
            <a:r>
              <a:rPr dirty="0" sz="10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health</a:t>
            </a:r>
            <a:r>
              <a:rPr dirty="0" sz="10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parameters</a:t>
            </a:r>
            <a:r>
              <a:rPr dirty="0" sz="10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extract</a:t>
            </a:r>
            <a:r>
              <a:rPr dirty="0" sz="10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predictive features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53000" y="26193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1201" y="259901"/>
                </a:lnTo>
                <a:lnTo>
                  <a:pt x="54595" y="240971"/>
                </a:lnTo>
                <a:lnTo>
                  <a:pt x="25728" y="212104"/>
                </a:lnTo>
                <a:lnTo>
                  <a:pt x="6798" y="175498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159486" y="2585"/>
                </a:lnTo>
                <a:lnTo>
                  <a:pt x="207332" y="22404"/>
                </a:lnTo>
                <a:lnTo>
                  <a:pt x="244295" y="59367"/>
                </a:lnTo>
                <a:lnTo>
                  <a:pt x="264114" y="107213"/>
                </a:lnTo>
                <a:lnTo>
                  <a:pt x="266699" y="133349"/>
                </a:lnTo>
                <a:lnTo>
                  <a:pt x="259901" y="175498"/>
                </a:lnTo>
                <a:lnTo>
                  <a:pt x="240971" y="212104"/>
                </a:lnTo>
                <a:lnTo>
                  <a:pt x="212104" y="240971"/>
                </a:lnTo>
                <a:lnTo>
                  <a:pt x="175498" y="259901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E6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003046" y="2658745"/>
            <a:ext cx="167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08080"/>
                </a:solidFill>
                <a:latin typeface="Arial"/>
                <a:cs typeface="Arial"/>
              </a:rPr>
              <a:t>03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40350" y="2677795"/>
            <a:ext cx="27381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Train</a:t>
            </a:r>
            <a:r>
              <a:rPr dirty="0" sz="10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evaluate</a:t>
            </a:r>
            <a:r>
              <a:rPr dirty="0" sz="10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models</a:t>
            </a:r>
            <a:r>
              <a:rPr dirty="0" sz="10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using</a:t>
            </a:r>
            <a:r>
              <a:rPr dirty="0" sz="10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public</a:t>
            </a:r>
            <a:r>
              <a:rPr dirty="0" sz="10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datasets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53000" y="30765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1201" y="259901"/>
                </a:lnTo>
                <a:lnTo>
                  <a:pt x="54595" y="240971"/>
                </a:lnTo>
                <a:lnTo>
                  <a:pt x="25728" y="212104"/>
                </a:lnTo>
                <a:lnTo>
                  <a:pt x="6798" y="175498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159486" y="2585"/>
                </a:lnTo>
                <a:lnTo>
                  <a:pt x="207332" y="22404"/>
                </a:lnTo>
                <a:lnTo>
                  <a:pt x="244295" y="59367"/>
                </a:lnTo>
                <a:lnTo>
                  <a:pt x="264114" y="107213"/>
                </a:lnTo>
                <a:lnTo>
                  <a:pt x="266699" y="133349"/>
                </a:lnTo>
                <a:lnTo>
                  <a:pt x="259901" y="175498"/>
                </a:lnTo>
                <a:lnTo>
                  <a:pt x="240971" y="212104"/>
                </a:lnTo>
                <a:lnTo>
                  <a:pt x="212104" y="240971"/>
                </a:lnTo>
                <a:lnTo>
                  <a:pt x="175498" y="259901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E6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003046" y="3115945"/>
            <a:ext cx="167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08080"/>
                </a:solidFill>
                <a:latin typeface="Arial"/>
                <a:cs typeface="Arial"/>
              </a:rPr>
              <a:t>04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40350" y="3134995"/>
            <a:ext cx="22758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Provide</a:t>
            </a:r>
            <a:r>
              <a:rPr dirty="0" sz="10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0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clear,</a:t>
            </a:r>
            <a:r>
              <a:rPr dirty="0" sz="10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simple</a:t>
            </a:r>
            <a:r>
              <a:rPr dirty="0" sz="10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prediction</a:t>
            </a:r>
            <a:r>
              <a:rPr dirty="0" sz="10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output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53000" y="35337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1201" y="259901"/>
                </a:lnTo>
                <a:lnTo>
                  <a:pt x="54595" y="240971"/>
                </a:lnTo>
                <a:lnTo>
                  <a:pt x="25728" y="212104"/>
                </a:lnTo>
                <a:lnTo>
                  <a:pt x="6798" y="175498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159486" y="2585"/>
                </a:lnTo>
                <a:lnTo>
                  <a:pt x="207332" y="22404"/>
                </a:lnTo>
                <a:lnTo>
                  <a:pt x="244295" y="59367"/>
                </a:lnTo>
                <a:lnTo>
                  <a:pt x="264114" y="107213"/>
                </a:lnTo>
                <a:lnTo>
                  <a:pt x="266699" y="133349"/>
                </a:lnTo>
                <a:lnTo>
                  <a:pt x="259901" y="175498"/>
                </a:lnTo>
                <a:lnTo>
                  <a:pt x="240971" y="212104"/>
                </a:lnTo>
                <a:lnTo>
                  <a:pt x="212104" y="240971"/>
                </a:lnTo>
                <a:lnTo>
                  <a:pt x="175498" y="259901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E6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003046" y="3573145"/>
            <a:ext cx="167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008080"/>
                </a:solidFill>
                <a:latin typeface="Arial"/>
                <a:cs typeface="Arial"/>
              </a:rPr>
              <a:t>05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40350" y="3592195"/>
            <a:ext cx="24745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Study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 practical</a:t>
            </a:r>
            <a:r>
              <a:rPr dirty="0" sz="10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AI applications</a:t>
            </a:r>
            <a:r>
              <a:rPr dirty="0" sz="10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10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Arial MT"/>
                <a:cs typeface="Arial MT"/>
              </a:rPr>
              <a:t>healthcare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761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Scope</a:t>
            </a:r>
            <a:r>
              <a:rPr dirty="0" sz="2400" spc="1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008080"/>
                </a:solidFill>
                <a:latin typeface="Arial"/>
                <a:cs typeface="Arial"/>
              </a:rPr>
              <a:t>(Review-</a:t>
            </a: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1</a:t>
            </a:r>
            <a:r>
              <a:rPr dirty="0" sz="2400" spc="1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&amp;</a:t>
            </a:r>
            <a:r>
              <a:rPr dirty="0" sz="2400" spc="1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008080"/>
                </a:solidFill>
                <a:latin typeface="Arial"/>
                <a:cs typeface="Arial"/>
              </a:rPr>
              <a:t>Review-</a:t>
            </a:r>
            <a:r>
              <a:rPr dirty="0" sz="2400" spc="-25" b="1">
                <a:solidFill>
                  <a:srgbClr val="008080"/>
                </a:solidFill>
                <a:latin typeface="Arial"/>
                <a:cs typeface="Arial"/>
              </a:rPr>
              <a:t>2)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9100" y="1135849"/>
            <a:ext cx="3900804" cy="3538854"/>
            <a:chOff x="469100" y="1135849"/>
            <a:chExt cx="3900804" cy="3538854"/>
          </a:xfrm>
        </p:grpSpPr>
        <p:sp>
          <p:nvSpPr>
            <p:cNvPr id="4" name="object 4"/>
            <p:cNvSpPr/>
            <p:nvPr/>
          </p:nvSpPr>
          <p:spPr>
            <a:xfrm>
              <a:off x="476250" y="1142999"/>
              <a:ext cx="3886200" cy="3524885"/>
            </a:xfrm>
            <a:custGeom>
              <a:avLst/>
              <a:gdLst/>
              <a:ahLst/>
              <a:cxnLst/>
              <a:rect l="l" t="t" r="r" b="b"/>
              <a:pathLst>
                <a:path w="3886200" h="3524885">
                  <a:moveTo>
                    <a:pt x="3809997" y="3524399"/>
                  </a:moveTo>
                  <a:lnTo>
                    <a:pt x="76201" y="3524399"/>
                  </a:lnTo>
                  <a:lnTo>
                    <a:pt x="46206" y="3518521"/>
                  </a:lnTo>
                  <a:lnTo>
                    <a:pt x="22021" y="3502372"/>
                  </a:lnTo>
                  <a:lnTo>
                    <a:pt x="5876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76" y="46216"/>
                  </a:lnTo>
                  <a:lnTo>
                    <a:pt x="22021" y="22027"/>
                  </a:lnTo>
                  <a:lnTo>
                    <a:pt x="46206" y="5878"/>
                  </a:lnTo>
                  <a:lnTo>
                    <a:pt x="76201" y="0"/>
                  </a:lnTo>
                  <a:lnTo>
                    <a:pt x="3809997" y="0"/>
                  </a:lnTo>
                  <a:lnTo>
                    <a:pt x="3839993" y="5878"/>
                  </a:lnTo>
                  <a:lnTo>
                    <a:pt x="3864178" y="22027"/>
                  </a:lnTo>
                  <a:lnTo>
                    <a:pt x="3880323" y="46216"/>
                  </a:lnTo>
                  <a:lnTo>
                    <a:pt x="3886199" y="76215"/>
                  </a:lnTo>
                  <a:lnTo>
                    <a:pt x="3886199" y="3448184"/>
                  </a:lnTo>
                  <a:lnTo>
                    <a:pt x="3880323" y="3478183"/>
                  </a:lnTo>
                  <a:lnTo>
                    <a:pt x="3864178" y="3502372"/>
                  </a:lnTo>
                  <a:lnTo>
                    <a:pt x="3839993" y="3518521"/>
                  </a:lnTo>
                  <a:lnTo>
                    <a:pt x="3809997" y="352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76250" y="1142999"/>
              <a:ext cx="3886200" cy="3524885"/>
            </a:xfrm>
            <a:custGeom>
              <a:avLst/>
              <a:gdLst/>
              <a:ahLst/>
              <a:cxnLst/>
              <a:rect l="l" t="t" r="r" b="b"/>
              <a:pathLst>
                <a:path w="3886200" h="3524885">
                  <a:moveTo>
                    <a:pt x="3809997" y="3524399"/>
                  </a:moveTo>
                  <a:lnTo>
                    <a:pt x="76201" y="3524399"/>
                  </a:lnTo>
                  <a:lnTo>
                    <a:pt x="46206" y="3518521"/>
                  </a:lnTo>
                  <a:lnTo>
                    <a:pt x="22021" y="3502372"/>
                  </a:lnTo>
                  <a:lnTo>
                    <a:pt x="5876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76" y="46216"/>
                  </a:lnTo>
                  <a:lnTo>
                    <a:pt x="22021" y="22027"/>
                  </a:lnTo>
                  <a:lnTo>
                    <a:pt x="46206" y="5878"/>
                  </a:lnTo>
                  <a:lnTo>
                    <a:pt x="76201" y="0"/>
                  </a:lnTo>
                  <a:lnTo>
                    <a:pt x="3809997" y="0"/>
                  </a:lnTo>
                  <a:lnTo>
                    <a:pt x="3839993" y="5878"/>
                  </a:lnTo>
                  <a:lnTo>
                    <a:pt x="3864178" y="22027"/>
                  </a:lnTo>
                  <a:lnTo>
                    <a:pt x="3880323" y="46216"/>
                  </a:lnTo>
                  <a:lnTo>
                    <a:pt x="3886199" y="76215"/>
                  </a:lnTo>
                  <a:lnTo>
                    <a:pt x="3886199" y="3448184"/>
                  </a:lnTo>
                  <a:lnTo>
                    <a:pt x="3880323" y="3478183"/>
                  </a:lnTo>
                  <a:lnTo>
                    <a:pt x="3864178" y="3502372"/>
                  </a:lnTo>
                  <a:lnTo>
                    <a:pt x="3839993" y="3518521"/>
                  </a:lnTo>
                  <a:lnTo>
                    <a:pt x="3809997" y="3524399"/>
                  </a:lnTo>
                  <a:close/>
                </a:path>
              </a:pathLst>
            </a:custGeom>
            <a:ln w="14299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6250" y="1142999"/>
              <a:ext cx="3886200" cy="457200"/>
            </a:xfrm>
            <a:custGeom>
              <a:avLst/>
              <a:gdLst/>
              <a:ahLst/>
              <a:cxnLst/>
              <a:rect l="l" t="t" r="r" b="b"/>
              <a:pathLst>
                <a:path w="3886200" h="457200">
                  <a:moveTo>
                    <a:pt x="3809997" y="457199"/>
                  </a:moveTo>
                  <a:lnTo>
                    <a:pt x="76201" y="457199"/>
                  </a:lnTo>
                  <a:lnTo>
                    <a:pt x="46206" y="451321"/>
                  </a:lnTo>
                  <a:lnTo>
                    <a:pt x="22021" y="435173"/>
                  </a:lnTo>
                  <a:lnTo>
                    <a:pt x="5876" y="410988"/>
                  </a:lnTo>
                  <a:lnTo>
                    <a:pt x="0" y="380999"/>
                  </a:lnTo>
                  <a:lnTo>
                    <a:pt x="0" y="76199"/>
                  </a:lnTo>
                  <a:lnTo>
                    <a:pt x="5876" y="46211"/>
                  </a:lnTo>
                  <a:lnTo>
                    <a:pt x="22021" y="22026"/>
                  </a:lnTo>
                  <a:lnTo>
                    <a:pt x="46206" y="5878"/>
                  </a:lnTo>
                  <a:lnTo>
                    <a:pt x="76201" y="0"/>
                  </a:lnTo>
                  <a:lnTo>
                    <a:pt x="3809997" y="0"/>
                  </a:lnTo>
                  <a:lnTo>
                    <a:pt x="3839993" y="5878"/>
                  </a:lnTo>
                  <a:lnTo>
                    <a:pt x="3864178" y="22026"/>
                  </a:lnTo>
                  <a:lnTo>
                    <a:pt x="3880323" y="46211"/>
                  </a:lnTo>
                  <a:lnTo>
                    <a:pt x="3886199" y="76199"/>
                  </a:lnTo>
                  <a:lnTo>
                    <a:pt x="3886199" y="380999"/>
                  </a:lnTo>
                  <a:lnTo>
                    <a:pt x="3880323" y="410988"/>
                  </a:lnTo>
                  <a:lnTo>
                    <a:pt x="3864178" y="435173"/>
                  </a:lnTo>
                  <a:lnTo>
                    <a:pt x="3839993" y="451321"/>
                  </a:lnTo>
                  <a:lnTo>
                    <a:pt x="3809997" y="45719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778281" y="1272361"/>
            <a:ext cx="128206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Review-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3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Scope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955" y="1743836"/>
            <a:ext cx="2967990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5080" indent="-313055">
              <a:lnSpc>
                <a:spcPct val="100000"/>
              </a:lnSpc>
              <a:spcBef>
                <a:spcPts val="100"/>
              </a:spcBef>
              <a:buClr>
                <a:srgbClr val="555555"/>
              </a:buClr>
              <a:buChar char="●"/>
              <a:tabLst>
                <a:tab pos="325120" algn="l"/>
              </a:tabLst>
            </a:pP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Problem</a:t>
            </a:r>
            <a:r>
              <a:rPr dirty="0" sz="1100" spc="-4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Definition</a:t>
            </a:r>
            <a:r>
              <a:rPr dirty="0" sz="1100" spc="-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dirty="0" sz="1100" spc="-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Dataset</a:t>
            </a:r>
            <a:r>
              <a:rPr dirty="0" sz="1100" spc="-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Selection: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Focus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on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diabetes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risk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prediction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using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public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datasets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(e.g.,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UCI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Repo).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5955" y="2343277"/>
            <a:ext cx="2955290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5080" indent="-313055">
              <a:lnSpc>
                <a:spcPct val="100000"/>
              </a:lnSpc>
              <a:spcBef>
                <a:spcPts val="100"/>
              </a:spcBef>
              <a:buClr>
                <a:srgbClr val="555555"/>
              </a:buClr>
              <a:buChar char="●"/>
              <a:tabLst>
                <a:tab pos="325120" algn="l"/>
              </a:tabLst>
            </a:pP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Data</a:t>
            </a:r>
            <a:r>
              <a:rPr dirty="0" sz="1100" spc="-2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Preprocessing</a:t>
            </a:r>
            <a:r>
              <a:rPr dirty="0" sz="1100" spc="-2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dirty="0" sz="1100" spc="-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Cleaning:</a:t>
            </a:r>
            <a:r>
              <a:rPr dirty="0" sz="1100" spc="50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Handling</a:t>
            </a:r>
            <a:r>
              <a:rPr dirty="0" sz="100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missing</a:t>
            </a:r>
            <a:r>
              <a:rPr dirty="0" sz="100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values,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outlier</a:t>
            </a:r>
            <a:r>
              <a:rPr dirty="0" sz="100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detection,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and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feature</a:t>
            </a:r>
            <a:r>
              <a:rPr dirty="0" sz="100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normalization.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955" y="2942717"/>
            <a:ext cx="3221990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lr>
                <a:srgbClr val="555555"/>
              </a:buClr>
              <a:buChar char="●"/>
              <a:tabLst>
                <a:tab pos="325120" algn="l"/>
              </a:tabLst>
            </a:pP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Baseline</a:t>
            </a:r>
            <a:r>
              <a:rPr dirty="0" sz="1100" spc="-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Model</a:t>
            </a:r>
            <a:r>
              <a:rPr dirty="0" sz="1100" spc="-3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Evaluation:</a:t>
            </a:r>
            <a:endParaRPr sz="1100">
              <a:latin typeface="Arial"/>
              <a:cs typeface="Arial"/>
            </a:endParaRPr>
          </a:p>
          <a:p>
            <a:pPr marL="325120" marR="5080">
              <a:lnSpc>
                <a:spcPct val="100000"/>
              </a:lnSpc>
            </a:pP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Train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classical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ML</a:t>
            </a:r>
            <a:r>
              <a:rPr dirty="0" sz="1000" spc="-6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algorithms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(Logistic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Regression,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Decision</a:t>
            </a:r>
            <a:r>
              <a:rPr dirty="0" sz="1000" spc="-4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Trees)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compare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preliminary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accuracy.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5955" y="3542156"/>
            <a:ext cx="3230245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lr>
                <a:srgbClr val="555555"/>
              </a:buClr>
              <a:buChar char="●"/>
              <a:tabLst>
                <a:tab pos="325120" algn="l"/>
              </a:tabLst>
            </a:pP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Initial</a:t>
            </a:r>
            <a:r>
              <a:rPr dirty="0" sz="1100" spc="-2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UI</a:t>
            </a:r>
            <a:r>
              <a:rPr dirty="0" sz="1100" spc="-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Prototype:</a:t>
            </a:r>
            <a:endParaRPr sz="1100">
              <a:latin typeface="Arial"/>
              <a:cs typeface="Arial"/>
            </a:endParaRPr>
          </a:p>
          <a:p>
            <a:pPr marL="325120" marR="5080">
              <a:lnSpc>
                <a:spcPct val="100000"/>
              </a:lnSpc>
            </a:pP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Build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minimal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user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interface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concept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for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basic</a:t>
            </a:r>
            <a:r>
              <a:rPr dirty="0" sz="10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risk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input/output.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74400" y="1135849"/>
            <a:ext cx="3900804" cy="3538854"/>
            <a:chOff x="4774400" y="1135849"/>
            <a:chExt cx="3900804" cy="3538854"/>
          </a:xfrm>
        </p:grpSpPr>
        <p:sp>
          <p:nvSpPr>
            <p:cNvPr id="13" name="object 13"/>
            <p:cNvSpPr/>
            <p:nvPr/>
          </p:nvSpPr>
          <p:spPr>
            <a:xfrm>
              <a:off x="4781550" y="1142999"/>
              <a:ext cx="3886200" cy="3524885"/>
            </a:xfrm>
            <a:custGeom>
              <a:avLst/>
              <a:gdLst/>
              <a:ahLst/>
              <a:cxnLst/>
              <a:rect l="l" t="t" r="r" b="b"/>
              <a:pathLst>
                <a:path w="3886200" h="3524885">
                  <a:moveTo>
                    <a:pt x="3809998" y="3524399"/>
                  </a:moveTo>
                  <a:lnTo>
                    <a:pt x="76201" y="3524399"/>
                  </a:lnTo>
                  <a:lnTo>
                    <a:pt x="46206" y="3518521"/>
                  </a:lnTo>
                  <a:lnTo>
                    <a:pt x="22021" y="3502372"/>
                  </a:lnTo>
                  <a:lnTo>
                    <a:pt x="5876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76" y="46216"/>
                  </a:lnTo>
                  <a:lnTo>
                    <a:pt x="22021" y="22027"/>
                  </a:lnTo>
                  <a:lnTo>
                    <a:pt x="46206" y="5878"/>
                  </a:lnTo>
                  <a:lnTo>
                    <a:pt x="76201" y="0"/>
                  </a:lnTo>
                  <a:lnTo>
                    <a:pt x="3809998" y="0"/>
                  </a:lnTo>
                  <a:lnTo>
                    <a:pt x="3839993" y="5878"/>
                  </a:lnTo>
                  <a:lnTo>
                    <a:pt x="3864178" y="22027"/>
                  </a:lnTo>
                  <a:lnTo>
                    <a:pt x="3880323" y="46216"/>
                  </a:lnTo>
                  <a:lnTo>
                    <a:pt x="3886199" y="76215"/>
                  </a:lnTo>
                  <a:lnTo>
                    <a:pt x="3886199" y="3448184"/>
                  </a:lnTo>
                  <a:lnTo>
                    <a:pt x="3880323" y="3478183"/>
                  </a:lnTo>
                  <a:lnTo>
                    <a:pt x="3864178" y="3502372"/>
                  </a:lnTo>
                  <a:lnTo>
                    <a:pt x="3839993" y="3518521"/>
                  </a:lnTo>
                  <a:lnTo>
                    <a:pt x="3809998" y="352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81550" y="1142999"/>
              <a:ext cx="3886200" cy="3524885"/>
            </a:xfrm>
            <a:custGeom>
              <a:avLst/>
              <a:gdLst/>
              <a:ahLst/>
              <a:cxnLst/>
              <a:rect l="l" t="t" r="r" b="b"/>
              <a:pathLst>
                <a:path w="3886200" h="3524885">
                  <a:moveTo>
                    <a:pt x="3809998" y="3524399"/>
                  </a:moveTo>
                  <a:lnTo>
                    <a:pt x="76201" y="3524399"/>
                  </a:lnTo>
                  <a:lnTo>
                    <a:pt x="46206" y="3518521"/>
                  </a:lnTo>
                  <a:lnTo>
                    <a:pt x="22021" y="3502372"/>
                  </a:lnTo>
                  <a:lnTo>
                    <a:pt x="5876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76" y="46216"/>
                  </a:lnTo>
                  <a:lnTo>
                    <a:pt x="22021" y="22027"/>
                  </a:lnTo>
                  <a:lnTo>
                    <a:pt x="46206" y="5878"/>
                  </a:lnTo>
                  <a:lnTo>
                    <a:pt x="76201" y="0"/>
                  </a:lnTo>
                  <a:lnTo>
                    <a:pt x="3809998" y="0"/>
                  </a:lnTo>
                  <a:lnTo>
                    <a:pt x="3839993" y="5878"/>
                  </a:lnTo>
                  <a:lnTo>
                    <a:pt x="3864178" y="22027"/>
                  </a:lnTo>
                  <a:lnTo>
                    <a:pt x="3880323" y="46216"/>
                  </a:lnTo>
                  <a:lnTo>
                    <a:pt x="3886199" y="76215"/>
                  </a:lnTo>
                  <a:lnTo>
                    <a:pt x="3886199" y="3448184"/>
                  </a:lnTo>
                  <a:lnTo>
                    <a:pt x="3880323" y="3478183"/>
                  </a:lnTo>
                  <a:lnTo>
                    <a:pt x="3864178" y="3502372"/>
                  </a:lnTo>
                  <a:lnTo>
                    <a:pt x="3839993" y="3518521"/>
                  </a:lnTo>
                  <a:lnTo>
                    <a:pt x="3809998" y="3524399"/>
                  </a:lnTo>
                  <a:close/>
                </a:path>
              </a:pathLst>
            </a:custGeom>
            <a:ln w="14299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81550" y="1142999"/>
              <a:ext cx="3886200" cy="457200"/>
            </a:xfrm>
            <a:custGeom>
              <a:avLst/>
              <a:gdLst/>
              <a:ahLst/>
              <a:cxnLst/>
              <a:rect l="l" t="t" r="r" b="b"/>
              <a:pathLst>
                <a:path w="3886200" h="457200">
                  <a:moveTo>
                    <a:pt x="3809998" y="457199"/>
                  </a:moveTo>
                  <a:lnTo>
                    <a:pt x="76201" y="457199"/>
                  </a:lnTo>
                  <a:lnTo>
                    <a:pt x="46206" y="451321"/>
                  </a:lnTo>
                  <a:lnTo>
                    <a:pt x="22021" y="435173"/>
                  </a:lnTo>
                  <a:lnTo>
                    <a:pt x="5876" y="410988"/>
                  </a:lnTo>
                  <a:lnTo>
                    <a:pt x="0" y="380999"/>
                  </a:lnTo>
                  <a:lnTo>
                    <a:pt x="0" y="76199"/>
                  </a:lnTo>
                  <a:lnTo>
                    <a:pt x="5876" y="46211"/>
                  </a:lnTo>
                  <a:lnTo>
                    <a:pt x="22021" y="22026"/>
                  </a:lnTo>
                  <a:lnTo>
                    <a:pt x="46206" y="5878"/>
                  </a:lnTo>
                  <a:lnTo>
                    <a:pt x="76201" y="0"/>
                  </a:lnTo>
                  <a:lnTo>
                    <a:pt x="3809998" y="0"/>
                  </a:lnTo>
                  <a:lnTo>
                    <a:pt x="3839993" y="5878"/>
                  </a:lnTo>
                  <a:lnTo>
                    <a:pt x="3864178" y="22026"/>
                  </a:lnTo>
                  <a:lnTo>
                    <a:pt x="3880323" y="46211"/>
                  </a:lnTo>
                  <a:lnTo>
                    <a:pt x="3886199" y="76199"/>
                  </a:lnTo>
                  <a:lnTo>
                    <a:pt x="3886199" y="380999"/>
                  </a:lnTo>
                  <a:lnTo>
                    <a:pt x="3880323" y="410988"/>
                  </a:lnTo>
                  <a:lnTo>
                    <a:pt x="3864178" y="435173"/>
                  </a:lnTo>
                  <a:lnTo>
                    <a:pt x="3839993" y="451321"/>
                  </a:lnTo>
                  <a:lnTo>
                    <a:pt x="3809998" y="45719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083581" y="1272361"/>
            <a:ext cx="128206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Review-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3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Scope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1255" y="1743836"/>
            <a:ext cx="2780030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5080" indent="-313055">
              <a:lnSpc>
                <a:spcPct val="100000"/>
              </a:lnSpc>
              <a:spcBef>
                <a:spcPts val="100"/>
              </a:spcBef>
              <a:buClr>
                <a:srgbClr val="555555"/>
              </a:buClr>
              <a:buChar char="●"/>
              <a:tabLst>
                <a:tab pos="325120" algn="l"/>
              </a:tabLst>
            </a:pP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Advanced</a:t>
            </a:r>
            <a:r>
              <a:rPr dirty="0" sz="1100" spc="-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Model</a:t>
            </a:r>
            <a:r>
              <a:rPr dirty="0" sz="1100" spc="-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Optimization: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Hyperparameter</a:t>
            </a:r>
            <a:r>
              <a:rPr dirty="0" sz="1000" spc="-4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tuning,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ensemble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methods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(Random</a:t>
            </a:r>
            <a:r>
              <a:rPr dirty="0" sz="1000" spc="-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Forest),</a:t>
            </a:r>
            <a:r>
              <a:rPr dirty="0" sz="1000" spc="-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dirty="0" sz="1000" spc="-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cross-validation.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1255" y="2343277"/>
            <a:ext cx="3096895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lr>
                <a:srgbClr val="555555"/>
              </a:buClr>
              <a:buChar char="●"/>
              <a:tabLst>
                <a:tab pos="325120" algn="l"/>
              </a:tabLst>
            </a:pP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Complete</a:t>
            </a:r>
            <a:r>
              <a:rPr dirty="0" sz="1100" spc="-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Web</a:t>
            </a:r>
            <a:r>
              <a:rPr dirty="0" sz="1100" spc="-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Interface</a:t>
            </a:r>
            <a:r>
              <a:rPr dirty="0" sz="1100" spc="-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Integration:</a:t>
            </a:r>
            <a:endParaRPr sz="1100">
              <a:latin typeface="Arial"/>
              <a:cs typeface="Arial"/>
            </a:endParaRPr>
          </a:p>
          <a:p>
            <a:pPr marL="325120" marR="5080">
              <a:lnSpc>
                <a:spcPct val="100000"/>
              </a:lnSpc>
            </a:pP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Full</a:t>
            </a:r>
            <a:r>
              <a:rPr dirty="0" sz="1000" spc="-4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interactive</a:t>
            </a:r>
            <a:r>
              <a:rPr dirty="0" sz="1000" spc="-4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web</a:t>
            </a:r>
            <a:r>
              <a:rPr dirty="0" sz="1000" spc="-4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application</a:t>
            </a:r>
            <a:r>
              <a:rPr dirty="0" sz="1000" spc="-4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deployment</a:t>
            </a:r>
            <a:r>
              <a:rPr dirty="0" sz="1000" spc="-4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using Streamlit..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1255" y="2942717"/>
            <a:ext cx="2891790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5080" indent="-313055">
              <a:lnSpc>
                <a:spcPct val="100000"/>
              </a:lnSpc>
              <a:spcBef>
                <a:spcPts val="100"/>
              </a:spcBef>
              <a:buClr>
                <a:srgbClr val="555555"/>
              </a:buClr>
              <a:buChar char="●"/>
              <a:tabLst>
                <a:tab pos="325120" algn="l"/>
              </a:tabLst>
            </a:pP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System</a:t>
            </a:r>
            <a:r>
              <a:rPr dirty="0" sz="1100" spc="-3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Testing</a:t>
            </a:r>
            <a:r>
              <a:rPr dirty="0" sz="1100" spc="-3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dirty="0" sz="1100" spc="-3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33333"/>
                </a:solidFill>
                <a:latin typeface="Arial"/>
                <a:cs typeface="Arial"/>
              </a:rPr>
              <a:t>Final</a:t>
            </a:r>
            <a:r>
              <a:rPr dirty="0" sz="1100" spc="-3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33333"/>
                </a:solidFill>
                <a:latin typeface="Arial"/>
                <a:cs typeface="Arial"/>
              </a:rPr>
              <a:t>Presentation: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End-to-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end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integration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testing,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error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handling, documentation,</a:t>
            </a:r>
            <a:r>
              <a:rPr dirty="0" sz="1000" spc="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dirty="0" sz="1000" spc="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final</a:t>
            </a:r>
            <a:r>
              <a:rPr dirty="0" sz="1000" spc="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demonstration.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Hardware</a:t>
            </a:r>
            <a:r>
              <a:rPr dirty="0" sz="2400" spc="-10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&amp;</a:t>
            </a:r>
            <a:r>
              <a:rPr dirty="0" sz="2400" spc="-10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Software</a:t>
            </a:r>
            <a:r>
              <a:rPr dirty="0" sz="2400" spc="-10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8080"/>
                </a:solidFill>
                <a:latin typeface="Arial"/>
                <a:cs typeface="Arial"/>
              </a:rPr>
              <a:t>Requirements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150">
                <a:solidFill>
                  <a:srgbClr val="666666"/>
                </a:solidFill>
              </a:rPr>
              <a:t>Essential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environment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setup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and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libraries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for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disease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 spc="-10">
                <a:solidFill>
                  <a:srgbClr val="666666"/>
                </a:solidFill>
              </a:rPr>
              <a:t>prediction</a:t>
            </a:r>
            <a:endParaRPr sz="115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381000"/>
            <a:ext cx="2190899" cy="12383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69112" y="1850237"/>
            <a:ext cx="2586355" cy="2872105"/>
            <a:chOff x="469112" y="1850237"/>
            <a:chExt cx="2586355" cy="2872105"/>
          </a:xfrm>
        </p:grpSpPr>
        <p:sp>
          <p:nvSpPr>
            <p:cNvPr id="5" name="object 5"/>
            <p:cNvSpPr/>
            <p:nvPr/>
          </p:nvSpPr>
          <p:spPr>
            <a:xfrm>
              <a:off x="476249" y="1857374"/>
              <a:ext cx="2572385" cy="2857500"/>
            </a:xfrm>
            <a:custGeom>
              <a:avLst/>
              <a:gdLst/>
              <a:ahLst/>
              <a:cxnLst/>
              <a:rect l="l" t="t" r="r" b="b"/>
              <a:pathLst>
                <a:path w="2572385" h="2857500">
                  <a:moveTo>
                    <a:pt x="2495719" y="2857498"/>
                  </a:moveTo>
                  <a:lnTo>
                    <a:pt x="76178" y="2857498"/>
                  </a:lnTo>
                  <a:lnTo>
                    <a:pt x="46526" y="2851512"/>
                  </a:lnTo>
                  <a:lnTo>
                    <a:pt x="22311" y="2835186"/>
                  </a:lnTo>
                  <a:lnTo>
                    <a:pt x="5985" y="2810971"/>
                  </a:lnTo>
                  <a:lnTo>
                    <a:pt x="0" y="2781319"/>
                  </a:lnTo>
                  <a:lnTo>
                    <a:pt x="0" y="76178"/>
                  </a:lnTo>
                  <a:lnTo>
                    <a:pt x="5985" y="46526"/>
                  </a:lnTo>
                  <a:lnTo>
                    <a:pt x="22311" y="22311"/>
                  </a:lnTo>
                  <a:lnTo>
                    <a:pt x="46526" y="5985"/>
                  </a:lnTo>
                  <a:lnTo>
                    <a:pt x="76178" y="0"/>
                  </a:lnTo>
                  <a:lnTo>
                    <a:pt x="2495719" y="0"/>
                  </a:lnTo>
                  <a:lnTo>
                    <a:pt x="2537983" y="12798"/>
                  </a:lnTo>
                  <a:lnTo>
                    <a:pt x="2566100" y="47025"/>
                  </a:lnTo>
                  <a:lnTo>
                    <a:pt x="2571898" y="76178"/>
                  </a:lnTo>
                  <a:lnTo>
                    <a:pt x="2571898" y="2781319"/>
                  </a:lnTo>
                  <a:lnTo>
                    <a:pt x="2565912" y="2810971"/>
                  </a:lnTo>
                  <a:lnTo>
                    <a:pt x="2549586" y="2835186"/>
                  </a:lnTo>
                  <a:lnTo>
                    <a:pt x="2525371" y="2851512"/>
                  </a:lnTo>
                  <a:lnTo>
                    <a:pt x="2495719" y="285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6249" y="1857374"/>
              <a:ext cx="2572385" cy="2857500"/>
            </a:xfrm>
            <a:custGeom>
              <a:avLst/>
              <a:gdLst/>
              <a:ahLst/>
              <a:cxnLst/>
              <a:rect l="l" t="t" r="r" b="b"/>
              <a:pathLst>
                <a:path w="2572385" h="2857500">
                  <a:moveTo>
                    <a:pt x="0" y="76178"/>
                  </a:moveTo>
                  <a:lnTo>
                    <a:pt x="5985" y="46526"/>
                  </a:lnTo>
                  <a:lnTo>
                    <a:pt x="22311" y="22311"/>
                  </a:lnTo>
                  <a:lnTo>
                    <a:pt x="46526" y="5985"/>
                  </a:lnTo>
                  <a:lnTo>
                    <a:pt x="76178" y="0"/>
                  </a:lnTo>
                  <a:lnTo>
                    <a:pt x="2495719" y="0"/>
                  </a:lnTo>
                  <a:lnTo>
                    <a:pt x="2537983" y="12798"/>
                  </a:lnTo>
                  <a:lnTo>
                    <a:pt x="2566100" y="47025"/>
                  </a:lnTo>
                  <a:lnTo>
                    <a:pt x="2571898" y="76178"/>
                  </a:lnTo>
                  <a:lnTo>
                    <a:pt x="2571898" y="2781319"/>
                  </a:lnTo>
                  <a:lnTo>
                    <a:pt x="2565912" y="2810971"/>
                  </a:lnTo>
                  <a:lnTo>
                    <a:pt x="2549586" y="2835186"/>
                  </a:lnTo>
                  <a:lnTo>
                    <a:pt x="2525371" y="2851512"/>
                  </a:lnTo>
                  <a:lnTo>
                    <a:pt x="2495719" y="2857498"/>
                  </a:lnTo>
                  <a:lnTo>
                    <a:pt x="76178" y="2857498"/>
                  </a:lnTo>
                  <a:lnTo>
                    <a:pt x="46526" y="2851512"/>
                  </a:lnTo>
                  <a:lnTo>
                    <a:pt x="22311" y="2835186"/>
                  </a:lnTo>
                  <a:lnTo>
                    <a:pt x="5985" y="2810971"/>
                  </a:lnTo>
                  <a:lnTo>
                    <a:pt x="0" y="2781319"/>
                  </a:lnTo>
                  <a:lnTo>
                    <a:pt x="0" y="76178"/>
                  </a:lnTo>
                  <a:close/>
                </a:path>
              </a:pathLst>
            </a:custGeom>
            <a:ln w="14274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6249" y="1857374"/>
              <a:ext cx="2572385" cy="457200"/>
            </a:xfrm>
            <a:custGeom>
              <a:avLst/>
              <a:gdLst/>
              <a:ahLst/>
              <a:cxnLst/>
              <a:rect l="l" t="t" r="r" b="b"/>
              <a:pathLst>
                <a:path w="2572385" h="457200">
                  <a:moveTo>
                    <a:pt x="2495702" y="457198"/>
                  </a:moveTo>
                  <a:lnTo>
                    <a:pt x="76195" y="457198"/>
                  </a:lnTo>
                  <a:lnTo>
                    <a:pt x="46536" y="451211"/>
                  </a:lnTo>
                  <a:lnTo>
                    <a:pt x="22316" y="434881"/>
                  </a:lnTo>
                  <a:lnTo>
                    <a:pt x="5986" y="410661"/>
                  </a:lnTo>
                  <a:lnTo>
                    <a:pt x="0" y="381002"/>
                  </a:lnTo>
                  <a:lnTo>
                    <a:pt x="0" y="76195"/>
                  </a:lnTo>
                  <a:lnTo>
                    <a:pt x="5986" y="46536"/>
                  </a:lnTo>
                  <a:lnTo>
                    <a:pt x="22316" y="22316"/>
                  </a:lnTo>
                  <a:lnTo>
                    <a:pt x="46536" y="5986"/>
                  </a:lnTo>
                  <a:lnTo>
                    <a:pt x="76195" y="0"/>
                  </a:lnTo>
                  <a:lnTo>
                    <a:pt x="2495702" y="0"/>
                  </a:lnTo>
                  <a:lnTo>
                    <a:pt x="2537976" y="12801"/>
                  </a:lnTo>
                  <a:lnTo>
                    <a:pt x="2566098" y="47036"/>
                  </a:lnTo>
                  <a:lnTo>
                    <a:pt x="2571898" y="76195"/>
                  </a:lnTo>
                  <a:lnTo>
                    <a:pt x="2571898" y="381002"/>
                  </a:lnTo>
                  <a:lnTo>
                    <a:pt x="2565911" y="410661"/>
                  </a:lnTo>
                  <a:lnTo>
                    <a:pt x="2549581" y="434881"/>
                  </a:lnTo>
                  <a:lnTo>
                    <a:pt x="2525361" y="451211"/>
                  </a:lnTo>
                  <a:lnTo>
                    <a:pt x="2495702" y="457198"/>
                  </a:lnTo>
                  <a:close/>
                </a:path>
              </a:pathLst>
            </a:custGeom>
            <a:solidFill>
              <a:srgbClr val="008080">
                <a:alpha val="7843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06425" y="1966468"/>
            <a:ext cx="1778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8080"/>
                </a:solidFill>
                <a:latin typeface="Arial"/>
                <a:cs typeface="Arial"/>
              </a:rPr>
              <a:t>Hardware</a:t>
            </a:r>
            <a:r>
              <a:rPr dirty="0" sz="1200" spc="-4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8080"/>
                </a:solidFill>
                <a:latin typeface="Arial"/>
                <a:cs typeface="Arial"/>
              </a:rPr>
              <a:t>Requirements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600" y="2449449"/>
            <a:ext cx="2106930" cy="934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marR="508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39725" algn="l"/>
              </a:tabLst>
            </a:pP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Laptop</a:t>
            </a:r>
            <a:r>
              <a:rPr dirty="0" sz="1100" spc="-5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/</a:t>
            </a:r>
            <a:r>
              <a:rPr dirty="0" sz="1100" spc="-5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Desktop</a:t>
            </a:r>
            <a:r>
              <a:rPr dirty="0" sz="1100" spc="-4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computer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for</a:t>
            </a:r>
            <a:r>
              <a:rPr dirty="0" sz="1100" spc="-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development</a:t>
            </a:r>
            <a:endParaRPr sz="1100">
              <a:latin typeface="Arial MT"/>
              <a:cs typeface="Arial MT"/>
            </a:endParaRPr>
          </a:p>
          <a:p>
            <a:pPr marL="339725" indent="-326390">
              <a:lnSpc>
                <a:spcPct val="100000"/>
              </a:lnSpc>
              <a:spcBef>
                <a:spcPts val="900"/>
              </a:spcBef>
              <a:buChar char="●"/>
              <a:tabLst>
                <a:tab pos="339725" algn="l"/>
              </a:tabLst>
            </a:pP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Minimum</a:t>
            </a:r>
            <a:r>
              <a:rPr dirty="0" sz="110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4</a:t>
            </a:r>
            <a:r>
              <a:rPr dirty="0" sz="110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GB</a:t>
            </a:r>
            <a:r>
              <a:rPr dirty="0" sz="110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555555"/>
                </a:solidFill>
                <a:latin typeface="Arial"/>
                <a:cs typeface="Arial"/>
              </a:rPr>
              <a:t>RAM</a:t>
            </a:r>
            <a:endParaRPr sz="1100">
              <a:latin typeface="Arial"/>
              <a:cs typeface="Arial"/>
            </a:endParaRPr>
          </a:p>
          <a:p>
            <a:pPr marL="339725" marR="42545">
              <a:lnSpc>
                <a:spcPct val="100000"/>
              </a:lnSpc>
              <a:spcBef>
                <a:spcPts val="10"/>
              </a:spcBef>
            </a:pPr>
            <a:r>
              <a:rPr dirty="0" sz="950">
                <a:solidFill>
                  <a:srgbClr val="888888"/>
                </a:solidFill>
                <a:latin typeface="Arial MT"/>
                <a:cs typeface="Arial MT"/>
              </a:rPr>
              <a:t>(8</a:t>
            </a:r>
            <a:r>
              <a:rPr dirty="0" sz="95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88888"/>
                </a:solidFill>
                <a:latin typeface="Arial MT"/>
                <a:cs typeface="Arial MT"/>
              </a:rPr>
              <a:t>GB</a:t>
            </a:r>
            <a:r>
              <a:rPr dirty="0" sz="95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88888"/>
                </a:solidFill>
                <a:latin typeface="Arial MT"/>
                <a:cs typeface="Arial MT"/>
              </a:rPr>
              <a:t>recommended</a:t>
            </a:r>
            <a:r>
              <a:rPr dirty="0" sz="95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88888"/>
                </a:solidFill>
                <a:latin typeface="Arial MT"/>
                <a:cs typeface="Arial MT"/>
              </a:rPr>
              <a:t>for</a:t>
            </a:r>
            <a:r>
              <a:rPr dirty="0" sz="950" spc="-2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888888"/>
                </a:solidFill>
                <a:latin typeface="Arial MT"/>
                <a:cs typeface="Arial MT"/>
              </a:rPr>
              <a:t>optimal execution)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600" y="3470528"/>
            <a:ext cx="21532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marR="508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39725" algn="l"/>
              </a:tabLst>
            </a:pP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Reliable</a:t>
            </a:r>
            <a:r>
              <a:rPr dirty="0" sz="1100" spc="-25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internet</a:t>
            </a:r>
            <a:r>
              <a:rPr dirty="0" sz="110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connection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for</a:t>
            </a:r>
            <a:r>
              <a:rPr dirty="0" sz="11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dataset</a:t>
            </a:r>
            <a:r>
              <a:rPr dirty="0" sz="11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access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78987" y="1850237"/>
            <a:ext cx="2586355" cy="2872105"/>
            <a:chOff x="3278987" y="1850237"/>
            <a:chExt cx="2586355" cy="2872105"/>
          </a:xfrm>
        </p:grpSpPr>
        <p:sp>
          <p:nvSpPr>
            <p:cNvPr id="12" name="object 12"/>
            <p:cNvSpPr/>
            <p:nvPr/>
          </p:nvSpPr>
          <p:spPr>
            <a:xfrm>
              <a:off x="3286124" y="1857374"/>
              <a:ext cx="2572385" cy="2857500"/>
            </a:xfrm>
            <a:custGeom>
              <a:avLst/>
              <a:gdLst/>
              <a:ahLst/>
              <a:cxnLst/>
              <a:rect l="l" t="t" r="r" b="b"/>
              <a:pathLst>
                <a:path w="2572385" h="2857500">
                  <a:moveTo>
                    <a:pt x="2495719" y="2857498"/>
                  </a:moveTo>
                  <a:lnTo>
                    <a:pt x="76178" y="2857498"/>
                  </a:lnTo>
                  <a:lnTo>
                    <a:pt x="46526" y="2851512"/>
                  </a:lnTo>
                  <a:lnTo>
                    <a:pt x="22311" y="2835186"/>
                  </a:lnTo>
                  <a:lnTo>
                    <a:pt x="5985" y="2810971"/>
                  </a:lnTo>
                  <a:lnTo>
                    <a:pt x="0" y="2781319"/>
                  </a:lnTo>
                  <a:lnTo>
                    <a:pt x="0" y="76178"/>
                  </a:lnTo>
                  <a:lnTo>
                    <a:pt x="5985" y="46526"/>
                  </a:lnTo>
                  <a:lnTo>
                    <a:pt x="22311" y="22311"/>
                  </a:lnTo>
                  <a:lnTo>
                    <a:pt x="46526" y="5985"/>
                  </a:lnTo>
                  <a:lnTo>
                    <a:pt x="76178" y="0"/>
                  </a:lnTo>
                  <a:lnTo>
                    <a:pt x="2495719" y="0"/>
                  </a:lnTo>
                  <a:lnTo>
                    <a:pt x="2537983" y="12798"/>
                  </a:lnTo>
                  <a:lnTo>
                    <a:pt x="2566101" y="47025"/>
                  </a:lnTo>
                  <a:lnTo>
                    <a:pt x="2571898" y="76178"/>
                  </a:lnTo>
                  <a:lnTo>
                    <a:pt x="2571898" y="2781319"/>
                  </a:lnTo>
                  <a:lnTo>
                    <a:pt x="2565912" y="2810971"/>
                  </a:lnTo>
                  <a:lnTo>
                    <a:pt x="2549586" y="2835186"/>
                  </a:lnTo>
                  <a:lnTo>
                    <a:pt x="2525371" y="2851512"/>
                  </a:lnTo>
                  <a:lnTo>
                    <a:pt x="2495719" y="285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86124" y="1857374"/>
              <a:ext cx="2572385" cy="2857500"/>
            </a:xfrm>
            <a:custGeom>
              <a:avLst/>
              <a:gdLst/>
              <a:ahLst/>
              <a:cxnLst/>
              <a:rect l="l" t="t" r="r" b="b"/>
              <a:pathLst>
                <a:path w="2572385" h="2857500">
                  <a:moveTo>
                    <a:pt x="0" y="76178"/>
                  </a:moveTo>
                  <a:lnTo>
                    <a:pt x="5985" y="46526"/>
                  </a:lnTo>
                  <a:lnTo>
                    <a:pt x="22311" y="22311"/>
                  </a:lnTo>
                  <a:lnTo>
                    <a:pt x="46526" y="5985"/>
                  </a:lnTo>
                  <a:lnTo>
                    <a:pt x="76178" y="0"/>
                  </a:lnTo>
                  <a:lnTo>
                    <a:pt x="2495719" y="0"/>
                  </a:lnTo>
                  <a:lnTo>
                    <a:pt x="2537983" y="12798"/>
                  </a:lnTo>
                  <a:lnTo>
                    <a:pt x="2566101" y="47025"/>
                  </a:lnTo>
                  <a:lnTo>
                    <a:pt x="2571898" y="76178"/>
                  </a:lnTo>
                  <a:lnTo>
                    <a:pt x="2571898" y="2781319"/>
                  </a:lnTo>
                  <a:lnTo>
                    <a:pt x="2565912" y="2810971"/>
                  </a:lnTo>
                  <a:lnTo>
                    <a:pt x="2549586" y="2835186"/>
                  </a:lnTo>
                  <a:lnTo>
                    <a:pt x="2525371" y="2851512"/>
                  </a:lnTo>
                  <a:lnTo>
                    <a:pt x="2495719" y="2857498"/>
                  </a:lnTo>
                  <a:lnTo>
                    <a:pt x="76178" y="2857498"/>
                  </a:lnTo>
                  <a:lnTo>
                    <a:pt x="46526" y="2851512"/>
                  </a:lnTo>
                  <a:lnTo>
                    <a:pt x="22311" y="2835186"/>
                  </a:lnTo>
                  <a:lnTo>
                    <a:pt x="5985" y="2810971"/>
                  </a:lnTo>
                  <a:lnTo>
                    <a:pt x="0" y="2781319"/>
                  </a:lnTo>
                  <a:lnTo>
                    <a:pt x="0" y="76178"/>
                  </a:lnTo>
                  <a:close/>
                </a:path>
              </a:pathLst>
            </a:custGeom>
            <a:ln w="14274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86124" y="1857374"/>
              <a:ext cx="2572385" cy="457200"/>
            </a:xfrm>
            <a:custGeom>
              <a:avLst/>
              <a:gdLst/>
              <a:ahLst/>
              <a:cxnLst/>
              <a:rect l="l" t="t" r="r" b="b"/>
              <a:pathLst>
                <a:path w="2572385" h="457200">
                  <a:moveTo>
                    <a:pt x="2495701" y="457198"/>
                  </a:moveTo>
                  <a:lnTo>
                    <a:pt x="76195" y="457198"/>
                  </a:lnTo>
                  <a:lnTo>
                    <a:pt x="46536" y="451211"/>
                  </a:lnTo>
                  <a:lnTo>
                    <a:pt x="22317" y="434881"/>
                  </a:lnTo>
                  <a:lnTo>
                    <a:pt x="5986" y="410661"/>
                  </a:lnTo>
                  <a:lnTo>
                    <a:pt x="0" y="381002"/>
                  </a:lnTo>
                  <a:lnTo>
                    <a:pt x="0" y="76195"/>
                  </a:lnTo>
                  <a:lnTo>
                    <a:pt x="5986" y="46536"/>
                  </a:lnTo>
                  <a:lnTo>
                    <a:pt x="22317" y="22316"/>
                  </a:lnTo>
                  <a:lnTo>
                    <a:pt x="46536" y="5986"/>
                  </a:lnTo>
                  <a:lnTo>
                    <a:pt x="76195" y="0"/>
                  </a:lnTo>
                  <a:lnTo>
                    <a:pt x="2495701" y="0"/>
                  </a:lnTo>
                  <a:lnTo>
                    <a:pt x="2537976" y="12801"/>
                  </a:lnTo>
                  <a:lnTo>
                    <a:pt x="2566098" y="47036"/>
                  </a:lnTo>
                  <a:lnTo>
                    <a:pt x="2571898" y="76195"/>
                  </a:lnTo>
                  <a:lnTo>
                    <a:pt x="2571898" y="381002"/>
                  </a:lnTo>
                  <a:lnTo>
                    <a:pt x="2565911" y="410661"/>
                  </a:lnTo>
                  <a:lnTo>
                    <a:pt x="2549581" y="434881"/>
                  </a:lnTo>
                  <a:lnTo>
                    <a:pt x="2525361" y="451211"/>
                  </a:lnTo>
                  <a:lnTo>
                    <a:pt x="2495701" y="457198"/>
                  </a:lnTo>
                  <a:close/>
                </a:path>
              </a:pathLst>
            </a:custGeom>
            <a:solidFill>
              <a:srgbClr val="008080">
                <a:alpha val="7843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416300" y="1966468"/>
            <a:ext cx="1642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8080"/>
                </a:solidFill>
                <a:latin typeface="Arial"/>
                <a:cs typeface="Arial"/>
              </a:rPr>
              <a:t>Software</a:t>
            </a:r>
            <a:r>
              <a:rPr dirty="0" sz="1200" spc="-40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8080"/>
                </a:solidFill>
                <a:latin typeface="Arial"/>
                <a:cs typeface="Arial"/>
              </a:rPr>
              <a:t>Environment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45475" y="2449449"/>
            <a:ext cx="2153920" cy="1406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725" marR="22225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39725" algn="l"/>
              </a:tabLst>
            </a:pP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Python</a:t>
            </a:r>
            <a:r>
              <a:rPr dirty="0" sz="1100" spc="-3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as</a:t>
            </a:r>
            <a:r>
              <a:rPr dirty="0" sz="110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core</a:t>
            </a:r>
            <a:r>
              <a:rPr dirty="0" sz="110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language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(actively</a:t>
            </a:r>
            <a:r>
              <a:rPr dirty="0" sz="11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learning</a:t>
            </a:r>
            <a:r>
              <a:rPr dirty="0" sz="11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during project)</a:t>
            </a:r>
            <a:endParaRPr sz="1100">
              <a:latin typeface="Arial MT"/>
              <a:cs typeface="Arial MT"/>
            </a:endParaRPr>
          </a:p>
          <a:p>
            <a:pPr marL="339725" indent="-326390">
              <a:lnSpc>
                <a:spcPct val="100000"/>
              </a:lnSpc>
              <a:spcBef>
                <a:spcPts val="900"/>
              </a:spcBef>
              <a:buChar char="●"/>
              <a:tabLst>
                <a:tab pos="339725" algn="l"/>
              </a:tabLst>
            </a:pP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VS</a:t>
            </a:r>
            <a:r>
              <a:rPr dirty="0" sz="1100" spc="-3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Code</a:t>
            </a:r>
            <a:r>
              <a:rPr dirty="0" sz="110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or</a:t>
            </a:r>
            <a:r>
              <a:rPr dirty="0" sz="11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Google</a:t>
            </a:r>
            <a:r>
              <a:rPr dirty="0" sz="1100" spc="-25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55555"/>
                </a:solidFill>
                <a:latin typeface="Arial"/>
                <a:cs typeface="Arial"/>
              </a:rPr>
              <a:t>Colab</a:t>
            </a:r>
            <a:endParaRPr sz="1100">
              <a:latin typeface="Arial"/>
              <a:cs typeface="Arial"/>
            </a:endParaRPr>
          </a:p>
          <a:p>
            <a:pPr marL="339725">
              <a:lnSpc>
                <a:spcPct val="100000"/>
              </a:lnSpc>
            </a:pP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as</a:t>
            </a:r>
            <a:r>
              <a:rPr dirty="0" sz="11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primary</a:t>
            </a:r>
            <a:r>
              <a:rPr dirty="0" sz="11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55555"/>
                </a:solidFill>
                <a:latin typeface="Arial MT"/>
                <a:cs typeface="Arial MT"/>
              </a:rPr>
              <a:t>IDE</a:t>
            </a:r>
            <a:r>
              <a:rPr dirty="0" sz="110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55555"/>
                </a:solidFill>
                <a:latin typeface="Arial MT"/>
                <a:cs typeface="Arial MT"/>
              </a:rPr>
              <a:t>environments</a:t>
            </a:r>
            <a:endParaRPr sz="1100">
              <a:latin typeface="Arial MT"/>
              <a:cs typeface="Arial MT"/>
            </a:endParaRPr>
          </a:p>
          <a:p>
            <a:pPr marL="339725" indent="-326390">
              <a:lnSpc>
                <a:spcPct val="100000"/>
              </a:lnSpc>
              <a:spcBef>
                <a:spcPts val="900"/>
              </a:spcBef>
              <a:buChar char="●"/>
              <a:tabLst>
                <a:tab pos="339725" algn="l"/>
              </a:tabLst>
            </a:pP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Public</a:t>
            </a:r>
            <a:r>
              <a:rPr dirty="0" sz="1100" spc="-4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55555"/>
                </a:solidFill>
                <a:latin typeface="Arial"/>
                <a:cs typeface="Arial"/>
              </a:rPr>
              <a:t>healthcare</a:t>
            </a:r>
            <a:r>
              <a:rPr dirty="0" sz="1100" spc="-4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55555"/>
                </a:solidFill>
                <a:latin typeface="Arial"/>
                <a:cs typeface="Arial"/>
              </a:rPr>
              <a:t>dataset</a:t>
            </a:r>
            <a:endParaRPr sz="1100">
              <a:latin typeface="Arial"/>
              <a:cs typeface="Arial"/>
            </a:endParaRPr>
          </a:p>
          <a:p>
            <a:pPr marL="339725">
              <a:lnSpc>
                <a:spcPct val="100000"/>
              </a:lnSpc>
              <a:spcBef>
                <a:spcPts val="10"/>
              </a:spcBef>
            </a:pPr>
            <a:r>
              <a:rPr dirty="0" sz="950">
                <a:solidFill>
                  <a:srgbClr val="888888"/>
                </a:solidFill>
                <a:latin typeface="Arial MT"/>
                <a:cs typeface="Arial MT"/>
              </a:rPr>
              <a:t>(extracted</a:t>
            </a:r>
            <a:r>
              <a:rPr dirty="0" sz="95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88888"/>
                </a:solidFill>
                <a:latin typeface="Arial MT"/>
                <a:cs typeface="Arial MT"/>
              </a:rPr>
              <a:t>from</a:t>
            </a:r>
            <a:r>
              <a:rPr dirty="0" sz="95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888888"/>
                </a:solidFill>
                <a:latin typeface="Arial MT"/>
                <a:cs typeface="Arial MT"/>
              </a:rPr>
              <a:t>kaggle)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88862" y="1850237"/>
            <a:ext cx="2586355" cy="2872105"/>
            <a:chOff x="6088862" y="1850237"/>
            <a:chExt cx="2586355" cy="2872105"/>
          </a:xfrm>
        </p:grpSpPr>
        <p:sp>
          <p:nvSpPr>
            <p:cNvPr id="18" name="object 18"/>
            <p:cNvSpPr/>
            <p:nvPr/>
          </p:nvSpPr>
          <p:spPr>
            <a:xfrm>
              <a:off x="6095999" y="1857374"/>
              <a:ext cx="2572385" cy="2857500"/>
            </a:xfrm>
            <a:custGeom>
              <a:avLst/>
              <a:gdLst/>
              <a:ahLst/>
              <a:cxnLst/>
              <a:rect l="l" t="t" r="r" b="b"/>
              <a:pathLst>
                <a:path w="2572384" h="2857500">
                  <a:moveTo>
                    <a:pt x="2495719" y="2857498"/>
                  </a:moveTo>
                  <a:lnTo>
                    <a:pt x="76178" y="2857498"/>
                  </a:lnTo>
                  <a:lnTo>
                    <a:pt x="46526" y="2851512"/>
                  </a:lnTo>
                  <a:lnTo>
                    <a:pt x="22311" y="2835186"/>
                  </a:lnTo>
                  <a:lnTo>
                    <a:pt x="5985" y="2810971"/>
                  </a:lnTo>
                  <a:lnTo>
                    <a:pt x="0" y="2781319"/>
                  </a:lnTo>
                  <a:lnTo>
                    <a:pt x="0" y="76178"/>
                  </a:lnTo>
                  <a:lnTo>
                    <a:pt x="5985" y="46526"/>
                  </a:lnTo>
                  <a:lnTo>
                    <a:pt x="22311" y="22311"/>
                  </a:lnTo>
                  <a:lnTo>
                    <a:pt x="46526" y="5985"/>
                  </a:lnTo>
                  <a:lnTo>
                    <a:pt x="76178" y="0"/>
                  </a:lnTo>
                  <a:lnTo>
                    <a:pt x="2495719" y="0"/>
                  </a:lnTo>
                  <a:lnTo>
                    <a:pt x="2537984" y="12798"/>
                  </a:lnTo>
                  <a:lnTo>
                    <a:pt x="2566102" y="47025"/>
                  </a:lnTo>
                  <a:lnTo>
                    <a:pt x="2571899" y="76178"/>
                  </a:lnTo>
                  <a:lnTo>
                    <a:pt x="2571899" y="2781319"/>
                  </a:lnTo>
                  <a:lnTo>
                    <a:pt x="2565913" y="2810971"/>
                  </a:lnTo>
                  <a:lnTo>
                    <a:pt x="2549588" y="2835186"/>
                  </a:lnTo>
                  <a:lnTo>
                    <a:pt x="2525372" y="2851512"/>
                  </a:lnTo>
                  <a:lnTo>
                    <a:pt x="2495719" y="285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95999" y="1857374"/>
              <a:ext cx="2572385" cy="2857500"/>
            </a:xfrm>
            <a:custGeom>
              <a:avLst/>
              <a:gdLst/>
              <a:ahLst/>
              <a:cxnLst/>
              <a:rect l="l" t="t" r="r" b="b"/>
              <a:pathLst>
                <a:path w="2572384" h="2857500">
                  <a:moveTo>
                    <a:pt x="0" y="76178"/>
                  </a:moveTo>
                  <a:lnTo>
                    <a:pt x="5985" y="46526"/>
                  </a:lnTo>
                  <a:lnTo>
                    <a:pt x="22311" y="22311"/>
                  </a:lnTo>
                  <a:lnTo>
                    <a:pt x="46526" y="5985"/>
                  </a:lnTo>
                  <a:lnTo>
                    <a:pt x="76178" y="0"/>
                  </a:lnTo>
                  <a:lnTo>
                    <a:pt x="2495719" y="0"/>
                  </a:lnTo>
                  <a:lnTo>
                    <a:pt x="2537984" y="12798"/>
                  </a:lnTo>
                  <a:lnTo>
                    <a:pt x="2566102" y="47025"/>
                  </a:lnTo>
                  <a:lnTo>
                    <a:pt x="2571899" y="76178"/>
                  </a:lnTo>
                  <a:lnTo>
                    <a:pt x="2571899" y="2781319"/>
                  </a:lnTo>
                  <a:lnTo>
                    <a:pt x="2565913" y="2810971"/>
                  </a:lnTo>
                  <a:lnTo>
                    <a:pt x="2549588" y="2835186"/>
                  </a:lnTo>
                  <a:lnTo>
                    <a:pt x="2525372" y="2851512"/>
                  </a:lnTo>
                  <a:lnTo>
                    <a:pt x="2495719" y="2857498"/>
                  </a:lnTo>
                  <a:lnTo>
                    <a:pt x="76178" y="2857498"/>
                  </a:lnTo>
                  <a:lnTo>
                    <a:pt x="46526" y="2851512"/>
                  </a:lnTo>
                  <a:lnTo>
                    <a:pt x="22311" y="2835186"/>
                  </a:lnTo>
                  <a:lnTo>
                    <a:pt x="5985" y="2810971"/>
                  </a:lnTo>
                  <a:lnTo>
                    <a:pt x="0" y="2781319"/>
                  </a:lnTo>
                  <a:lnTo>
                    <a:pt x="0" y="76178"/>
                  </a:lnTo>
                  <a:close/>
                </a:path>
              </a:pathLst>
            </a:custGeom>
            <a:ln w="14274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95999" y="1857374"/>
              <a:ext cx="2572385" cy="457200"/>
            </a:xfrm>
            <a:custGeom>
              <a:avLst/>
              <a:gdLst/>
              <a:ahLst/>
              <a:cxnLst/>
              <a:rect l="l" t="t" r="r" b="b"/>
              <a:pathLst>
                <a:path w="2572384" h="457200">
                  <a:moveTo>
                    <a:pt x="2495702" y="457198"/>
                  </a:moveTo>
                  <a:lnTo>
                    <a:pt x="76195" y="457198"/>
                  </a:lnTo>
                  <a:lnTo>
                    <a:pt x="46536" y="451211"/>
                  </a:lnTo>
                  <a:lnTo>
                    <a:pt x="22317" y="434881"/>
                  </a:lnTo>
                  <a:lnTo>
                    <a:pt x="5986" y="410661"/>
                  </a:lnTo>
                  <a:lnTo>
                    <a:pt x="0" y="381002"/>
                  </a:lnTo>
                  <a:lnTo>
                    <a:pt x="0" y="76195"/>
                  </a:lnTo>
                  <a:lnTo>
                    <a:pt x="5986" y="46536"/>
                  </a:lnTo>
                  <a:lnTo>
                    <a:pt x="22317" y="22316"/>
                  </a:lnTo>
                  <a:lnTo>
                    <a:pt x="46536" y="5986"/>
                  </a:lnTo>
                  <a:lnTo>
                    <a:pt x="76195" y="0"/>
                  </a:lnTo>
                  <a:lnTo>
                    <a:pt x="2495702" y="0"/>
                  </a:lnTo>
                  <a:lnTo>
                    <a:pt x="2537977" y="12801"/>
                  </a:lnTo>
                  <a:lnTo>
                    <a:pt x="2566099" y="47036"/>
                  </a:lnTo>
                  <a:lnTo>
                    <a:pt x="2571899" y="76195"/>
                  </a:lnTo>
                  <a:lnTo>
                    <a:pt x="2571899" y="381002"/>
                  </a:lnTo>
                  <a:lnTo>
                    <a:pt x="2565911" y="410661"/>
                  </a:lnTo>
                  <a:lnTo>
                    <a:pt x="2549582" y="434881"/>
                  </a:lnTo>
                  <a:lnTo>
                    <a:pt x="2525363" y="451211"/>
                  </a:lnTo>
                  <a:lnTo>
                    <a:pt x="2495702" y="457198"/>
                  </a:lnTo>
                  <a:close/>
                </a:path>
              </a:pathLst>
            </a:custGeom>
            <a:solidFill>
              <a:srgbClr val="008080">
                <a:alpha val="7843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226175" y="1966468"/>
            <a:ext cx="19710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8080"/>
                </a:solidFill>
                <a:latin typeface="Arial"/>
                <a:cs typeface="Arial"/>
              </a:rPr>
              <a:t>Proposed</a:t>
            </a:r>
            <a:r>
              <a:rPr dirty="0" sz="1200" spc="-4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8080"/>
                </a:solidFill>
                <a:latin typeface="Arial"/>
                <a:cs typeface="Arial"/>
              </a:rPr>
              <a:t>Python</a:t>
            </a:r>
            <a:r>
              <a:rPr dirty="0" sz="1200" spc="-4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8080"/>
                </a:solidFill>
                <a:latin typeface="Arial"/>
                <a:cs typeface="Arial"/>
              </a:rPr>
              <a:t>Libraries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59727" y="2449957"/>
            <a:ext cx="2090420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280" marR="5080" indent="-323215">
              <a:lnSpc>
                <a:spcPct val="100000"/>
              </a:lnSpc>
              <a:spcBef>
                <a:spcPts val="100"/>
              </a:spcBef>
              <a:buChar char="●"/>
              <a:tabLst>
                <a:tab pos="335280" algn="l"/>
              </a:tabLst>
            </a:pPr>
            <a:r>
              <a:rPr dirty="0" sz="1050" b="1">
                <a:solidFill>
                  <a:srgbClr val="555555"/>
                </a:solidFill>
                <a:latin typeface="Arial"/>
                <a:cs typeface="Arial"/>
              </a:rPr>
              <a:t>Pandas</a:t>
            </a:r>
            <a:r>
              <a:rPr dirty="0" sz="1050" spc="-25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—</a:t>
            </a:r>
            <a:r>
              <a:rPr dirty="0" sz="10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data</a:t>
            </a:r>
            <a:r>
              <a:rPr dirty="0" sz="10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handling</a:t>
            </a:r>
            <a:r>
              <a:rPr dirty="0" sz="10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555555"/>
                </a:solidFill>
                <a:latin typeface="Arial MT"/>
                <a:cs typeface="Arial MT"/>
              </a:rPr>
              <a:t>and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preprocessing</a:t>
            </a:r>
            <a:r>
              <a:rPr dirty="0" sz="1050" spc="-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tasks</a:t>
            </a:r>
            <a:endParaRPr sz="1050">
              <a:latin typeface="Arial MT"/>
              <a:cs typeface="Arial MT"/>
            </a:endParaRPr>
          </a:p>
          <a:p>
            <a:pPr marL="335280" marR="8255" indent="-323215">
              <a:lnSpc>
                <a:spcPct val="100000"/>
              </a:lnSpc>
              <a:spcBef>
                <a:spcPts val="600"/>
              </a:spcBef>
              <a:buChar char="●"/>
              <a:tabLst>
                <a:tab pos="335280" algn="l"/>
              </a:tabLst>
            </a:pPr>
            <a:r>
              <a:rPr dirty="0" sz="1050" b="1">
                <a:solidFill>
                  <a:srgbClr val="555555"/>
                </a:solidFill>
                <a:latin typeface="Arial"/>
                <a:cs typeface="Arial"/>
              </a:rPr>
              <a:t>NumPy</a:t>
            </a:r>
            <a:r>
              <a:rPr dirty="0" sz="105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—</a:t>
            </a:r>
            <a:r>
              <a:rPr dirty="0" sz="10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efficient</a:t>
            </a:r>
            <a:r>
              <a:rPr dirty="0" sz="10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numerical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dirty="0" sz="105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array</a:t>
            </a:r>
            <a:r>
              <a:rPr dirty="0" sz="10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operations</a:t>
            </a:r>
            <a:endParaRPr sz="1050">
              <a:latin typeface="Arial MT"/>
              <a:cs typeface="Arial MT"/>
            </a:endParaRPr>
          </a:p>
          <a:p>
            <a:pPr marL="335280" marR="271780" indent="-323215">
              <a:lnSpc>
                <a:spcPct val="100000"/>
              </a:lnSpc>
              <a:spcBef>
                <a:spcPts val="600"/>
              </a:spcBef>
              <a:buChar char="●"/>
              <a:tabLst>
                <a:tab pos="335280" algn="l"/>
              </a:tabLst>
            </a:pPr>
            <a:r>
              <a:rPr dirty="0" sz="1050" spc="-10" b="1">
                <a:solidFill>
                  <a:srgbClr val="555555"/>
                </a:solidFill>
                <a:latin typeface="Arial"/>
                <a:cs typeface="Arial"/>
              </a:rPr>
              <a:t>Scikit-</a:t>
            </a:r>
            <a:r>
              <a:rPr dirty="0" sz="1050" b="1">
                <a:solidFill>
                  <a:srgbClr val="555555"/>
                </a:solidFill>
                <a:latin typeface="Arial"/>
                <a:cs typeface="Arial"/>
              </a:rPr>
              <a:t>learn</a:t>
            </a:r>
            <a:r>
              <a:rPr dirty="0" sz="105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—</a:t>
            </a:r>
            <a:r>
              <a:rPr dirty="0" sz="10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machine learning</a:t>
            </a:r>
            <a:r>
              <a:rPr dirty="0" sz="10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model</a:t>
            </a:r>
            <a:r>
              <a:rPr dirty="0" sz="10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training</a:t>
            </a:r>
            <a:r>
              <a:rPr dirty="0" sz="10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555555"/>
                </a:solidFill>
                <a:latin typeface="Arial MT"/>
                <a:cs typeface="Arial MT"/>
              </a:rPr>
              <a:t>&amp;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analysis</a:t>
            </a:r>
            <a:endParaRPr sz="1050">
              <a:latin typeface="Arial MT"/>
              <a:cs typeface="Arial MT"/>
            </a:endParaRPr>
          </a:p>
          <a:p>
            <a:pPr marL="335280" marR="649605" indent="-323215">
              <a:lnSpc>
                <a:spcPct val="100000"/>
              </a:lnSpc>
              <a:spcBef>
                <a:spcPts val="600"/>
              </a:spcBef>
              <a:buChar char="●"/>
              <a:tabLst>
                <a:tab pos="335280" algn="l"/>
              </a:tabLst>
            </a:pPr>
            <a:r>
              <a:rPr dirty="0" sz="1050" b="1">
                <a:solidFill>
                  <a:srgbClr val="555555"/>
                </a:solidFill>
                <a:latin typeface="Arial"/>
                <a:cs typeface="Arial"/>
              </a:rPr>
              <a:t>Matplotlib</a:t>
            </a:r>
            <a:r>
              <a:rPr dirty="0" sz="1050" spc="-20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—</a:t>
            </a:r>
            <a:r>
              <a:rPr dirty="0" sz="10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555555"/>
                </a:solidFill>
                <a:latin typeface="Arial MT"/>
                <a:cs typeface="Arial MT"/>
              </a:rPr>
              <a:t>data </a:t>
            </a:r>
            <a:r>
              <a:rPr dirty="0" sz="1050" spc="-10">
                <a:solidFill>
                  <a:srgbClr val="555555"/>
                </a:solidFill>
                <a:latin typeface="Arial MT"/>
                <a:cs typeface="Arial MT"/>
              </a:rPr>
              <a:t>visualization</a:t>
            </a:r>
            <a:endParaRPr sz="1050">
              <a:latin typeface="Arial MT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Char char="●"/>
              <a:tabLst>
                <a:tab pos="335280" algn="l"/>
              </a:tabLst>
            </a:pPr>
            <a:r>
              <a:rPr dirty="0" sz="1050" b="1">
                <a:solidFill>
                  <a:srgbClr val="555555"/>
                </a:solidFill>
                <a:latin typeface="Arial"/>
                <a:cs typeface="Arial"/>
              </a:rPr>
              <a:t>Streamlit</a:t>
            </a:r>
            <a:r>
              <a:rPr dirty="0" sz="1050" spc="-35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—</a:t>
            </a:r>
            <a:r>
              <a:rPr dirty="0" sz="105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55555"/>
                </a:solidFill>
                <a:latin typeface="Arial MT"/>
                <a:cs typeface="Arial MT"/>
              </a:rPr>
              <a:t>clean</a:t>
            </a:r>
            <a:r>
              <a:rPr dirty="0" sz="105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555555"/>
                </a:solidFill>
                <a:latin typeface="Arial MT"/>
                <a:cs typeface="Arial MT"/>
              </a:rPr>
              <a:t>UI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550" y="128336"/>
            <a:ext cx="5291455" cy="762635"/>
          </a:xfrm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Models</a:t>
            </a:r>
            <a:r>
              <a:rPr dirty="0" sz="2400" spc="-2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Proposed</a:t>
            </a:r>
            <a:r>
              <a:rPr dirty="0" sz="2400" spc="-2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in</a:t>
            </a:r>
            <a:r>
              <a:rPr dirty="0" sz="2400" spc="-2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8080"/>
                </a:solidFill>
                <a:latin typeface="Arial"/>
                <a:cs typeface="Arial"/>
              </a:rPr>
              <a:t>this</a:t>
            </a:r>
            <a:r>
              <a:rPr dirty="0" sz="2400" spc="-2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8080"/>
                </a:solidFill>
                <a:latin typeface="Arial"/>
                <a:cs typeface="Arial"/>
              </a:rPr>
              <a:t>Project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50">
                <a:solidFill>
                  <a:srgbClr val="666666"/>
                </a:solidFill>
              </a:rPr>
              <a:t>Random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Forest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Classifier,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to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address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the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specific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challenges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of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your</a:t>
            </a:r>
            <a:r>
              <a:rPr dirty="0" sz="1150" spc="-30">
                <a:solidFill>
                  <a:srgbClr val="666666"/>
                </a:solidFill>
              </a:rPr>
              <a:t> </a:t>
            </a:r>
            <a:r>
              <a:rPr dirty="0" sz="1150">
                <a:solidFill>
                  <a:srgbClr val="666666"/>
                </a:solidFill>
              </a:rPr>
              <a:t>medical</a:t>
            </a:r>
            <a:r>
              <a:rPr dirty="0" sz="1150" spc="-25">
                <a:solidFill>
                  <a:srgbClr val="666666"/>
                </a:solidFill>
              </a:rPr>
              <a:t> </a:t>
            </a:r>
            <a:r>
              <a:rPr dirty="0" sz="1150" spc="-20">
                <a:solidFill>
                  <a:srgbClr val="666666"/>
                </a:solidFill>
              </a:rPr>
              <a:t>data</a:t>
            </a:r>
            <a:endParaRPr sz="1150"/>
          </a:p>
        </p:txBody>
      </p:sp>
      <p:grpSp>
        <p:nvGrpSpPr>
          <p:cNvPr id="3" name="object 3"/>
          <p:cNvGrpSpPr/>
          <p:nvPr/>
        </p:nvGrpSpPr>
        <p:grpSpPr>
          <a:xfrm>
            <a:off x="469100" y="1135849"/>
            <a:ext cx="2586355" cy="3538854"/>
            <a:chOff x="469100" y="1135849"/>
            <a:chExt cx="2586355" cy="3538854"/>
          </a:xfrm>
        </p:grpSpPr>
        <p:sp>
          <p:nvSpPr>
            <p:cNvPr id="4" name="object 4"/>
            <p:cNvSpPr/>
            <p:nvPr/>
          </p:nvSpPr>
          <p:spPr>
            <a:xfrm>
              <a:off x="476250" y="1142999"/>
              <a:ext cx="2572385" cy="3524885"/>
            </a:xfrm>
            <a:custGeom>
              <a:avLst/>
              <a:gdLst/>
              <a:ahLst/>
              <a:cxnLst/>
              <a:rect l="l" t="t" r="r" b="b"/>
              <a:pathLst>
                <a:path w="2572385" h="3524885">
                  <a:moveTo>
                    <a:pt x="2495685" y="3524399"/>
                  </a:moveTo>
                  <a:lnTo>
                    <a:pt x="76213" y="3524399"/>
                  </a:lnTo>
                  <a:lnTo>
                    <a:pt x="46221" y="3518521"/>
                  </a:lnTo>
                  <a:lnTo>
                    <a:pt x="22032" y="3502372"/>
                  </a:lnTo>
                  <a:lnTo>
                    <a:pt x="5880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80" y="46216"/>
                  </a:lnTo>
                  <a:lnTo>
                    <a:pt x="22032" y="22027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8" y="5878"/>
                  </a:lnTo>
                  <a:lnTo>
                    <a:pt x="2549867" y="22027"/>
                  </a:lnTo>
                  <a:lnTo>
                    <a:pt x="2566019" y="46216"/>
                  </a:lnTo>
                  <a:lnTo>
                    <a:pt x="2571899" y="76215"/>
                  </a:lnTo>
                  <a:lnTo>
                    <a:pt x="2571899" y="3448184"/>
                  </a:lnTo>
                  <a:lnTo>
                    <a:pt x="2566019" y="3478183"/>
                  </a:lnTo>
                  <a:lnTo>
                    <a:pt x="2549867" y="3502372"/>
                  </a:lnTo>
                  <a:lnTo>
                    <a:pt x="2525678" y="3518521"/>
                  </a:lnTo>
                  <a:lnTo>
                    <a:pt x="2495685" y="352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76250" y="1142999"/>
              <a:ext cx="2572385" cy="3524885"/>
            </a:xfrm>
            <a:custGeom>
              <a:avLst/>
              <a:gdLst/>
              <a:ahLst/>
              <a:cxnLst/>
              <a:rect l="l" t="t" r="r" b="b"/>
              <a:pathLst>
                <a:path w="2572385" h="3524885">
                  <a:moveTo>
                    <a:pt x="2495685" y="3524399"/>
                  </a:moveTo>
                  <a:lnTo>
                    <a:pt x="76213" y="3524399"/>
                  </a:lnTo>
                  <a:lnTo>
                    <a:pt x="46221" y="3518521"/>
                  </a:lnTo>
                  <a:lnTo>
                    <a:pt x="22032" y="3502372"/>
                  </a:lnTo>
                  <a:lnTo>
                    <a:pt x="5880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80" y="46216"/>
                  </a:lnTo>
                  <a:lnTo>
                    <a:pt x="22032" y="22027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8" y="5878"/>
                  </a:lnTo>
                  <a:lnTo>
                    <a:pt x="2549867" y="22027"/>
                  </a:lnTo>
                  <a:lnTo>
                    <a:pt x="2566019" y="46216"/>
                  </a:lnTo>
                  <a:lnTo>
                    <a:pt x="2571899" y="76215"/>
                  </a:lnTo>
                  <a:lnTo>
                    <a:pt x="2571899" y="3448184"/>
                  </a:lnTo>
                  <a:lnTo>
                    <a:pt x="2566019" y="3478183"/>
                  </a:lnTo>
                  <a:lnTo>
                    <a:pt x="2549867" y="3502372"/>
                  </a:lnTo>
                  <a:lnTo>
                    <a:pt x="2525678" y="3518521"/>
                  </a:lnTo>
                  <a:lnTo>
                    <a:pt x="2495685" y="3524399"/>
                  </a:lnTo>
                  <a:close/>
                </a:path>
              </a:pathLst>
            </a:custGeom>
            <a:ln w="14299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6250" y="1142999"/>
              <a:ext cx="2572385" cy="457200"/>
            </a:xfrm>
            <a:custGeom>
              <a:avLst/>
              <a:gdLst/>
              <a:ahLst/>
              <a:cxnLst/>
              <a:rect l="l" t="t" r="r" b="b"/>
              <a:pathLst>
                <a:path w="2572385" h="457200">
                  <a:moveTo>
                    <a:pt x="2495685" y="457199"/>
                  </a:moveTo>
                  <a:lnTo>
                    <a:pt x="76213" y="457199"/>
                  </a:lnTo>
                  <a:lnTo>
                    <a:pt x="46221" y="451321"/>
                  </a:lnTo>
                  <a:lnTo>
                    <a:pt x="22032" y="435173"/>
                  </a:lnTo>
                  <a:lnTo>
                    <a:pt x="5880" y="410988"/>
                  </a:lnTo>
                  <a:lnTo>
                    <a:pt x="0" y="380999"/>
                  </a:lnTo>
                  <a:lnTo>
                    <a:pt x="0" y="76199"/>
                  </a:lnTo>
                  <a:lnTo>
                    <a:pt x="5880" y="46211"/>
                  </a:lnTo>
                  <a:lnTo>
                    <a:pt x="22032" y="22026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8" y="5878"/>
                  </a:lnTo>
                  <a:lnTo>
                    <a:pt x="2549867" y="22026"/>
                  </a:lnTo>
                  <a:lnTo>
                    <a:pt x="2566019" y="46211"/>
                  </a:lnTo>
                  <a:lnTo>
                    <a:pt x="2571899" y="76199"/>
                  </a:lnTo>
                  <a:lnTo>
                    <a:pt x="2571899" y="380999"/>
                  </a:lnTo>
                  <a:lnTo>
                    <a:pt x="2566019" y="410988"/>
                  </a:lnTo>
                  <a:lnTo>
                    <a:pt x="2549867" y="435173"/>
                  </a:lnTo>
                  <a:lnTo>
                    <a:pt x="2525678" y="451321"/>
                  </a:lnTo>
                  <a:lnTo>
                    <a:pt x="2495685" y="45719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194705" y="1261364"/>
            <a:ext cx="1134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Baseline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000" y="1667815"/>
            <a:ext cx="1812289" cy="44704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008080"/>
                </a:solidFill>
                <a:latin typeface="Arial"/>
                <a:cs typeface="Arial"/>
              </a:rPr>
              <a:t>Baseline</a:t>
            </a:r>
            <a:r>
              <a:rPr dirty="0" sz="1200" spc="-4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8080"/>
                </a:solidFill>
                <a:latin typeface="Arial"/>
                <a:cs typeface="Arial"/>
              </a:rPr>
              <a:t>Random</a:t>
            </a:r>
            <a:r>
              <a:rPr dirty="0" sz="1200" spc="-3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8080"/>
                </a:solidFill>
                <a:latin typeface="Arial"/>
                <a:cs typeface="Arial"/>
              </a:rPr>
              <a:t>Forest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000" spc="-20" b="1">
                <a:solidFill>
                  <a:srgbClr val="555555"/>
                </a:solidFill>
                <a:latin typeface="Arial"/>
                <a:cs typeface="Arial"/>
              </a:rPr>
              <a:t>(Top </a:t>
            </a:r>
            <a:r>
              <a:rPr dirty="0" sz="1000" b="1">
                <a:solidFill>
                  <a:srgbClr val="555555"/>
                </a:solidFill>
                <a:latin typeface="Arial"/>
                <a:cs typeface="Arial"/>
              </a:rPr>
              <a:t>8</a:t>
            </a:r>
            <a:r>
              <a:rPr dirty="0" sz="1000" spc="-15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555555"/>
                </a:solidFill>
                <a:latin typeface="Arial"/>
                <a:cs typeface="Arial"/>
              </a:rPr>
              <a:t>Features)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000" y="2222500"/>
            <a:ext cx="21977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A</a:t>
            </a:r>
            <a:r>
              <a:rPr dirty="0" sz="1000" spc="-7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lightweight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model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trained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only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on</a:t>
            </a:r>
            <a:r>
              <a:rPr dirty="0" sz="100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the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most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statistically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significant</a:t>
            </a:r>
            <a:r>
              <a:rPr dirty="0" sz="100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predictors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extracted</a:t>
            </a:r>
            <a:r>
              <a:rPr dirty="0" sz="100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via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55555"/>
                </a:solidFill>
                <a:latin typeface="Arial MT"/>
                <a:cs typeface="Arial MT"/>
              </a:rPr>
              <a:t>feature</a:t>
            </a:r>
            <a:r>
              <a:rPr dirty="0" sz="100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55555"/>
                </a:solidFill>
                <a:latin typeface="Arial MT"/>
                <a:cs typeface="Arial MT"/>
              </a:rPr>
              <a:t>importance.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000" y="2813558"/>
            <a:ext cx="1371600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900" b="1">
                <a:solidFill>
                  <a:srgbClr val="475568"/>
                </a:solidFill>
                <a:latin typeface="Arial"/>
                <a:cs typeface="Arial"/>
              </a:rPr>
              <a:t>Key</a:t>
            </a:r>
            <a:r>
              <a:rPr dirty="0" sz="900" spc="-35" b="1">
                <a:solidFill>
                  <a:srgbClr val="47556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475568"/>
                </a:solidFill>
                <a:latin typeface="Arial"/>
                <a:cs typeface="Arial"/>
              </a:rPr>
              <a:t>Predictors</a:t>
            </a:r>
            <a:r>
              <a:rPr dirty="0" sz="900" spc="-30" b="1">
                <a:solidFill>
                  <a:srgbClr val="475568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475568"/>
                </a:solidFill>
                <a:latin typeface="Arial"/>
                <a:cs typeface="Arial"/>
              </a:rPr>
              <a:t>Included:</a:t>
            </a:r>
            <a:endParaRPr sz="900">
              <a:latin typeface="Arial"/>
              <a:cs typeface="Arial"/>
            </a:endParaRPr>
          </a:p>
          <a:p>
            <a:pPr marL="83820" indent="-71120">
              <a:lnSpc>
                <a:spcPct val="100000"/>
              </a:lnSpc>
              <a:spcBef>
                <a:spcPts val="300"/>
              </a:spcBef>
              <a:buChar char="•"/>
              <a:tabLst>
                <a:tab pos="83820" algn="l"/>
              </a:tabLst>
            </a:pP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BMI</a:t>
            </a:r>
            <a:endParaRPr sz="900">
              <a:latin typeface="Arial MT"/>
              <a:cs typeface="Arial MT"/>
            </a:endParaRPr>
          </a:p>
          <a:p>
            <a:pPr marL="83820" indent="-71120">
              <a:lnSpc>
                <a:spcPct val="100000"/>
              </a:lnSpc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High</a:t>
            </a:r>
            <a:r>
              <a:rPr dirty="0" sz="90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BP</a:t>
            </a:r>
            <a:endParaRPr sz="900">
              <a:latin typeface="Arial MT"/>
              <a:cs typeface="Arial MT"/>
            </a:endParaRPr>
          </a:p>
          <a:p>
            <a:pPr marL="83820" indent="-71120">
              <a:lnSpc>
                <a:spcPct val="100000"/>
              </a:lnSpc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General</a:t>
            </a:r>
            <a:r>
              <a:rPr dirty="0" sz="900" spc="-3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Health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78975" y="1135849"/>
            <a:ext cx="2586355" cy="3538854"/>
            <a:chOff x="3278975" y="1135849"/>
            <a:chExt cx="2586355" cy="3538854"/>
          </a:xfrm>
        </p:grpSpPr>
        <p:sp>
          <p:nvSpPr>
            <p:cNvPr id="12" name="object 12"/>
            <p:cNvSpPr/>
            <p:nvPr/>
          </p:nvSpPr>
          <p:spPr>
            <a:xfrm>
              <a:off x="3286125" y="1142999"/>
              <a:ext cx="2572385" cy="3524885"/>
            </a:xfrm>
            <a:custGeom>
              <a:avLst/>
              <a:gdLst/>
              <a:ahLst/>
              <a:cxnLst/>
              <a:rect l="l" t="t" r="r" b="b"/>
              <a:pathLst>
                <a:path w="2572385" h="3524885">
                  <a:moveTo>
                    <a:pt x="2495685" y="3524399"/>
                  </a:moveTo>
                  <a:lnTo>
                    <a:pt x="76213" y="3524399"/>
                  </a:lnTo>
                  <a:lnTo>
                    <a:pt x="46221" y="3518521"/>
                  </a:lnTo>
                  <a:lnTo>
                    <a:pt x="22032" y="3502372"/>
                  </a:lnTo>
                  <a:lnTo>
                    <a:pt x="5880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80" y="46216"/>
                  </a:lnTo>
                  <a:lnTo>
                    <a:pt x="22032" y="22027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8" y="5878"/>
                  </a:lnTo>
                  <a:lnTo>
                    <a:pt x="2549867" y="22027"/>
                  </a:lnTo>
                  <a:lnTo>
                    <a:pt x="2566019" y="46216"/>
                  </a:lnTo>
                  <a:lnTo>
                    <a:pt x="2571899" y="76215"/>
                  </a:lnTo>
                  <a:lnTo>
                    <a:pt x="2571899" y="3448184"/>
                  </a:lnTo>
                  <a:lnTo>
                    <a:pt x="2566019" y="3478183"/>
                  </a:lnTo>
                  <a:lnTo>
                    <a:pt x="2549867" y="3502372"/>
                  </a:lnTo>
                  <a:lnTo>
                    <a:pt x="2525678" y="3518521"/>
                  </a:lnTo>
                  <a:lnTo>
                    <a:pt x="2495685" y="352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86125" y="1142999"/>
              <a:ext cx="2572385" cy="3524885"/>
            </a:xfrm>
            <a:custGeom>
              <a:avLst/>
              <a:gdLst/>
              <a:ahLst/>
              <a:cxnLst/>
              <a:rect l="l" t="t" r="r" b="b"/>
              <a:pathLst>
                <a:path w="2572385" h="3524885">
                  <a:moveTo>
                    <a:pt x="2495685" y="3524399"/>
                  </a:moveTo>
                  <a:lnTo>
                    <a:pt x="76213" y="3524399"/>
                  </a:lnTo>
                  <a:lnTo>
                    <a:pt x="46221" y="3518521"/>
                  </a:lnTo>
                  <a:lnTo>
                    <a:pt x="22032" y="3502372"/>
                  </a:lnTo>
                  <a:lnTo>
                    <a:pt x="5880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80" y="46216"/>
                  </a:lnTo>
                  <a:lnTo>
                    <a:pt x="22032" y="22027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8" y="5878"/>
                  </a:lnTo>
                  <a:lnTo>
                    <a:pt x="2549867" y="22027"/>
                  </a:lnTo>
                  <a:lnTo>
                    <a:pt x="2566019" y="46216"/>
                  </a:lnTo>
                  <a:lnTo>
                    <a:pt x="2571899" y="76215"/>
                  </a:lnTo>
                  <a:lnTo>
                    <a:pt x="2571899" y="3448184"/>
                  </a:lnTo>
                  <a:lnTo>
                    <a:pt x="2566019" y="3478183"/>
                  </a:lnTo>
                  <a:lnTo>
                    <a:pt x="2549867" y="3502372"/>
                  </a:lnTo>
                  <a:lnTo>
                    <a:pt x="2525678" y="3518521"/>
                  </a:lnTo>
                  <a:lnTo>
                    <a:pt x="2495685" y="3524399"/>
                  </a:lnTo>
                  <a:close/>
                </a:path>
              </a:pathLst>
            </a:custGeom>
            <a:ln w="14299">
              <a:solidFill>
                <a:srgbClr val="E1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86125" y="1142999"/>
              <a:ext cx="2572385" cy="457200"/>
            </a:xfrm>
            <a:custGeom>
              <a:avLst/>
              <a:gdLst/>
              <a:ahLst/>
              <a:cxnLst/>
              <a:rect l="l" t="t" r="r" b="b"/>
              <a:pathLst>
                <a:path w="2572385" h="457200">
                  <a:moveTo>
                    <a:pt x="2495685" y="457199"/>
                  </a:moveTo>
                  <a:lnTo>
                    <a:pt x="76213" y="457199"/>
                  </a:lnTo>
                  <a:lnTo>
                    <a:pt x="46221" y="451321"/>
                  </a:lnTo>
                  <a:lnTo>
                    <a:pt x="22032" y="435173"/>
                  </a:lnTo>
                  <a:lnTo>
                    <a:pt x="5880" y="410988"/>
                  </a:lnTo>
                  <a:lnTo>
                    <a:pt x="0" y="380999"/>
                  </a:lnTo>
                  <a:lnTo>
                    <a:pt x="0" y="76199"/>
                  </a:lnTo>
                  <a:lnTo>
                    <a:pt x="5880" y="46211"/>
                  </a:lnTo>
                  <a:lnTo>
                    <a:pt x="22032" y="22026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8" y="5878"/>
                  </a:lnTo>
                  <a:lnTo>
                    <a:pt x="2549867" y="22026"/>
                  </a:lnTo>
                  <a:lnTo>
                    <a:pt x="2566019" y="46211"/>
                  </a:lnTo>
                  <a:lnTo>
                    <a:pt x="2571899" y="76199"/>
                  </a:lnTo>
                  <a:lnTo>
                    <a:pt x="2571899" y="380999"/>
                  </a:lnTo>
                  <a:lnTo>
                    <a:pt x="2566019" y="410988"/>
                  </a:lnTo>
                  <a:lnTo>
                    <a:pt x="2549867" y="435173"/>
                  </a:lnTo>
                  <a:lnTo>
                    <a:pt x="2525678" y="451321"/>
                  </a:lnTo>
                  <a:lnTo>
                    <a:pt x="2495685" y="45719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953867" y="1261364"/>
            <a:ext cx="1235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Expanded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4875" y="1667815"/>
            <a:ext cx="2070100" cy="9956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008080"/>
                </a:solidFill>
                <a:latin typeface="Arial"/>
                <a:cs typeface="Arial"/>
              </a:rPr>
              <a:t>Standard</a:t>
            </a:r>
            <a:r>
              <a:rPr dirty="0" sz="1200" spc="-4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8080"/>
                </a:solidFill>
                <a:latin typeface="Arial"/>
                <a:cs typeface="Arial"/>
              </a:rPr>
              <a:t>Random</a:t>
            </a:r>
            <a:r>
              <a:rPr dirty="0" sz="1200" spc="-35" b="1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8080"/>
                </a:solidFill>
                <a:latin typeface="Arial"/>
                <a:cs typeface="Arial"/>
              </a:rPr>
              <a:t>Forest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000" b="1">
                <a:solidFill>
                  <a:srgbClr val="555555"/>
                </a:solidFill>
                <a:latin typeface="Arial"/>
                <a:cs typeface="Arial"/>
              </a:rPr>
              <a:t>(21</a:t>
            </a:r>
            <a:r>
              <a:rPr dirty="0" sz="1000" spc="-15" b="1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555555"/>
                </a:solidFill>
                <a:latin typeface="Arial"/>
                <a:cs typeface="Arial"/>
              </a:rPr>
              <a:t>Features)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05"/>
              </a:spcBef>
            </a:pP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An</a:t>
            </a:r>
            <a:r>
              <a:rPr dirty="0" sz="9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expanded</a:t>
            </a:r>
            <a:r>
              <a:rPr dirty="0" sz="9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model</a:t>
            </a:r>
            <a:r>
              <a:rPr dirty="0" sz="9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utilising</a:t>
            </a:r>
            <a:r>
              <a:rPr dirty="0" sz="9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dirty="0" sz="950" spc="-3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55555"/>
                </a:solidFill>
                <a:latin typeface="Arial MT"/>
                <a:cs typeface="Arial MT"/>
              </a:rPr>
              <a:t>entire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medical</a:t>
            </a:r>
            <a:r>
              <a:rPr dirty="0" sz="95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dirty="0" sz="9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socioeconomic</a:t>
            </a:r>
            <a:r>
              <a:rPr dirty="0" sz="950" spc="-2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profile</a:t>
            </a:r>
            <a:r>
              <a:rPr dirty="0" sz="9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555555"/>
                </a:solidFill>
                <a:latin typeface="Arial MT"/>
                <a:cs typeface="Arial MT"/>
              </a:rPr>
              <a:t>to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capture</a:t>
            </a:r>
            <a:r>
              <a:rPr dirty="0" sz="950" spc="-4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nuanced</a:t>
            </a:r>
            <a:r>
              <a:rPr dirty="0" sz="95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55555"/>
                </a:solidFill>
                <a:latin typeface="Arial MT"/>
                <a:cs typeface="Arial MT"/>
              </a:rPr>
              <a:t>patient</a:t>
            </a:r>
            <a:r>
              <a:rPr dirty="0" sz="950" spc="-3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555555"/>
                </a:solidFill>
                <a:latin typeface="Arial MT"/>
                <a:cs typeface="Arial MT"/>
              </a:rPr>
              <a:t>data.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4875" y="2731037"/>
            <a:ext cx="2219325" cy="6305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00" b="1">
                <a:solidFill>
                  <a:srgbClr val="991B1B"/>
                </a:solidFill>
                <a:latin typeface="Arial"/>
                <a:cs typeface="Arial"/>
              </a:rPr>
              <a:t>Challenge</a:t>
            </a:r>
            <a:r>
              <a:rPr dirty="0" sz="900" spc="-45" b="1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991B1B"/>
                </a:solidFill>
                <a:latin typeface="Arial"/>
                <a:cs typeface="Arial"/>
              </a:rPr>
              <a:t>Identified: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</a:pPr>
            <a:r>
              <a:rPr dirty="0" sz="850" spc="-10">
                <a:solidFill>
                  <a:srgbClr val="7F1C1C"/>
                </a:solidFill>
                <a:latin typeface="Arial MT"/>
                <a:cs typeface="Arial MT"/>
              </a:rPr>
              <a:t>Favoured</a:t>
            </a:r>
            <a:r>
              <a:rPr dirty="0" sz="850" spc="-25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majority</a:t>
            </a:r>
            <a:r>
              <a:rPr dirty="0" sz="850" spc="-20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class</a:t>
            </a:r>
            <a:r>
              <a:rPr dirty="0" sz="850" spc="-20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("Low</a:t>
            </a:r>
            <a:r>
              <a:rPr dirty="0" sz="850" spc="-25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Risk")</a:t>
            </a:r>
            <a:r>
              <a:rPr dirty="0" sz="850" spc="-20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7F1C1C"/>
                </a:solidFill>
                <a:latin typeface="Arial MT"/>
                <a:cs typeface="Arial MT"/>
              </a:rPr>
              <a:t>because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healthy</a:t>
            </a:r>
            <a:r>
              <a:rPr dirty="0" sz="850" spc="-40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patients</a:t>
            </a:r>
            <a:r>
              <a:rPr dirty="0" sz="850" spc="-35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outnumber</a:t>
            </a:r>
            <a:r>
              <a:rPr dirty="0" sz="850" spc="-40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diabetic</a:t>
            </a:r>
            <a:r>
              <a:rPr dirty="0" sz="850" spc="-35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7F1C1C"/>
                </a:solidFill>
                <a:latin typeface="Arial MT"/>
                <a:cs typeface="Arial MT"/>
              </a:rPr>
              <a:t>patients 218,000 </a:t>
            </a:r>
            <a:r>
              <a:rPr dirty="0" sz="850">
                <a:solidFill>
                  <a:srgbClr val="7F1C1C"/>
                </a:solidFill>
                <a:latin typeface="Arial MT"/>
                <a:cs typeface="Arial MT"/>
              </a:rPr>
              <a:t>to</a:t>
            </a:r>
            <a:r>
              <a:rPr dirty="0" sz="850" spc="-5">
                <a:solidFill>
                  <a:srgbClr val="7F1C1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7F1C1C"/>
                </a:solidFill>
                <a:latin typeface="Arial MT"/>
                <a:cs typeface="Arial MT"/>
              </a:rPr>
              <a:t>35,000.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86475" y="1133475"/>
            <a:ext cx="2591435" cy="3543935"/>
            <a:chOff x="6086475" y="1133475"/>
            <a:chExt cx="2591435" cy="3543935"/>
          </a:xfrm>
        </p:grpSpPr>
        <p:sp>
          <p:nvSpPr>
            <p:cNvPr id="19" name="object 19"/>
            <p:cNvSpPr/>
            <p:nvPr/>
          </p:nvSpPr>
          <p:spPr>
            <a:xfrm>
              <a:off x="6096000" y="1143000"/>
              <a:ext cx="2572385" cy="3524885"/>
            </a:xfrm>
            <a:custGeom>
              <a:avLst/>
              <a:gdLst/>
              <a:ahLst/>
              <a:cxnLst/>
              <a:rect l="l" t="t" r="r" b="b"/>
              <a:pathLst>
                <a:path w="2572384" h="3524885">
                  <a:moveTo>
                    <a:pt x="2495685" y="3524399"/>
                  </a:moveTo>
                  <a:lnTo>
                    <a:pt x="76213" y="3524399"/>
                  </a:lnTo>
                  <a:lnTo>
                    <a:pt x="46221" y="3518521"/>
                  </a:lnTo>
                  <a:lnTo>
                    <a:pt x="22032" y="3502372"/>
                  </a:lnTo>
                  <a:lnTo>
                    <a:pt x="5880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80" y="46216"/>
                  </a:lnTo>
                  <a:lnTo>
                    <a:pt x="22032" y="22027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7" y="5878"/>
                  </a:lnTo>
                  <a:lnTo>
                    <a:pt x="2549867" y="22027"/>
                  </a:lnTo>
                  <a:lnTo>
                    <a:pt x="2566019" y="46216"/>
                  </a:lnTo>
                  <a:lnTo>
                    <a:pt x="2571899" y="76215"/>
                  </a:lnTo>
                  <a:lnTo>
                    <a:pt x="2571899" y="3448184"/>
                  </a:lnTo>
                  <a:lnTo>
                    <a:pt x="2566019" y="3478183"/>
                  </a:lnTo>
                  <a:lnTo>
                    <a:pt x="2549867" y="3502372"/>
                  </a:lnTo>
                  <a:lnTo>
                    <a:pt x="2525677" y="3518521"/>
                  </a:lnTo>
                  <a:lnTo>
                    <a:pt x="2495685" y="352439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96000" y="1143000"/>
              <a:ext cx="2572385" cy="3524885"/>
            </a:xfrm>
            <a:custGeom>
              <a:avLst/>
              <a:gdLst/>
              <a:ahLst/>
              <a:cxnLst/>
              <a:rect l="l" t="t" r="r" b="b"/>
              <a:pathLst>
                <a:path w="2572384" h="3524885">
                  <a:moveTo>
                    <a:pt x="2495685" y="3524399"/>
                  </a:moveTo>
                  <a:lnTo>
                    <a:pt x="76213" y="3524399"/>
                  </a:lnTo>
                  <a:lnTo>
                    <a:pt x="46221" y="3518521"/>
                  </a:lnTo>
                  <a:lnTo>
                    <a:pt x="22032" y="3502372"/>
                  </a:lnTo>
                  <a:lnTo>
                    <a:pt x="5880" y="3478183"/>
                  </a:lnTo>
                  <a:lnTo>
                    <a:pt x="0" y="3448184"/>
                  </a:lnTo>
                  <a:lnTo>
                    <a:pt x="0" y="76215"/>
                  </a:lnTo>
                  <a:lnTo>
                    <a:pt x="5880" y="46216"/>
                  </a:lnTo>
                  <a:lnTo>
                    <a:pt x="22032" y="22027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7" y="5878"/>
                  </a:lnTo>
                  <a:lnTo>
                    <a:pt x="2549867" y="22027"/>
                  </a:lnTo>
                  <a:lnTo>
                    <a:pt x="2566019" y="46216"/>
                  </a:lnTo>
                  <a:lnTo>
                    <a:pt x="2571899" y="76215"/>
                  </a:lnTo>
                  <a:lnTo>
                    <a:pt x="2571899" y="3448184"/>
                  </a:lnTo>
                  <a:lnTo>
                    <a:pt x="2566019" y="3478183"/>
                  </a:lnTo>
                  <a:lnTo>
                    <a:pt x="2549867" y="3502372"/>
                  </a:lnTo>
                  <a:lnTo>
                    <a:pt x="2525677" y="3518521"/>
                  </a:lnTo>
                  <a:lnTo>
                    <a:pt x="2495685" y="3524399"/>
                  </a:lnTo>
                  <a:close/>
                </a:path>
              </a:pathLst>
            </a:custGeom>
            <a:ln w="19049">
              <a:solidFill>
                <a:srgbClr val="86EEA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96000" y="1143000"/>
              <a:ext cx="2572385" cy="457200"/>
            </a:xfrm>
            <a:custGeom>
              <a:avLst/>
              <a:gdLst/>
              <a:ahLst/>
              <a:cxnLst/>
              <a:rect l="l" t="t" r="r" b="b"/>
              <a:pathLst>
                <a:path w="2572384" h="457200">
                  <a:moveTo>
                    <a:pt x="2495685" y="457199"/>
                  </a:moveTo>
                  <a:lnTo>
                    <a:pt x="76213" y="457199"/>
                  </a:lnTo>
                  <a:lnTo>
                    <a:pt x="46221" y="451321"/>
                  </a:lnTo>
                  <a:lnTo>
                    <a:pt x="22032" y="435173"/>
                  </a:lnTo>
                  <a:lnTo>
                    <a:pt x="5880" y="410988"/>
                  </a:lnTo>
                  <a:lnTo>
                    <a:pt x="0" y="380999"/>
                  </a:lnTo>
                  <a:lnTo>
                    <a:pt x="0" y="76199"/>
                  </a:lnTo>
                  <a:lnTo>
                    <a:pt x="5880" y="46211"/>
                  </a:lnTo>
                  <a:lnTo>
                    <a:pt x="22032" y="22026"/>
                  </a:lnTo>
                  <a:lnTo>
                    <a:pt x="46221" y="5878"/>
                  </a:lnTo>
                  <a:lnTo>
                    <a:pt x="76213" y="0"/>
                  </a:lnTo>
                  <a:lnTo>
                    <a:pt x="2495685" y="0"/>
                  </a:lnTo>
                  <a:lnTo>
                    <a:pt x="2525677" y="5878"/>
                  </a:lnTo>
                  <a:lnTo>
                    <a:pt x="2549867" y="22026"/>
                  </a:lnTo>
                  <a:lnTo>
                    <a:pt x="2566019" y="46211"/>
                  </a:lnTo>
                  <a:lnTo>
                    <a:pt x="2571899" y="76199"/>
                  </a:lnTo>
                  <a:lnTo>
                    <a:pt x="2571899" y="380999"/>
                  </a:lnTo>
                  <a:lnTo>
                    <a:pt x="2566019" y="410988"/>
                  </a:lnTo>
                  <a:lnTo>
                    <a:pt x="2549867" y="435173"/>
                  </a:lnTo>
                  <a:lnTo>
                    <a:pt x="2525677" y="451321"/>
                  </a:lnTo>
                  <a:lnTo>
                    <a:pt x="2495685" y="4571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477732" y="1261364"/>
            <a:ext cx="18059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S PGothic"/>
                <a:cs typeface="MS PGothic"/>
              </a:rPr>
              <a:t>★</a:t>
            </a:r>
            <a:r>
              <a:rPr dirty="0" sz="1200" spc="-25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54750" y="1667815"/>
            <a:ext cx="1861820" cy="9956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0D9487"/>
                </a:solidFill>
                <a:latin typeface="Arial"/>
                <a:cs typeface="Arial"/>
              </a:rPr>
              <a:t>Balanced</a:t>
            </a:r>
            <a:r>
              <a:rPr dirty="0" sz="1200" spc="-4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9487"/>
                </a:solidFill>
                <a:latin typeface="Arial"/>
                <a:cs typeface="Arial"/>
              </a:rPr>
              <a:t>Random</a:t>
            </a:r>
            <a:r>
              <a:rPr dirty="0" sz="1200" spc="-3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D9487"/>
                </a:solidFill>
                <a:latin typeface="Arial"/>
                <a:cs typeface="Arial"/>
              </a:rPr>
              <a:t>Forest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000" b="1">
                <a:solidFill>
                  <a:srgbClr val="14803D"/>
                </a:solidFill>
                <a:latin typeface="Arial"/>
                <a:cs typeface="Arial"/>
              </a:rPr>
              <a:t>(Optimized</a:t>
            </a:r>
            <a:r>
              <a:rPr dirty="0" sz="1000" spc="-50" b="1">
                <a:solidFill>
                  <a:srgbClr val="14803D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4803D"/>
                </a:solidFill>
                <a:latin typeface="Arial"/>
                <a:cs typeface="Arial"/>
              </a:rPr>
              <a:t>Weights)</a:t>
            </a:r>
            <a:endParaRPr sz="1000">
              <a:latin typeface="Arial"/>
              <a:cs typeface="Arial"/>
            </a:endParaRPr>
          </a:p>
          <a:p>
            <a:pPr algn="just" marL="12700" marR="175895">
              <a:lnSpc>
                <a:spcPct val="100000"/>
              </a:lnSpc>
              <a:spcBef>
                <a:spcPts val="905"/>
              </a:spcBef>
            </a:pP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The</a:t>
            </a:r>
            <a:r>
              <a:rPr dirty="0" sz="950" spc="-30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optimised</a:t>
            </a:r>
            <a:r>
              <a:rPr dirty="0" sz="950" spc="-2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model</a:t>
            </a:r>
            <a:r>
              <a:rPr dirty="0" sz="950" spc="-30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using</a:t>
            </a:r>
            <a:r>
              <a:rPr dirty="0" sz="950" spc="-25">
                <a:solidFill>
                  <a:srgbClr val="334155"/>
                </a:solidFill>
                <a:latin typeface="Arial MT"/>
                <a:cs typeface="Arial MT"/>
              </a:rPr>
              <a:t> the </a:t>
            </a:r>
            <a:r>
              <a:rPr dirty="0" sz="950" spc="-10" b="1">
                <a:solidFill>
                  <a:srgbClr val="166534"/>
                </a:solidFill>
                <a:latin typeface="Courier New"/>
                <a:cs typeface="Courier New"/>
              </a:rPr>
              <a:t>class_weight='balanced'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parameter.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54750" y="2731037"/>
            <a:ext cx="2148840" cy="6305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00" b="1">
                <a:solidFill>
                  <a:srgbClr val="166534"/>
                </a:solidFill>
                <a:latin typeface="Arial"/>
                <a:cs typeface="Arial"/>
              </a:rPr>
              <a:t>Key</a:t>
            </a:r>
            <a:r>
              <a:rPr dirty="0" sz="900" spc="-25" b="1">
                <a:solidFill>
                  <a:srgbClr val="166534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66534"/>
                </a:solidFill>
                <a:latin typeface="Arial"/>
                <a:cs typeface="Arial"/>
              </a:rPr>
              <a:t>Solution: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</a:pP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Adjusts</a:t>
            </a:r>
            <a:r>
              <a:rPr dirty="0" sz="850" spc="-3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weights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to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heavily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4532D"/>
                </a:solidFill>
                <a:latin typeface="Arial MT"/>
                <a:cs typeface="Arial MT"/>
              </a:rPr>
              <a:t>penalise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4532D"/>
                </a:solidFill>
                <a:latin typeface="Arial MT"/>
                <a:cs typeface="Arial MT"/>
              </a:rPr>
              <a:t>mistakes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on</a:t>
            </a:r>
            <a:r>
              <a:rPr dirty="0" sz="850" spc="-25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minority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class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(diabetic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4532D"/>
                </a:solidFill>
                <a:latin typeface="Arial MT"/>
                <a:cs typeface="Arial MT"/>
              </a:rPr>
              <a:t>patients),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4532D"/>
                </a:solidFill>
                <a:latin typeface="Arial MT"/>
                <a:cs typeface="Arial MT"/>
              </a:rPr>
              <a:t>forcing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the</a:t>
            </a:r>
            <a:r>
              <a:rPr dirty="0" sz="850" spc="-25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model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to</a:t>
            </a:r>
            <a:r>
              <a:rPr dirty="0" sz="850" spc="-25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identify</a:t>
            </a:r>
            <a:r>
              <a:rPr dirty="0" sz="850" spc="-20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4532D"/>
                </a:solidFill>
                <a:latin typeface="Arial MT"/>
                <a:cs typeface="Arial MT"/>
              </a:rPr>
              <a:t>high-</a:t>
            </a:r>
            <a:r>
              <a:rPr dirty="0" sz="850">
                <a:solidFill>
                  <a:srgbClr val="14532D"/>
                </a:solidFill>
                <a:latin typeface="Arial MT"/>
                <a:cs typeface="Arial MT"/>
              </a:rPr>
              <a:t>risk</a:t>
            </a:r>
            <a:r>
              <a:rPr dirty="0" sz="850" spc="-25">
                <a:solidFill>
                  <a:srgbClr val="14532D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4532D"/>
                </a:solidFill>
                <a:latin typeface="Arial MT"/>
                <a:cs typeface="Arial MT"/>
              </a:rPr>
              <a:t>patterns.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550" y="154323"/>
            <a:ext cx="4584700" cy="579755"/>
          </a:xfrm>
          <a:prstGeom prst="rect"/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850" b="1">
                <a:solidFill>
                  <a:srgbClr val="0F172A"/>
                </a:solidFill>
                <a:latin typeface="Arial"/>
                <a:cs typeface="Arial"/>
              </a:rPr>
              <a:t>Architecture</a:t>
            </a:r>
            <a:r>
              <a:rPr dirty="0" sz="1850" spc="2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F172A"/>
                </a:solidFill>
                <a:latin typeface="Arial"/>
                <a:cs typeface="Arial"/>
              </a:rPr>
              <a:t>—</a:t>
            </a:r>
            <a:r>
              <a:rPr dirty="0" sz="1850" spc="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F172A"/>
                </a:solidFill>
                <a:latin typeface="Arial"/>
                <a:cs typeface="Arial"/>
              </a:rPr>
              <a:t>Process</a:t>
            </a:r>
            <a:r>
              <a:rPr dirty="0" sz="1850" spc="2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F172A"/>
                </a:solidFill>
                <a:latin typeface="Arial"/>
                <a:cs typeface="Arial"/>
              </a:rPr>
              <a:t>Flow</a:t>
            </a:r>
            <a:r>
              <a:rPr dirty="0" sz="1850" spc="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F172A"/>
                </a:solidFill>
                <a:latin typeface="Arial"/>
                <a:cs typeface="Arial"/>
              </a:rPr>
              <a:t>&amp;</a:t>
            </a:r>
            <a:r>
              <a:rPr dirty="0" sz="1850" spc="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0F172A"/>
                </a:solidFill>
                <a:latin typeface="Arial"/>
                <a:cs typeface="Arial"/>
              </a:rPr>
              <a:t>Timeline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900" b="1">
                <a:solidFill>
                  <a:srgbClr val="0D9487"/>
                </a:solidFill>
                <a:latin typeface="Arial"/>
                <a:cs typeface="Arial"/>
              </a:rPr>
              <a:t>SYSTEM</a:t>
            </a:r>
            <a:r>
              <a:rPr dirty="0" sz="900" spc="-2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D9487"/>
                </a:solidFill>
                <a:latin typeface="Arial"/>
                <a:cs typeface="Arial"/>
              </a:rPr>
              <a:t>WORKFLOW</a:t>
            </a:r>
            <a:r>
              <a:rPr dirty="0" sz="900" spc="-20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D9487"/>
                </a:solidFill>
                <a:latin typeface="Arial"/>
                <a:cs typeface="Arial"/>
              </a:rPr>
              <a:t>&amp;</a:t>
            </a:r>
            <a:r>
              <a:rPr dirty="0" sz="900" spc="-20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D9487"/>
                </a:solidFill>
                <a:latin typeface="Arial"/>
                <a:cs typeface="Arial"/>
              </a:rPr>
              <a:t>DEVELOPMENT</a:t>
            </a:r>
            <a:r>
              <a:rPr dirty="0" sz="900" spc="-20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D9487"/>
                </a:solidFill>
                <a:latin typeface="Arial"/>
                <a:cs typeface="Arial"/>
              </a:rPr>
              <a:t>PHASES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8947" y="849947"/>
            <a:ext cx="1729105" cy="1300480"/>
            <a:chOff x="468947" y="849947"/>
            <a:chExt cx="1729105" cy="1300480"/>
          </a:xfrm>
        </p:grpSpPr>
        <p:sp>
          <p:nvSpPr>
            <p:cNvPr id="4" name="object 4"/>
            <p:cNvSpPr/>
            <p:nvPr/>
          </p:nvSpPr>
          <p:spPr>
            <a:xfrm>
              <a:off x="476249" y="857250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1619260" y="1285799"/>
                  </a:moveTo>
                  <a:lnTo>
                    <a:pt x="95239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9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76249" y="857250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0" y="95239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9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lnTo>
                    <a:pt x="95239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close/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6250" y="857262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95250"/>
                  </a:moveTo>
                  <a:lnTo>
                    <a:pt x="1698485" y="42392"/>
                  </a:lnTo>
                  <a:lnTo>
                    <a:pt x="1655699" y="7239"/>
                  </a:lnTo>
                  <a:lnTo>
                    <a:pt x="1619250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524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1619250" y="304800"/>
                  </a:lnTo>
                  <a:lnTo>
                    <a:pt x="1714500" y="304800"/>
                  </a:lnTo>
                  <a:lnTo>
                    <a:pt x="1714500" y="209550"/>
                  </a:lnTo>
                  <a:lnTo>
                    <a:pt x="1714500" y="152400"/>
                  </a:lnTo>
                  <a:lnTo>
                    <a:pt x="1714500" y="9525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58800" y="1172153"/>
            <a:ext cx="1340485" cy="5543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100" b="1">
                <a:solidFill>
                  <a:srgbClr val="0F172A"/>
                </a:solidFill>
                <a:latin typeface="Arial"/>
                <a:cs typeface="Arial"/>
              </a:rPr>
              <a:t>Data</a:t>
            </a:r>
            <a:r>
              <a:rPr dirty="0" sz="1100" spc="-4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Collection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09"/>
              </a:spcBef>
            </a:pP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Gathering</a:t>
            </a:r>
            <a:r>
              <a:rPr dirty="0" sz="900" spc="-40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raw</a:t>
            </a:r>
            <a:r>
              <a:rPr dirty="0" sz="900" spc="-30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75568"/>
                </a:solidFill>
                <a:latin typeface="Arial MT"/>
                <a:cs typeface="Arial MT"/>
              </a:rPr>
              <a:t>information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from</a:t>
            </a:r>
            <a:r>
              <a:rPr dirty="0" sz="900" spc="-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various</a:t>
            </a:r>
            <a:r>
              <a:rPr dirty="0" sz="900" spc="-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75568"/>
                </a:solidFill>
                <a:latin typeface="Arial MT"/>
                <a:cs typeface="Arial MT"/>
              </a:rPr>
              <a:t>sources.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09800" y="849947"/>
            <a:ext cx="2084070" cy="1300480"/>
            <a:chOff x="2209800" y="849947"/>
            <a:chExt cx="2084070" cy="1300480"/>
          </a:xfrm>
        </p:grpSpPr>
        <p:sp>
          <p:nvSpPr>
            <p:cNvPr id="9" name="object 9"/>
            <p:cNvSpPr/>
            <p:nvPr/>
          </p:nvSpPr>
          <p:spPr>
            <a:xfrm>
              <a:off x="2219325" y="1495425"/>
              <a:ext cx="286385" cy="0"/>
            </a:xfrm>
            <a:custGeom>
              <a:avLst/>
              <a:gdLst/>
              <a:ahLst/>
              <a:cxnLst/>
              <a:rect l="l" t="t" r="r" b="b"/>
              <a:pathLst>
                <a:path w="286385" h="0">
                  <a:moveTo>
                    <a:pt x="0" y="0"/>
                  </a:moveTo>
                  <a:lnTo>
                    <a:pt x="285899" y="0"/>
                  </a:lnTo>
                </a:path>
              </a:pathLst>
            </a:custGeom>
            <a:ln w="1904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6500" y="1447800"/>
              <a:ext cx="76200" cy="95885"/>
            </a:xfrm>
            <a:custGeom>
              <a:avLst/>
              <a:gdLst/>
              <a:ahLst/>
              <a:cxnLst/>
              <a:rect l="l" t="t" r="r" b="b"/>
              <a:pathLst>
                <a:path w="76200" h="95884">
                  <a:moveTo>
                    <a:pt x="0" y="95399"/>
                  </a:moveTo>
                  <a:lnTo>
                    <a:pt x="0" y="0"/>
                  </a:lnTo>
                  <a:lnTo>
                    <a:pt x="76199" y="47699"/>
                  </a:lnTo>
                  <a:lnTo>
                    <a:pt x="0" y="953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71750" y="857250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1619260" y="1285799"/>
                  </a:moveTo>
                  <a:lnTo>
                    <a:pt x="95239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9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71750" y="857250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0" y="95239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9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lnTo>
                    <a:pt x="95239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close/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71750" y="857262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95250"/>
                  </a:moveTo>
                  <a:lnTo>
                    <a:pt x="1698485" y="42392"/>
                  </a:lnTo>
                  <a:lnTo>
                    <a:pt x="1655699" y="7239"/>
                  </a:lnTo>
                  <a:lnTo>
                    <a:pt x="1619250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524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1619250" y="304800"/>
                  </a:lnTo>
                  <a:lnTo>
                    <a:pt x="1714500" y="304800"/>
                  </a:lnTo>
                  <a:lnTo>
                    <a:pt x="1714500" y="209550"/>
                  </a:lnTo>
                  <a:lnTo>
                    <a:pt x="1714500" y="152400"/>
                  </a:lnTo>
                  <a:lnTo>
                    <a:pt x="1714500" y="9525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67922" y="915670"/>
            <a:ext cx="26263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7565" algn="l"/>
              </a:tabLst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1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01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	STEP</a:t>
            </a:r>
            <a:r>
              <a:rPr dirty="0" sz="1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4300" y="1172153"/>
            <a:ext cx="1448435" cy="5543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Preprocessing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09"/>
              </a:spcBef>
            </a:pP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Cleaning</a:t>
            </a:r>
            <a:r>
              <a:rPr dirty="0" sz="900" spc="-3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and</a:t>
            </a:r>
            <a:r>
              <a:rPr dirty="0" sz="900" spc="-3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organising</a:t>
            </a:r>
            <a:r>
              <a:rPr dirty="0" sz="900" spc="-3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475568"/>
                </a:solidFill>
                <a:latin typeface="Arial MT"/>
                <a:cs typeface="Arial MT"/>
              </a:rPr>
              <a:t>the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initial</a:t>
            </a:r>
            <a:r>
              <a:rPr dirty="0" sz="900" spc="-3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75568"/>
                </a:solidFill>
                <a:latin typeface="Arial MT"/>
                <a:cs typeface="Arial MT"/>
              </a:rPr>
              <a:t>data.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05300" y="849947"/>
            <a:ext cx="2084070" cy="1300480"/>
            <a:chOff x="4305300" y="849947"/>
            <a:chExt cx="2084070" cy="1300480"/>
          </a:xfrm>
        </p:grpSpPr>
        <p:sp>
          <p:nvSpPr>
            <p:cNvPr id="17" name="object 17"/>
            <p:cNvSpPr/>
            <p:nvPr/>
          </p:nvSpPr>
          <p:spPr>
            <a:xfrm>
              <a:off x="4314825" y="1495425"/>
              <a:ext cx="286385" cy="0"/>
            </a:xfrm>
            <a:custGeom>
              <a:avLst/>
              <a:gdLst/>
              <a:ahLst/>
              <a:cxnLst/>
              <a:rect l="l" t="t" r="r" b="b"/>
              <a:pathLst>
                <a:path w="286385" h="0">
                  <a:moveTo>
                    <a:pt x="0" y="0"/>
                  </a:moveTo>
                  <a:lnTo>
                    <a:pt x="285899" y="0"/>
                  </a:lnTo>
                </a:path>
              </a:pathLst>
            </a:custGeom>
            <a:ln w="1904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72000" y="1447800"/>
              <a:ext cx="76200" cy="95885"/>
            </a:xfrm>
            <a:custGeom>
              <a:avLst/>
              <a:gdLst/>
              <a:ahLst/>
              <a:cxnLst/>
              <a:rect l="l" t="t" r="r" b="b"/>
              <a:pathLst>
                <a:path w="76200" h="95884">
                  <a:moveTo>
                    <a:pt x="0" y="95399"/>
                  </a:moveTo>
                  <a:lnTo>
                    <a:pt x="0" y="0"/>
                  </a:lnTo>
                  <a:lnTo>
                    <a:pt x="76199" y="47699"/>
                  </a:lnTo>
                  <a:lnTo>
                    <a:pt x="0" y="953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67250" y="857250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1619260" y="1285799"/>
                  </a:moveTo>
                  <a:lnTo>
                    <a:pt x="95238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67250" y="857250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0" y="95239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lnTo>
                    <a:pt x="95238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close/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667250" y="857262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95250"/>
                  </a:moveTo>
                  <a:lnTo>
                    <a:pt x="1698485" y="42392"/>
                  </a:lnTo>
                  <a:lnTo>
                    <a:pt x="1655699" y="7239"/>
                  </a:lnTo>
                  <a:lnTo>
                    <a:pt x="1619250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524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1619250" y="304800"/>
                  </a:lnTo>
                  <a:lnTo>
                    <a:pt x="1714500" y="304800"/>
                  </a:lnTo>
                  <a:lnTo>
                    <a:pt x="1714500" y="209550"/>
                  </a:lnTo>
                  <a:lnTo>
                    <a:pt x="1714500" y="152400"/>
                  </a:lnTo>
                  <a:lnTo>
                    <a:pt x="1714500" y="9525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258922" y="915670"/>
            <a:ext cx="5308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1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49800" y="1172153"/>
            <a:ext cx="1524635" cy="5543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100" b="1">
                <a:solidFill>
                  <a:srgbClr val="0F172A"/>
                </a:solidFill>
                <a:latin typeface="Arial"/>
                <a:cs typeface="Arial"/>
              </a:rPr>
              <a:t>Model</a:t>
            </a:r>
            <a:r>
              <a:rPr dirty="0" sz="1100" spc="-2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Training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09"/>
              </a:spcBef>
            </a:pP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Developing</a:t>
            </a:r>
            <a:r>
              <a:rPr dirty="0" sz="900" spc="-2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the</a:t>
            </a:r>
            <a:r>
              <a:rPr dirty="0" sz="900" spc="-2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algorithm</a:t>
            </a:r>
            <a:r>
              <a:rPr dirty="0" sz="900" spc="-20">
                <a:solidFill>
                  <a:srgbClr val="475568"/>
                </a:solidFill>
                <a:latin typeface="Arial MT"/>
                <a:cs typeface="Arial MT"/>
              </a:rPr>
              <a:t> with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prepared</a:t>
            </a:r>
            <a:r>
              <a:rPr dirty="0" sz="900" spc="-40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75568"/>
                </a:solidFill>
                <a:latin typeface="Arial MT"/>
                <a:cs typeface="Arial MT"/>
              </a:rPr>
              <a:t>data.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10325" y="850099"/>
            <a:ext cx="2074545" cy="1300480"/>
            <a:chOff x="6410325" y="850099"/>
            <a:chExt cx="2074545" cy="1300480"/>
          </a:xfrm>
        </p:grpSpPr>
        <p:sp>
          <p:nvSpPr>
            <p:cNvPr id="25" name="object 25"/>
            <p:cNvSpPr/>
            <p:nvPr/>
          </p:nvSpPr>
          <p:spPr>
            <a:xfrm>
              <a:off x="6410325" y="1495424"/>
              <a:ext cx="286385" cy="0"/>
            </a:xfrm>
            <a:custGeom>
              <a:avLst/>
              <a:gdLst/>
              <a:ahLst/>
              <a:cxnLst/>
              <a:rect l="l" t="t" r="r" b="b"/>
              <a:pathLst>
                <a:path w="286384" h="0">
                  <a:moveTo>
                    <a:pt x="0" y="0"/>
                  </a:moveTo>
                  <a:lnTo>
                    <a:pt x="285899" y="0"/>
                  </a:lnTo>
                </a:path>
              </a:pathLst>
            </a:custGeom>
            <a:ln w="1904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667500" y="1447799"/>
              <a:ext cx="76200" cy="95885"/>
            </a:xfrm>
            <a:custGeom>
              <a:avLst/>
              <a:gdLst/>
              <a:ahLst/>
              <a:cxnLst/>
              <a:rect l="l" t="t" r="r" b="b"/>
              <a:pathLst>
                <a:path w="76200" h="95884">
                  <a:moveTo>
                    <a:pt x="0" y="95399"/>
                  </a:moveTo>
                  <a:lnTo>
                    <a:pt x="0" y="0"/>
                  </a:lnTo>
                  <a:lnTo>
                    <a:pt x="76199" y="47699"/>
                  </a:lnTo>
                  <a:lnTo>
                    <a:pt x="0" y="953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762750" y="857249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1619260" y="1285799"/>
                  </a:moveTo>
                  <a:lnTo>
                    <a:pt x="95238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762750" y="857249"/>
              <a:ext cx="1714500" cy="1285875"/>
            </a:xfrm>
            <a:custGeom>
              <a:avLst/>
              <a:gdLst/>
              <a:ahLst/>
              <a:cxnLst/>
              <a:rect l="l" t="t" r="r" b="b"/>
              <a:pathLst>
                <a:path w="1714500" h="1285875">
                  <a:moveTo>
                    <a:pt x="0" y="95239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1619260" y="0"/>
                  </a:lnTo>
                  <a:lnTo>
                    <a:pt x="1672099" y="16001"/>
                  </a:lnTo>
                  <a:lnTo>
                    <a:pt x="1707250" y="58792"/>
                  </a:lnTo>
                  <a:lnTo>
                    <a:pt x="1714499" y="95239"/>
                  </a:lnTo>
                  <a:lnTo>
                    <a:pt x="1714499" y="1190560"/>
                  </a:lnTo>
                  <a:lnTo>
                    <a:pt x="1707015" y="1227632"/>
                  </a:lnTo>
                  <a:lnTo>
                    <a:pt x="1686605" y="1257905"/>
                  </a:lnTo>
                  <a:lnTo>
                    <a:pt x="1656332" y="1278315"/>
                  </a:lnTo>
                  <a:lnTo>
                    <a:pt x="1619260" y="1285799"/>
                  </a:lnTo>
                  <a:lnTo>
                    <a:pt x="95238" y="1285799"/>
                  </a:lnTo>
                  <a:lnTo>
                    <a:pt x="58167" y="1278315"/>
                  </a:lnTo>
                  <a:lnTo>
                    <a:pt x="27894" y="1257905"/>
                  </a:lnTo>
                  <a:lnTo>
                    <a:pt x="7484" y="1227632"/>
                  </a:lnTo>
                  <a:lnTo>
                    <a:pt x="0" y="1190560"/>
                  </a:lnTo>
                  <a:lnTo>
                    <a:pt x="0" y="95239"/>
                  </a:lnTo>
                  <a:close/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762750" y="857262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95250"/>
                  </a:moveTo>
                  <a:lnTo>
                    <a:pt x="1698485" y="42392"/>
                  </a:lnTo>
                  <a:lnTo>
                    <a:pt x="1655699" y="7239"/>
                  </a:lnTo>
                  <a:lnTo>
                    <a:pt x="1619250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524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1619250" y="304800"/>
                  </a:lnTo>
                  <a:lnTo>
                    <a:pt x="1714500" y="304800"/>
                  </a:lnTo>
                  <a:lnTo>
                    <a:pt x="1714500" y="209550"/>
                  </a:lnTo>
                  <a:lnTo>
                    <a:pt x="1714500" y="152400"/>
                  </a:lnTo>
                  <a:lnTo>
                    <a:pt x="1714500" y="9525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354422" y="915670"/>
            <a:ext cx="5308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1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45300" y="1172153"/>
            <a:ext cx="1415415" cy="5543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Prediction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09"/>
              </a:spcBef>
            </a:pP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Using</a:t>
            </a:r>
            <a:r>
              <a:rPr dirty="0" sz="900" spc="-20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the</a:t>
            </a:r>
            <a:r>
              <a:rPr dirty="0" sz="900" spc="-20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model</a:t>
            </a:r>
            <a:r>
              <a:rPr dirty="0" sz="900" spc="-20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to</a:t>
            </a:r>
            <a:r>
              <a:rPr dirty="0" sz="900" spc="-15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75568"/>
                </a:solidFill>
                <a:latin typeface="Arial MT"/>
                <a:cs typeface="Arial MT"/>
              </a:rPr>
              <a:t>forecast </a:t>
            </a:r>
            <a:r>
              <a:rPr dirty="0" sz="900">
                <a:solidFill>
                  <a:srgbClr val="475568"/>
                </a:solidFill>
                <a:latin typeface="Arial MT"/>
                <a:cs typeface="Arial MT"/>
              </a:rPr>
              <a:t>future</a:t>
            </a:r>
            <a:r>
              <a:rPr dirty="0" sz="900" spc="-30">
                <a:solidFill>
                  <a:srgbClr val="47556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75568"/>
                </a:solidFill>
                <a:latin typeface="Arial MT"/>
                <a:cs typeface="Arial MT"/>
              </a:rPr>
              <a:t>outcomes.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71487" y="2385372"/>
            <a:ext cx="8010525" cy="2257425"/>
            <a:chOff x="471487" y="2385372"/>
            <a:chExt cx="8010525" cy="2257425"/>
          </a:xfrm>
        </p:grpSpPr>
        <p:sp>
          <p:nvSpPr>
            <p:cNvPr id="33" name="object 33"/>
            <p:cNvSpPr/>
            <p:nvPr/>
          </p:nvSpPr>
          <p:spPr>
            <a:xfrm>
              <a:off x="476250" y="2390134"/>
              <a:ext cx="8001000" cy="2247900"/>
            </a:xfrm>
            <a:custGeom>
              <a:avLst/>
              <a:gdLst/>
              <a:ahLst/>
              <a:cxnLst/>
              <a:rect l="l" t="t" r="r" b="b"/>
              <a:pathLst>
                <a:path w="8001000" h="2247900">
                  <a:moveTo>
                    <a:pt x="7886716" y="2247899"/>
                  </a:moveTo>
                  <a:lnTo>
                    <a:pt x="114283" y="2247899"/>
                  </a:lnTo>
                  <a:lnTo>
                    <a:pt x="69799" y="2238919"/>
                  </a:lnTo>
                  <a:lnTo>
                    <a:pt x="33472" y="2214427"/>
                  </a:lnTo>
                  <a:lnTo>
                    <a:pt x="8980" y="2178101"/>
                  </a:lnTo>
                  <a:lnTo>
                    <a:pt x="0" y="2133616"/>
                  </a:lnTo>
                  <a:lnTo>
                    <a:pt x="0" y="114283"/>
                  </a:lnTo>
                  <a:lnTo>
                    <a:pt x="8980" y="69799"/>
                  </a:lnTo>
                  <a:lnTo>
                    <a:pt x="33472" y="33472"/>
                  </a:lnTo>
                  <a:lnTo>
                    <a:pt x="69799" y="8980"/>
                  </a:lnTo>
                  <a:lnTo>
                    <a:pt x="114283" y="0"/>
                  </a:lnTo>
                  <a:lnTo>
                    <a:pt x="7886716" y="0"/>
                  </a:lnTo>
                  <a:lnTo>
                    <a:pt x="7930451" y="8699"/>
                  </a:lnTo>
                  <a:lnTo>
                    <a:pt x="7967527" y="33472"/>
                  </a:lnTo>
                  <a:lnTo>
                    <a:pt x="7992300" y="70548"/>
                  </a:lnTo>
                  <a:lnTo>
                    <a:pt x="8000999" y="114283"/>
                  </a:lnTo>
                  <a:lnTo>
                    <a:pt x="8000999" y="2133616"/>
                  </a:lnTo>
                  <a:lnTo>
                    <a:pt x="7992019" y="2178101"/>
                  </a:lnTo>
                  <a:lnTo>
                    <a:pt x="7967527" y="2214427"/>
                  </a:lnTo>
                  <a:lnTo>
                    <a:pt x="7931200" y="2238919"/>
                  </a:lnTo>
                  <a:lnTo>
                    <a:pt x="7886716" y="22478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76250" y="2390134"/>
              <a:ext cx="8001000" cy="2247900"/>
            </a:xfrm>
            <a:custGeom>
              <a:avLst/>
              <a:gdLst/>
              <a:ahLst/>
              <a:cxnLst/>
              <a:rect l="l" t="t" r="r" b="b"/>
              <a:pathLst>
                <a:path w="8001000" h="2247900">
                  <a:moveTo>
                    <a:pt x="0" y="114283"/>
                  </a:moveTo>
                  <a:lnTo>
                    <a:pt x="8980" y="69799"/>
                  </a:lnTo>
                  <a:lnTo>
                    <a:pt x="33472" y="33472"/>
                  </a:lnTo>
                  <a:lnTo>
                    <a:pt x="69799" y="8980"/>
                  </a:lnTo>
                  <a:lnTo>
                    <a:pt x="114283" y="0"/>
                  </a:lnTo>
                  <a:lnTo>
                    <a:pt x="7886716" y="0"/>
                  </a:lnTo>
                  <a:lnTo>
                    <a:pt x="7930451" y="8699"/>
                  </a:lnTo>
                  <a:lnTo>
                    <a:pt x="7967527" y="33472"/>
                  </a:lnTo>
                  <a:lnTo>
                    <a:pt x="7992300" y="70548"/>
                  </a:lnTo>
                  <a:lnTo>
                    <a:pt x="8000999" y="114283"/>
                  </a:lnTo>
                  <a:lnTo>
                    <a:pt x="8000999" y="2133616"/>
                  </a:lnTo>
                  <a:lnTo>
                    <a:pt x="7992019" y="2178101"/>
                  </a:lnTo>
                  <a:lnTo>
                    <a:pt x="7967527" y="2214427"/>
                  </a:lnTo>
                  <a:lnTo>
                    <a:pt x="7931200" y="2238919"/>
                  </a:lnTo>
                  <a:lnTo>
                    <a:pt x="7886716" y="2247899"/>
                  </a:lnTo>
                  <a:lnTo>
                    <a:pt x="114283" y="2247899"/>
                  </a:lnTo>
                  <a:lnTo>
                    <a:pt x="69799" y="2238919"/>
                  </a:lnTo>
                  <a:lnTo>
                    <a:pt x="33472" y="2214427"/>
                  </a:lnTo>
                  <a:lnTo>
                    <a:pt x="8980" y="2178101"/>
                  </a:lnTo>
                  <a:lnTo>
                    <a:pt x="0" y="2133616"/>
                  </a:lnTo>
                  <a:lnTo>
                    <a:pt x="0" y="114283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54050" y="2564327"/>
            <a:ext cx="20802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9487"/>
                </a:solidFill>
                <a:latin typeface="Arial"/>
                <a:cs typeface="Arial"/>
              </a:rPr>
              <a:t>PROJECT</a:t>
            </a:r>
            <a:r>
              <a:rPr dirty="0" sz="1100" spc="-1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D9487"/>
                </a:solidFill>
                <a:latin typeface="Arial"/>
                <a:cs typeface="Arial"/>
              </a:rPr>
              <a:t>TIMELINE</a:t>
            </a:r>
            <a:r>
              <a:rPr dirty="0" sz="1100" spc="-1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D9487"/>
                </a:solidFill>
                <a:latin typeface="Arial"/>
                <a:cs typeface="Arial"/>
              </a:rPr>
              <a:t>(PHASES)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61987" y="2918772"/>
            <a:ext cx="7453630" cy="1553210"/>
            <a:chOff x="661987" y="2918772"/>
            <a:chExt cx="7453630" cy="1553210"/>
          </a:xfrm>
        </p:grpSpPr>
        <p:sp>
          <p:nvSpPr>
            <p:cNvPr id="37" name="object 37"/>
            <p:cNvSpPr/>
            <p:nvPr/>
          </p:nvSpPr>
          <p:spPr>
            <a:xfrm>
              <a:off x="857250" y="3152134"/>
              <a:ext cx="7239000" cy="0"/>
            </a:xfrm>
            <a:custGeom>
              <a:avLst/>
              <a:gdLst/>
              <a:ahLst/>
              <a:cxnLst/>
              <a:rect l="l" t="t" r="r" b="b"/>
              <a:pathLst>
                <a:path w="7239000" h="0">
                  <a:moveTo>
                    <a:pt x="0" y="0"/>
                  </a:moveTo>
                  <a:lnTo>
                    <a:pt x="7238999" y="0"/>
                  </a:lnTo>
                </a:path>
              </a:pathLst>
            </a:custGeom>
            <a:ln w="38099">
              <a:solidFill>
                <a:srgbClr val="CCFA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66750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1371602" y="1543199"/>
                  </a:move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7" y="1496661"/>
                  </a:lnTo>
                  <a:lnTo>
                    <a:pt x="0" y="1467001"/>
                  </a:lnTo>
                  <a:lnTo>
                    <a:pt x="0" y="76197"/>
                  </a:lnTo>
                  <a:lnTo>
                    <a:pt x="5987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2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66750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0" y="76197"/>
                  </a:moveTo>
                  <a:lnTo>
                    <a:pt x="5987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2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7" y="1496661"/>
                  </a:lnTo>
                  <a:lnTo>
                    <a:pt x="0" y="1467001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61999" y="3018784"/>
              <a:ext cx="714375" cy="228600"/>
            </a:xfrm>
            <a:custGeom>
              <a:avLst/>
              <a:gdLst/>
              <a:ahLst/>
              <a:cxnLst/>
              <a:rect l="l" t="t" r="r" b="b"/>
              <a:pathLst>
                <a:path w="714375" h="228600">
                  <a:moveTo>
                    <a:pt x="599999" y="228599"/>
                  </a:move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599999" y="0"/>
                  </a:lnTo>
                  <a:lnTo>
                    <a:pt x="643740" y="8700"/>
                  </a:lnTo>
                  <a:lnTo>
                    <a:pt x="680822" y="33477"/>
                  </a:lnTo>
                  <a:lnTo>
                    <a:pt x="705599" y="70559"/>
                  </a:lnTo>
                  <a:lnTo>
                    <a:pt x="714299" y="114299"/>
                  </a:lnTo>
                  <a:lnTo>
                    <a:pt x="705317" y="158790"/>
                  </a:lnTo>
                  <a:lnTo>
                    <a:pt x="680822" y="195122"/>
                  </a:lnTo>
                  <a:lnTo>
                    <a:pt x="644490" y="219617"/>
                  </a:lnTo>
                  <a:lnTo>
                    <a:pt x="599999" y="2285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02503" y="3051297"/>
            <a:ext cx="43370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8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9300" y="3325109"/>
            <a:ext cx="126428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Literature</a:t>
            </a:r>
            <a:r>
              <a:rPr dirty="0" sz="950" spc="-50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review,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dataset</a:t>
            </a:r>
            <a:r>
              <a:rPr dirty="0" sz="950" spc="-4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selection,</a:t>
            </a:r>
            <a:r>
              <a:rPr dirty="0" sz="950" spc="-40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learn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ML</a:t>
            </a:r>
            <a:r>
              <a:rPr dirty="0" sz="950" spc="-5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basics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107247" y="2918772"/>
            <a:ext cx="1602740" cy="1553210"/>
            <a:chOff x="2107247" y="2918772"/>
            <a:chExt cx="1602740" cy="1553210"/>
          </a:xfrm>
        </p:grpSpPr>
        <p:sp>
          <p:nvSpPr>
            <p:cNvPr id="44" name="object 44"/>
            <p:cNvSpPr/>
            <p:nvPr/>
          </p:nvSpPr>
          <p:spPr>
            <a:xfrm>
              <a:off x="2114550" y="3695059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399" y="0"/>
                  </a:lnTo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247900" y="366648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>
                  <a:moveTo>
                    <a:pt x="0" y="57299"/>
                  </a:moveTo>
                  <a:lnTo>
                    <a:pt x="0" y="0"/>
                  </a:lnTo>
                  <a:lnTo>
                    <a:pt x="57299" y="28649"/>
                  </a:lnTo>
                  <a:lnTo>
                    <a:pt x="0" y="572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257425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1371602" y="1543199"/>
                  </a:move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7" y="1496661"/>
                  </a:lnTo>
                  <a:lnTo>
                    <a:pt x="0" y="1467001"/>
                  </a:lnTo>
                  <a:lnTo>
                    <a:pt x="0" y="76197"/>
                  </a:lnTo>
                  <a:lnTo>
                    <a:pt x="5987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257425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0" y="76197"/>
                  </a:moveTo>
                  <a:lnTo>
                    <a:pt x="5987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7" y="1496661"/>
                  </a:lnTo>
                  <a:lnTo>
                    <a:pt x="0" y="1467001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352675" y="3018784"/>
              <a:ext cx="714375" cy="228600"/>
            </a:xfrm>
            <a:custGeom>
              <a:avLst/>
              <a:gdLst/>
              <a:ahLst/>
              <a:cxnLst/>
              <a:rect l="l" t="t" r="r" b="b"/>
              <a:pathLst>
                <a:path w="714375" h="228600">
                  <a:moveTo>
                    <a:pt x="599999" y="228599"/>
                  </a:move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599999" y="0"/>
                  </a:lnTo>
                  <a:lnTo>
                    <a:pt x="643740" y="8700"/>
                  </a:lnTo>
                  <a:lnTo>
                    <a:pt x="680822" y="33477"/>
                  </a:lnTo>
                  <a:lnTo>
                    <a:pt x="705599" y="70559"/>
                  </a:lnTo>
                  <a:lnTo>
                    <a:pt x="714299" y="114299"/>
                  </a:lnTo>
                  <a:lnTo>
                    <a:pt x="705317" y="158790"/>
                  </a:lnTo>
                  <a:lnTo>
                    <a:pt x="680822" y="195122"/>
                  </a:lnTo>
                  <a:lnTo>
                    <a:pt x="644490" y="219617"/>
                  </a:lnTo>
                  <a:lnTo>
                    <a:pt x="599999" y="2285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2493178" y="3051297"/>
            <a:ext cx="43370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8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39975" y="3325109"/>
            <a:ext cx="107124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Data</a:t>
            </a:r>
            <a:r>
              <a:rPr dirty="0" sz="950" spc="-20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preprocessing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and</a:t>
            </a:r>
            <a:r>
              <a:rPr dirty="0" sz="950" spc="-1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exploratory analysis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697922" y="2918772"/>
            <a:ext cx="1602740" cy="1553210"/>
            <a:chOff x="3697922" y="2918772"/>
            <a:chExt cx="1602740" cy="1553210"/>
          </a:xfrm>
        </p:grpSpPr>
        <p:sp>
          <p:nvSpPr>
            <p:cNvPr id="52" name="object 52"/>
            <p:cNvSpPr/>
            <p:nvPr/>
          </p:nvSpPr>
          <p:spPr>
            <a:xfrm>
              <a:off x="3705224" y="3695059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399" y="0"/>
                  </a:lnTo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838574" y="366648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>
                  <a:moveTo>
                    <a:pt x="0" y="57299"/>
                  </a:moveTo>
                  <a:lnTo>
                    <a:pt x="0" y="0"/>
                  </a:lnTo>
                  <a:lnTo>
                    <a:pt x="57299" y="28649"/>
                  </a:lnTo>
                  <a:lnTo>
                    <a:pt x="0" y="572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848099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1371602" y="1543199"/>
                  </a:move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8" y="1496661"/>
                  </a:lnTo>
                  <a:lnTo>
                    <a:pt x="0" y="1467001"/>
                  </a:lnTo>
                  <a:lnTo>
                    <a:pt x="0" y="76197"/>
                  </a:lnTo>
                  <a:lnTo>
                    <a:pt x="5988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848099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0" y="76197"/>
                  </a:moveTo>
                  <a:lnTo>
                    <a:pt x="5988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8" y="1496661"/>
                  </a:lnTo>
                  <a:lnTo>
                    <a:pt x="0" y="1467001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943349" y="3018784"/>
              <a:ext cx="714375" cy="228600"/>
            </a:xfrm>
            <a:custGeom>
              <a:avLst/>
              <a:gdLst/>
              <a:ahLst/>
              <a:cxnLst/>
              <a:rect l="l" t="t" r="r" b="b"/>
              <a:pathLst>
                <a:path w="714375" h="228600">
                  <a:moveTo>
                    <a:pt x="599999" y="228599"/>
                  </a:move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599999" y="0"/>
                  </a:lnTo>
                  <a:lnTo>
                    <a:pt x="643740" y="8700"/>
                  </a:lnTo>
                  <a:lnTo>
                    <a:pt x="680822" y="33477"/>
                  </a:lnTo>
                  <a:lnTo>
                    <a:pt x="705599" y="70559"/>
                  </a:lnTo>
                  <a:lnTo>
                    <a:pt x="714299" y="114299"/>
                  </a:lnTo>
                  <a:lnTo>
                    <a:pt x="705317" y="158790"/>
                  </a:lnTo>
                  <a:lnTo>
                    <a:pt x="680822" y="195122"/>
                  </a:lnTo>
                  <a:lnTo>
                    <a:pt x="644490" y="219617"/>
                  </a:lnTo>
                  <a:lnTo>
                    <a:pt x="599999" y="2285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4083853" y="3051297"/>
            <a:ext cx="43370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8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30650" y="3325109"/>
            <a:ext cx="107759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Model</a:t>
            </a:r>
            <a:r>
              <a:rPr dirty="0" sz="950" spc="-2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development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and</a:t>
            </a:r>
            <a:r>
              <a:rPr dirty="0" sz="950" spc="-1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training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288597" y="2918772"/>
            <a:ext cx="1602740" cy="1553210"/>
            <a:chOff x="5288597" y="2918772"/>
            <a:chExt cx="1602740" cy="1553210"/>
          </a:xfrm>
        </p:grpSpPr>
        <p:sp>
          <p:nvSpPr>
            <p:cNvPr id="60" name="object 60"/>
            <p:cNvSpPr/>
            <p:nvPr/>
          </p:nvSpPr>
          <p:spPr>
            <a:xfrm>
              <a:off x="5295899" y="3695059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399" y="0"/>
                  </a:lnTo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429249" y="366648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>
                  <a:moveTo>
                    <a:pt x="0" y="57299"/>
                  </a:moveTo>
                  <a:lnTo>
                    <a:pt x="0" y="0"/>
                  </a:lnTo>
                  <a:lnTo>
                    <a:pt x="57299" y="28649"/>
                  </a:lnTo>
                  <a:lnTo>
                    <a:pt x="0" y="572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438774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1371602" y="1543199"/>
                  </a:move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8" y="1496661"/>
                  </a:lnTo>
                  <a:lnTo>
                    <a:pt x="0" y="1467001"/>
                  </a:lnTo>
                  <a:lnTo>
                    <a:pt x="0" y="76197"/>
                  </a:lnTo>
                  <a:lnTo>
                    <a:pt x="5988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438774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0" y="76197"/>
                  </a:moveTo>
                  <a:lnTo>
                    <a:pt x="5988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8" y="1496661"/>
                  </a:lnTo>
                  <a:lnTo>
                    <a:pt x="0" y="1467001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534024" y="3018784"/>
              <a:ext cx="714375" cy="228600"/>
            </a:xfrm>
            <a:custGeom>
              <a:avLst/>
              <a:gdLst/>
              <a:ahLst/>
              <a:cxnLst/>
              <a:rect l="l" t="t" r="r" b="b"/>
              <a:pathLst>
                <a:path w="714375" h="228600">
                  <a:moveTo>
                    <a:pt x="599999" y="228599"/>
                  </a:move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599999" y="0"/>
                  </a:lnTo>
                  <a:lnTo>
                    <a:pt x="643740" y="8700"/>
                  </a:lnTo>
                  <a:lnTo>
                    <a:pt x="680822" y="33477"/>
                  </a:lnTo>
                  <a:lnTo>
                    <a:pt x="705599" y="70559"/>
                  </a:lnTo>
                  <a:lnTo>
                    <a:pt x="714299" y="114299"/>
                  </a:lnTo>
                  <a:lnTo>
                    <a:pt x="705317" y="158790"/>
                  </a:lnTo>
                  <a:lnTo>
                    <a:pt x="680822" y="195122"/>
                  </a:lnTo>
                  <a:lnTo>
                    <a:pt x="644490" y="219617"/>
                  </a:lnTo>
                  <a:lnTo>
                    <a:pt x="599999" y="2285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5674528" y="3051297"/>
            <a:ext cx="43370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8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8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521325" y="3325109"/>
            <a:ext cx="12585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 spc="-20">
                <a:solidFill>
                  <a:srgbClr val="334155"/>
                </a:solidFill>
                <a:latin typeface="Arial MT"/>
                <a:cs typeface="Arial MT"/>
              </a:rPr>
              <a:t>Testing,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evaluation</a:t>
            </a:r>
            <a:r>
              <a:rPr dirty="0" sz="950" spc="-1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334155"/>
                </a:solidFill>
                <a:latin typeface="Arial MT"/>
                <a:cs typeface="Arial MT"/>
              </a:rPr>
              <a:t>and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refinement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886575" y="2918772"/>
            <a:ext cx="1595755" cy="1553210"/>
            <a:chOff x="6886575" y="2918772"/>
            <a:chExt cx="1595755" cy="1553210"/>
          </a:xfrm>
        </p:grpSpPr>
        <p:sp>
          <p:nvSpPr>
            <p:cNvPr id="68" name="object 68"/>
            <p:cNvSpPr/>
            <p:nvPr/>
          </p:nvSpPr>
          <p:spPr>
            <a:xfrm>
              <a:off x="6886575" y="3695059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399" y="0"/>
                  </a:lnTo>
                </a:path>
              </a:pathLst>
            </a:custGeom>
            <a:ln w="142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019925" y="366648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57299"/>
                  </a:moveTo>
                  <a:lnTo>
                    <a:pt x="0" y="0"/>
                  </a:lnTo>
                  <a:lnTo>
                    <a:pt x="57299" y="28649"/>
                  </a:lnTo>
                  <a:lnTo>
                    <a:pt x="0" y="572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029450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1371602" y="1543199"/>
                  </a:move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8" y="1496661"/>
                  </a:lnTo>
                  <a:lnTo>
                    <a:pt x="0" y="1467001"/>
                  </a:lnTo>
                  <a:lnTo>
                    <a:pt x="0" y="76197"/>
                  </a:lnTo>
                  <a:lnTo>
                    <a:pt x="5988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029450" y="2923534"/>
              <a:ext cx="1447800" cy="1543685"/>
            </a:xfrm>
            <a:custGeom>
              <a:avLst/>
              <a:gdLst/>
              <a:ahLst/>
              <a:cxnLst/>
              <a:rect l="l" t="t" r="r" b="b"/>
              <a:pathLst>
                <a:path w="1447800" h="1543685">
                  <a:moveTo>
                    <a:pt x="0" y="76197"/>
                  </a:moveTo>
                  <a:lnTo>
                    <a:pt x="5988" y="46538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1371602" y="0"/>
                  </a:lnTo>
                  <a:lnTo>
                    <a:pt x="1413876" y="12802"/>
                  </a:lnTo>
                  <a:lnTo>
                    <a:pt x="1441999" y="47038"/>
                  </a:lnTo>
                  <a:lnTo>
                    <a:pt x="1447799" y="76197"/>
                  </a:lnTo>
                  <a:lnTo>
                    <a:pt x="1447799" y="1467001"/>
                  </a:lnTo>
                  <a:lnTo>
                    <a:pt x="1441811" y="1496661"/>
                  </a:lnTo>
                  <a:lnTo>
                    <a:pt x="1425482" y="1520882"/>
                  </a:lnTo>
                  <a:lnTo>
                    <a:pt x="1401261" y="1537212"/>
                  </a:lnTo>
                  <a:lnTo>
                    <a:pt x="1371602" y="1543199"/>
                  </a:lnTo>
                  <a:lnTo>
                    <a:pt x="76197" y="1543199"/>
                  </a:lnTo>
                  <a:lnTo>
                    <a:pt x="46538" y="1537212"/>
                  </a:lnTo>
                  <a:lnTo>
                    <a:pt x="22317" y="1520882"/>
                  </a:lnTo>
                  <a:lnTo>
                    <a:pt x="5988" y="1496661"/>
                  </a:lnTo>
                  <a:lnTo>
                    <a:pt x="0" y="1467001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124699" y="3018784"/>
              <a:ext cx="714375" cy="228600"/>
            </a:xfrm>
            <a:custGeom>
              <a:avLst/>
              <a:gdLst/>
              <a:ahLst/>
              <a:cxnLst/>
              <a:rect l="l" t="t" r="r" b="b"/>
              <a:pathLst>
                <a:path w="714375" h="228600">
                  <a:moveTo>
                    <a:pt x="599999" y="228599"/>
                  </a:move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599999" y="0"/>
                  </a:lnTo>
                  <a:lnTo>
                    <a:pt x="643740" y="8700"/>
                  </a:lnTo>
                  <a:lnTo>
                    <a:pt x="680822" y="33477"/>
                  </a:lnTo>
                  <a:lnTo>
                    <a:pt x="705599" y="70559"/>
                  </a:lnTo>
                  <a:lnTo>
                    <a:pt x="714299" y="114299"/>
                  </a:lnTo>
                  <a:lnTo>
                    <a:pt x="705317" y="158790"/>
                  </a:lnTo>
                  <a:lnTo>
                    <a:pt x="680822" y="195122"/>
                  </a:lnTo>
                  <a:lnTo>
                    <a:pt x="644490" y="219617"/>
                  </a:lnTo>
                  <a:lnTo>
                    <a:pt x="599999" y="2285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7265203" y="3051297"/>
            <a:ext cx="43370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8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112000" y="3325109"/>
            <a:ext cx="105156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Simple</a:t>
            </a:r>
            <a:r>
              <a:rPr dirty="0" sz="950" spc="-30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334155"/>
                </a:solidFill>
                <a:latin typeface="Arial MT"/>
                <a:cs typeface="Arial MT"/>
              </a:rPr>
              <a:t>UI,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documentation</a:t>
            </a:r>
            <a:r>
              <a:rPr dirty="0" sz="950" spc="-6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334155"/>
                </a:solidFill>
                <a:latin typeface="Arial MT"/>
                <a:cs typeface="Arial MT"/>
              </a:rPr>
              <a:t>and </a:t>
            </a:r>
            <a:r>
              <a:rPr dirty="0" sz="950">
                <a:solidFill>
                  <a:srgbClr val="334155"/>
                </a:solidFill>
                <a:latin typeface="Arial MT"/>
                <a:cs typeface="Arial MT"/>
              </a:rPr>
              <a:t>final</a:t>
            </a:r>
            <a:r>
              <a:rPr dirty="0" sz="950" spc="-25">
                <a:solidFill>
                  <a:srgbClr val="334155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34155"/>
                </a:solidFill>
                <a:latin typeface="Arial MT"/>
                <a:cs typeface="Arial MT"/>
              </a:rPr>
              <a:t>presentation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787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dirty="0"/>
              <a:t>Usability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25"/>
              <a:t> </a:t>
            </a:r>
            <a:r>
              <a:rPr dirty="0" spc="-10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577" y="1773138"/>
            <a:ext cx="2173557" cy="21735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/>
              <a:t>How</a:t>
            </a:r>
            <a:r>
              <a:rPr dirty="0" spc="-35"/>
              <a:t> </a:t>
            </a:r>
            <a:r>
              <a:rPr dirty="0"/>
              <a:t>it</a:t>
            </a:r>
            <a:r>
              <a:rPr dirty="0" spc="-30"/>
              <a:t> </a:t>
            </a:r>
            <a:r>
              <a:rPr dirty="0"/>
              <a:t>works</a:t>
            </a:r>
            <a:r>
              <a:rPr dirty="0" spc="-30"/>
              <a:t> </a:t>
            </a:r>
            <a:r>
              <a:rPr dirty="0" spc="-10"/>
              <a:t>(simpliﬁed)</a:t>
            </a:r>
          </a:p>
          <a:p>
            <a:pPr marL="12700" marR="5080">
              <a:lnSpc>
                <a:spcPct val="133000"/>
              </a:lnSpc>
              <a:spcBef>
                <a:spcPts val="140"/>
              </a:spcBef>
            </a:pPr>
            <a:r>
              <a:rPr dirty="0" b="0">
                <a:latin typeface="Roboto"/>
                <a:cs typeface="Roboto"/>
              </a:rPr>
              <a:t>Health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Parameters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(HighBP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HighCholestrol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Cholestrol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check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BMI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Smoker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spc="-50" b="0">
                <a:latin typeface="Roboto"/>
                <a:cs typeface="Roboto"/>
              </a:rPr>
              <a:t>, </a:t>
            </a:r>
            <a:r>
              <a:rPr dirty="0" spc="-10" b="0">
                <a:latin typeface="Roboto"/>
                <a:cs typeface="Roboto"/>
              </a:rPr>
              <a:t>Stroke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HeartDiseaseorAttack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spc="-20" b="0">
                <a:latin typeface="Roboto"/>
                <a:cs typeface="Roboto"/>
              </a:rPr>
              <a:t>PhysicalActivity</a:t>
            </a:r>
            <a:r>
              <a:rPr dirty="0" spc="-1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Fruits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Veggies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1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Heavy</a:t>
            </a:r>
            <a:r>
              <a:rPr dirty="0" spc="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Alcohol Consumption, </a:t>
            </a:r>
            <a:r>
              <a:rPr dirty="0" spc="-20" b="0">
                <a:latin typeface="Roboto"/>
                <a:cs typeface="Roboto"/>
              </a:rPr>
              <a:t>AnyHealthcare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No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Doctor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because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of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Cost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General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health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spc="-50" b="0">
                <a:latin typeface="Roboto"/>
                <a:cs typeface="Roboto"/>
              </a:rPr>
              <a:t>, </a:t>
            </a:r>
            <a:r>
              <a:rPr dirty="0" b="0">
                <a:latin typeface="Roboto"/>
                <a:cs typeface="Roboto"/>
              </a:rPr>
              <a:t>Mental</a:t>
            </a:r>
            <a:r>
              <a:rPr dirty="0" spc="-3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health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Physical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Health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DiﬃectiveWalk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Sex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Age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3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Education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,</a:t>
            </a:r>
            <a:r>
              <a:rPr dirty="0" spc="-2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Income)</a:t>
            </a:r>
          </a:p>
          <a:p>
            <a:pPr marL="12700" marR="185420">
              <a:lnSpc>
                <a:spcPct val="133000"/>
              </a:lnSpc>
            </a:pPr>
            <a:r>
              <a:rPr dirty="0" b="0">
                <a:latin typeface="Arial MT"/>
                <a:cs typeface="Arial MT"/>
              </a:rPr>
              <a:t>→</a:t>
            </a:r>
            <a:r>
              <a:rPr dirty="0" spc="-25" b="0">
                <a:latin typeface="Arial MT"/>
                <a:cs typeface="Arial MT"/>
              </a:rPr>
              <a:t> </a:t>
            </a:r>
            <a:r>
              <a:rPr dirty="0" b="0">
                <a:latin typeface="Roboto"/>
                <a:cs typeface="Roboto"/>
              </a:rPr>
              <a:t>Processed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by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trained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ML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model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Arial MT"/>
                <a:cs typeface="Arial MT"/>
              </a:rPr>
              <a:t>→</a:t>
            </a:r>
            <a:r>
              <a:rPr dirty="0" spc="-25" b="0">
                <a:latin typeface="Arial MT"/>
                <a:cs typeface="Arial MT"/>
              </a:rPr>
              <a:t> </a:t>
            </a:r>
            <a:r>
              <a:rPr dirty="0" spc="-20" b="0">
                <a:latin typeface="Roboto"/>
                <a:cs typeface="Roboto"/>
              </a:rPr>
              <a:t>Preliminary </a:t>
            </a:r>
            <a:r>
              <a:rPr dirty="0" spc="-35" b="0">
                <a:latin typeface="Roboto"/>
                <a:cs typeface="Roboto"/>
              </a:rPr>
              <a:t>disease-</a:t>
            </a:r>
            <a:r>
              <a:rPr dirty="0" spc="-10" b="0">
                <a:latin typeface="Roboto"/>
                <a:cs typeface="Roboto"/>
              </a:rPr>
              <a:t>risk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prediction</a:t>
            </a:r>
            <a:r>
              <a:rPr dirty="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(risk </a:t>
            </a:r>
            <a:r>
              <a:rPr dirty="0" b="0">
                <a:latin typeface="Roboto"/>
                <a:cs typeface="Roboto"/>
              </a:rPr>
              <a:t>level</a:t>
            </a:r>
            <a:r>
              <a:rPr dirty="0" spc="-1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/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spc="-20" b="0">
                <a:latin typeface="Roboto"/>
                <a:cs typeface="Roboto"/>
              </a:rPr>
              <a:t>probability</a:t>
            </a:r>
            <a:r>
              <a:rPr dirty="0" spc="-10" b="0">
                <a:latin typeface="Roboto"/>
                <a:cs typeface="Roboto"/>
              </a:rPr>
              <a:t> estimate)</a:t>
            </a:r>
          </a:p>
          <a:p>
            <a:pPr>
              <a:lnSpc>
                <a:spcPct val="100000"/>
              </a:lnSpc>
              <a:spcBef>
                <a:spcPts val="103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Primary</a:t>
            </a:r>
            <a:r>
              <a:rPr dirty="0" spc="-5"/>
              <a:t> </a:t>
            </a:r>
            <a:r>
              <a:rPr dirty="0" spc="-10"/>
              <a:t>Applications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</a:p>
          <a:p>
            <a:pPr marL="244475" indent="-162560">
              <a:lnSpc>
                <a:spcPct val="100000"/>
              </a:lnSpc>
              <a:spcBef>
                <a:spcPts val="5"/>
              </a:spcBef>
              <a:buSzPct val="91304"/>
              <a:buChar char="•"/>
              <a:tabLst>
                <a:tab pos="244475" algn="l"/>
              </a:tabLst>
            </a:pPr>
            <a:r>
              <a:rPr dirty="0" spc="-20" b="0">
                <a:latin typeface="Roboto"/>
                <a:cs typeface="Roboto"/>
              </a:rPr>
              <a:t>Preliminary</a:t>
            </a:r>
            <a:r>
              <a:rPr dirty="0" spc="5" b="0">
                <a:latin typeface="Roboto"/>
                <a:cs typeface="Roboto"/>
              </a:rPr>
              <a:t> </a:t>
            </a:r>
            <a:r>
              <a:rPr dirty="0" spc="-35" b="0">
                <a:latin typeface="Roboto"/>
                <a:cs typeface="Roboto"/>
              </a:rPr>
              <a:t>disease-</a:t>
            </a:r>
            <a:r>
              <a:rPr dirty="0" spc="-10" b="0">
                <a:latin typeface="Roboto"/>
                <a:cs typeface="Roboto"/>
              </a:rPr>
              <a:t>risk</a:t>
            </a:r>
            <a:r>
              <a:rPr dirty="0" spc="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assessment</a:t>
            </a:r>
            <a:r>
              <a:rPr dirty="0" spc="1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for</a:t>
            </a:r>
            <a:r>
              <a:rPr dirty="0" spc="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awareness</a:t>
            </a:r>
          </a:p>
          <a:p>
            <a:pPr marL="244475" indent="-162560">
              <a:lnSpc>
                <a:spcPct val="100000"/>
              </a:lnSpc>
              <a:spcBef>
                <a:spcPts val="455"/>
              </a:spcBef>
              <a:buSzPct val="91304"/>
              <a:buChar char="•"/>
              <a:tabLst>
                <a:tab pos="244475" algn="l"/>
              </a:tabLst>
            </a:pPr>
            <a:r>
              <a:rPr dirty="0" spc="-10" b="0">
                <a:latin typeface="Roboto"/>
                <a:cs typeface="Roboto"/>
              </a:rPr>
              <a:t>Educational </a:t>
            </a:r>
            <a:r>
              <a:rPr dirty="0" spc="-20" b="0">
                <a:latin typeface="Roboto"/>
                <a:cs typeface="Roboto"/>
              </a:rPr>
              <a:t>demonstrations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of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ML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in</a:t>
            </a:r>
            <a:r>
              <a:rPr dirty="0" spc="-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healthcare</a:t>
            </a:r>
          </a:p>
          <a:p>
            <a:pPr marL="244475" indent="-162560">
              <a:lnSpc>
                <a:spcPct val="100000"/>
              </a:lnSpc>
              <a:spcBef>
                <a:spcPts val="455"/>
              </a:spcBef>
              <a:buSzPct val="91304"/>
              <a:buChar char="•"/>
              <a:tabLst>
                <a:tab pos="244475" algn="l"/>
              </a:tabLst>
            </a:pPr>
            <a:r>
              <a:rPr dirty="0" spc="-10" b="0">
                <a:latin typeface="Roboto"/>
                <a:cs typeface="Roboto"/>
              </a:rPr>
              <a:t>Dataset</a:t>
            </a:r>
            <a:r>
              <a:rPr dirty="0" spc="-30" b="0">
                <a:latin typeface="Roboto"/>
                <a:cs typeface="Roboto"/>
              </a:rPr>
              <a:t> </a:t>
            </a:r>
            <a:r>
              <a:rPr dirty="0" spc="-20" b="0">
                <a:latin typeface="Roboto"/>
                <a:cs typeface="Roboto"/>
              </a:rPr>
              <a:t>analysis</a:t>
            </a:r>
            <a:r>
              <a:rPr dirty="0" spc="-3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and</a:t>
            </a:r>
            <a:r>
              <a:rPr dirty="0" spc="-3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feature</a:t>
            </a:r>
            <a:r>
              <a:rPr dirty="0" spc="-3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exploration</a:t>
            </a:r>
          </a:p>
          <a:p>
            <a:pPr marL="244475" indent="-162560">
              <a:lnSpc>
                <a:spcPct val="100000"/>
              </a:lnSpc>
              <a:spcBef>
                <a:spcPts val="455"/>
              </a:spcBef>
              <a:buSzPct val="91304"/>
              <a:buChar char="•"/>
              <a:tabLst>
                <a:tab pos="244475" algn="l"/>
              </a:tabLst>
            </a:pPr>
            <a:r>
              <a:rPr dirty="0" spc="-10" b="0">
                <a:latin typeface="Roboto"/>
                <a:cs typeface="Roboto"/>
              </a:rPr>
              <a:t>Support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b="0">
                <a:latin typeface="Roboto"/>
                <a:cs typeface="Roboto"/>
              </a:rPr>
              <a:t>for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early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screening</a:t>
            </a:r>
            <a:r>
              <a:rPr dirty="0" spc="-15" b="0">
                <a:latin typeface="Roboto"/>
                <a:cs typeface="Roboto"/>
              </a:rPr>
              <a:t> </a:t>
            </a:r>
            <a:r>
              <a:rPr dirty="0" spc="-10" b="0">
                <a:latin typeface="Roboto"/>
                <a:cs typeface="Roboto"/>
              </a:rPr>
              <a:t>research</a:t>
            </a:r>
            <a:r>
              <a:rPr dirty="0" spc="-20" b="0">
                <a:latin typeface="Roboto"/>
                <a:cs typeface="Roboto"/>
              </a:rPr>
              <a:t> </a:t>
            </a:r>
            <a:r>
              <a:rPr dirty="0" spc="-30" b="0">
                <a:latin typeface="Roboto"/>
                <a:cs typeface="Roboto"/>
              </a:rPr>
              <a:t>(non-</a:t>
            </a:r>
            <a:r>
              <a:rPr dirty="0" spc="-10" b="0">
                <a:latin typeface="Roboto"/>
                <a:cs typeface="Roboto"/>
              </a:rPr>
              <a:t>diagnostic)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250" y="342900"/>
              <a:ext cx="1333500" cy="228600"/>
            </a:xfrm>
            <a:custGeom>
              <a:avLst/>
              <a:gdLst/>
              <a:ahLst/>
              <a:cxnLst/>
              <a:rect l="l" t="t" r="r" b="b"/>
              <a:pathLst>
                <a:path w="1333500" h="228600">
                  <a:moveTo>
                    <a:pt x="1219199" y="228599"/>
                  </a:moveTo>
                  <a:lnTo>
                    <a:pt x="114299" y="228599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1219199" y="0"/>
                  </a:lnTo>
                  <a:lnTo>
                    <a:pt x="1262940" y="8700"/>
                  </a:lnTo>
                  <a:lnTo>
                    <a:pt x="1300022" y="33477"/>
                  </a:lnTo>
                  <a:lnTo>
                    <a:pt x="1324799" y="70559"/>
                  </a:lnTo>
                  <a:lnTo>
                    <a:pt x="1333499" y="114299"/>
                  </a:lnTo>
                  <a:lnTo>
                    <a:pt x="1324517" y="158790"/>
                  </a:lnTo>
                  <a:lnTo>
                    <a:pt x="1300022" y="195122"/>
                  </a:lnTo>
                  <a:lnTo>
                    <a:pt x="1263690" y="219617"/>
                  </a:lnTo>
                  <a:lnTo>
                    <a:pt x="1219199" y="2285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03679" y="375411"/>
            <a:ext cx="10788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D9487"/>
                </a:solidFill>
                <a:latin typeface="Arial"/>
                <a:cs typeface="Arial"/>
              </a:rPr>
              <a:t>SYSTEM</a:t>
            </a:r>
            <a:r>
              <a:rPr dirty="0" sz="850" spc="-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D9487"/>
                </a:solidFill>
                <a:latin typeface="Arial"/>
                <a:cs typeface="Arial"/>
              </a:rPr>
              <a:t>OVERVIEW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63550" y="472790"/>
            <a:ext cx="7378065" cy="716280"/>
          </a:xfrm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pc="-10" b="1">
                <a:solidFill>
                  <a:srgbClr val="0F172A"/>
                </a:solidFill>
                <a:latin typeface="Arial"/>
                <a:cs typeface="Arial"/>
              </a:rPr>
              <a:t>GlucoScan:</a:t>
            </a:r>
            <a:r>
              <a:rPr dirty="0" spc="-14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pc="-20" b="1">
                <a:solidFill>
                  <a:srgbClr val="0F172A"/>
                </a:solidFill>
                <a:latin typeface="Arial"/>
                <a:cs typeface="Arial"/>
              </a:rPr>
              <a:t>AI-</a:t>
            </a:r>
            <a:r>
              <a:rPr dirty="0" b="1">
                <a:solidFill>
                  <a:srgbClr val="0F172A"/>
                </a:solidFill>
                <a:latin typeface="Arial"/>
                <a:cs typeface="Arial"/>
              </a:rPr>
              <a:t>Driven</a:t>
            </a:r>
            <a:r>
              <a:rPr dirty="0" spc="-12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F172A"/>
                </a:solidFill>
                <a:latin typeface="Arial"/>
                <a:cs typeface="Arial"/>
              </a:rPr>
              <a:t>Diabetes</a:t>
            </a:r>
            <a:r>
              <a:rPr dirty="0" spc="-7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D9487"/>
                </a:solidFill>
                <a:latin typeface="Arial"/>
                <a:cs typeface="Arial"/>
              </a:rPr>
              <a:t>Risk</a:t>
            </a:r>
            <a:r>
              <a:rPr dirty="0" spc="-15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D9487"/>
                </a:solidFill>
                <a:latin typeface="Arial"/>
                <a:cs typeface="Arial"/>
              </a:rPr>
              <a:t>Assessment</a:t>
            </a:r>
            <a:r>
              <a:rPr dirty="0" spc="-90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D9487"/>
                </a:solidFill>
                <a:latin typeface="Arial"/>
                <a:cs typeface="Arial"/>
              </a:rPr>
              <a:t>Portal</a:t>
            </a: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050">
                <a:solidFill>
                  <a:srgbClr val="64738B"/>
                </a:solidFill>
              </a:rPr>
              <a:t>Key</a:t>
            </a:r>
            <a:r>
              <a:rPr dirty="0" sz="1050" spc="-35">
                <a:solidFill>
                  <a:srgbClr val="64738B"/>
                </a:solidFill>
              </a:rPr>
              <a:t> </a:t>
            </a:r>
            <a:r>
              <a:rPr dirty="0" sz="1050" spc="-10">
                <a:solidFill>
                  <a:srgbClr val="64738B"/>
                </a:solidFill>
              </a:rPr>
              <a:t>performance</a:t>
            </a:r>
            <a:r>
              <a:rPr dirty="0" sz="1050" spc="-30">
                <a:solidFill>
                  <a:srgbClr val="64738B"/>
                </a:solidFill>
              </a:rPr>
              <a:t> </a:t>
            </a:r>
            <a:r>
              <a:rPr dirty="0" sz="1050">
                <a:solidFill>
                  <a:srgbClr val="64738B"/>
                </a:solidFill>
              </a:rPr>
              <a:t>metrics</a:t>
            </a:r>
            <a:r>
              <a:rPr dirty="0" sz="1050" spc="-30">
                <a:solidFill>
                  <a:srgbClr val="64738B"/>
                </a:solidFill>
              </a:rPr>
              <a:t> </a:t>
            </a:r>
            <a:r>
              <a:rPr dirty="0" sz="1050" spc="-10">
                <a:solidFill>
                  <a:srgbClr val="64738B"/>
                </a:solidFill>
              </a:rPr>
              <a:t>evaluating</a:t>
            </a:r>
            <a:r>
              <a:rPr dirty="0" sz="1050" spc="-30">
                <a:solidFill>
                  <a:srgbClr val="64738B"/>
                </a:solidFill>
              </a:rPr>
              <a:t> </a:t>
            </a:r>
            <a:r>
              <a:rPr dirty="0" sz="1050">
                <a:solidFill>
                  <a:srgbClr val="64738B"/>
                </a:solidFill>
              </a:rPr>
              <a:t>clinical</a:t>
            </a:r>
            <a:r>
              <a:rPr dirty="0" sz="1050" spc="-35">
                <a:solidFill>
                  <a:srgbClr val="64738B"/>
                </a:solidFill>
              </a:rPr>
              <a:t> </a:t>
            </a:r>
            <a:r>
              <a:rPr dirty="0" sz="1050" spc="-10">
                <a:solidFill>
                  <a:srgbClr val="64738B"/>
                </a:solidFill>
              </a:rPr>
              <a:t>efficacy,</a:t>
            </a:r>
            <a:r>
              <a:rPr dirty="0" sz="1050" spc="-30">
                <a:solidFill>
                  <a:srgbClr val="64738B"/>
                </a:solidFill>
              </a:rPr>
              <a:t> </a:t>
            </a:r>
            <a:r>
              <a:rPr dirty="0" sz="1050" spc="-10">
                <a:solidFill>
                  <a:srgbClr val="64738B"/>
                </a:solidFill>
              </a:rPr>
              <a:t>predictive</a:t>
            </a:r>
            <a:r>
              <a:rPr dirty="0" sz="1050" spc="-30">
                <a:solidFill>
                  <a:srgbClr val="64738B"/>
                </a:solidFill>
              </a:rPr>
              <a:t> </a:t>
            </a:r>
            <a:r>
              <a:rPr dirty="0" sz="1050" spc="-10">
                <a:solidFill>
                  <a:srgbClr val="64738B"/>
                </a:solidFill>
              </a:rPr>
              <a:t>accuracy,</a:t>
            </a:r>
            <a:r>
              <a:rPr dirty="0" sz="1050" spc="-30">
                <a:solidFill>
                  <a:srgbClr val="64738B"/>
                </a:solidFill>
              </a:rPr>
              <a:t> </a:t>
            </a:r>
            <a:r>
              <a:rPr dirty="0" sz="1050">
                <a:solidFill>
                  <a:srgbClr val="64738B"/>
                </a:solidFill>
              </a:rPr>
              <a:t>and</a:t>
            </a:r>
            <a:r>
              <a:rPr dirty="0" sz="1050" spc="-35">
                <a:solidFill>
                  <a:srgbClr val="64738B"/>
                </a:solidFill>
              </a:rPr>
              <a:t> </a:t>
            </a:r>
            <a:r>
              <a:rPr dirty="0" sz="1050">
                <a:solidFill>
                  <a:srgbClr val="64738B"/>
                </a:solidFill>
              </a:rPr>
              <a:t>dataset</a:t>
            </a:r>
            <a:r>
              <a:rPr dirty="0" sz="1050" spc="-30">
                <a:solidFill>
                  <a:srgbClr val="64738B"/>
                </a:solidFill>
              </a:rPr>
              <a:t> </a:t>
            </a:r>
            <a:r>
              <a:rPr dirty="0" sz="1050" spc="-10">
                <a:solidFill>
                  <a:srgbClr val="64738B"/>
                </a:solidFill>
              </a:rPr>
              <a:t>foundation.</a:t>
            </a:r>
            <a:endParaRPr sz="1050"/>
          </a:p>
        </p:txBody>
      </p:sp>
      <p:grpSp>
        <p:nvGrpSpPr>
          <p:cNvPr id="7" name="object 7"/>
          <p:cNvGrpSpPr/>
          <p:nvPr/>
        </p:nvGrpSpPr>
        <p:grpSpPr>
          <a:xfrm>
            <a:off x="468947" y="1469072"/>
            <a:ext cx="2567305" cy="2443480"/>
            <a:chOff x="468947" y="1469072"/>
            <a:chExt cx="2567305" cy="2443480"/>
          </a:xfrm>
        </p:grpSpPr>
        <p:sp>
          <p:nvSpPr>
            <p:cNvPr id="8" name="object 8"/>
            <p:cNvSpPr/>
            <p:nvPr/>
          </p:nvSpPr>
          <p:spPr>
            <a:xfrm>
              <a:off x="476249" y="1476375"/>
              <a:ext cx="2552700" cy="2428875"/>
            </a:xfrm>
            <a:custGeom>
              <a:avLst/>
              <a:gdLst/>
              <a:ahLst/>
              <a:cxnLst/>
              <a:rect l="l" t="t" r="r" b="b"/>
              <a:pathLst>
                <a:path w="2552700" h="2428875">
                  <a:moveTo>
                    <a:pt x="2400316" y="2428799"/>
                  </a:moveTo>
                  <a:lnTo>
                    <a:pt x="152382" y="2428799"/>
                  </a:lnTo>
                  <a:lnTo>
                    <a:pt x="104218" y="2421031"/>
                  </a:lnTo>
                  <a:lnTo>
                    <a:pt x="62387" y="2399398"/>
                  </a:lnTo>
                  <a:lnTo>
                    <a:pt x="29401" y="2366412"/>
                  </a:lnTo>
                  <a:lnTo>
                    <a:pt x="7768" y="2324581"/>
                  </a:lnTo>
                  <a:lnTo>
                    <a:pt x="0" y="2276417"/>
                  </a:lnTo>
                  <a:lnTo>
                    <a:pt x="0" y="152382"/>
                  </a:lnTo>
                  <a:lnTo>
                    <a:pt x="7768" y="104218"/>
                  </a:lnTo>
                  <a:lnTo>
                    <a:pt x="29401" y="62387"/>
                  </a:lnTo>
                  <a:lnTo>
                    <a:pt x="62387" y="29401"/>
                  </a:lnTo>
                  <a:lnTo>
                    <a:pt x="104218" y="7768"/>
                  </a:lnTo>
                  <a:lnTo>
                    <a:pt x="152382" y="0"/>
                  </a:lnTo>
                  <a:lnTo>
                    <a:pt x="2400316" y="0"/>
                  </a:lnTo>
                  <a:lnTo>
                    <a:pt x="2458631" y="11599"/>
                  </a:lnTo>
                  <a:lnTo>
                    <a:pt x="2508068" y="44631"/>
                  </a:lnTo>
                  <a:lnTo>
                    <a:pt x="2541100" y="94068"/>
                  </a:lnTo>
                  <a:lnTo>
                    <a:pt x="2552699" y="152382"/>
                  </a:lnTo>
                  <a:lnTo>
                    <a:pt x="2552699" y="2276417"/>
                  </a:lnTo>
                  <a:lnTo>
                    <a:pt x="2544931" y="2324581"/>
                  </a:lnTo>
                  <a:lnTo>
                    <a:pt x="2523298" y="2366412"/>
                  </a:lnTo>
                  <a:lnTo>
                    <a:pt x="2490312" y="2399398"/>
                  </a:lnTo>
                  <a:lnTo>
                    <a:pt x="2448481" y="2421031"/>
                  </a:lnTo>
                  <a:lnTo>
                    <a:pt x="2400316" y="242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6249" y="1476375"/>
              <a:ext cx="2552700" cy="2428875"/>
            </a:xfrm>
            <a:custGeom>
              <a:avLst/>
              <a:gdLst/>
              <a:ahLst/>
              <a:cxnLst/>
              <a:rect l="l" t="t" r="r" b="b"/>
              <a:pathLst>
                <a:path w="2552700" h="2428875">
                  <a:moveTo>
                    <a:pt x="0" y="152382"/>
                  </a:moveTo>
                  <a:lnTo>
                    <a:pt x="7768" y="104218"/>
                  </a:lnTo>
                  <a:lnTo>
                    <a:pt x="29401" y="62387"/>
                  </a:lnTo>
                  <a:lnTo>
                    <a:pt x="62387" y="29401"/>
                  </a:lnTo>
                  <a:lnTo>
                    <a:pt x="104218" y="7768"/>
                  </a:lnTo>
                  <a:lnTo>
                    <a:pt x="152382" y="0"/>
                  </a:lnTo>
                  <a:lnTo>
                    <a:pt x="2400316" y="0"/>
                  </a:lnTo>
                  <a:lnTo>
                    <a:pt x="2458631" y="11599"/>
                  </a:lnTo>
                  <a:lnTo>
                    <a:pt x="2508068" y="44631"/>
                  </a:lnTo>
                  <a:lnTo>
                    <a:pt x="2541100" y="94068"/>
                  </a:lnTo>
                  <a:lnTo>
                    <a:pt x="2552699" y="152382"/>
                  </a:lnTo>
                  <a:lnTo>
                    <a:pt x="2552699" y="2276417"/>
                  </a:lnTo>
                  <a:lnTo>
                    <a:pt x="2544931" y="2324581"/>
                  </a:lnTo>
                  <a:lnTo>
                    <a:pt x="2523298" y="2366412"/>
                  </a:lnTo>
                  <a:lnTo>
                    <a:pt x="2490312" y="2399398"/>
                  </a:lnTo>
                  <a:lnTo>
                    <a:pt x="2448481" y="2421031"/>
                  </a:lnTo>
                  <a:lnTo>
                    <a:pt x="2400316" y="2428799"/>
                  </a:lnTo>
                  <a:lnTo>
                    <a:pt x="152382" y="2428799"/>
                  </a:lnTo>
                  <a:lnTo>
                    <a:pt x="104218" y="2421031"/>
                  </a:lnTo>
                  <a:lnTo>
                    <a:pt x="62387" y="2399398"/>
                  </a:lnTo>
                  <a:lnTo>
                    <a:pt x="29401" y="2366412"/>
                  </a:lnTo>
                  <a:lnTo>
                    <a:pt x="7768" y="2324581"/>
                  </a:lnTo>
                  <a:lnTo>
                    <a:pt x="0" y="2276417"/>
                  </a:lnTo>
                  <a:lnTo>
                    <a:pt x="0" y="152382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6249" y="1476375"/>
              <a:ext cx="2552700" cy="57785"/>
            </a:xfrm>
            <a:custGeom>
              <a:avLst/>
              <a:gdLst/>
              <a:ahLst/>
              <a:cxnLst/>
              <a:rect l="l" t="t" r="r" b="b"/>
              <a:pathLst>
                <a:path w="2552700" h="57784">
                  <a:moveTo>
                    <a:pt x="25240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531648" y="0"/>
                  </a:lnTo>
                  <a:lnTo>
                    <a:pt x="2538935" y="3018"/>
                  </a:lnTo>
                  <a:lnTo>
                    <a:pt x="2549681" y="13764"/>
                  </a:lnTo>
                  <a:lnTo>
                    <a:pt x="2552699" y="21051"/>
                  </a:lnTo>
                  <a:lnTo>
                    <a:pt x="2552699" y="28649"/>
                  </a:lnTo>
                  <a:lnTo>
                    <a:pt x="2550448" y="39801"/>
                  </a:lnTo>
                  <a:lnTo>
                    <a:pt x="2544308" y="48908"/>
                  </a:lnTo>
                  <a:lnTo>
                    <a:pt x="2535201" y="55048"/>
                  </a:lnTo>
                  <a:lnTo>
                    <a:pt x="2524049" y="572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5800" y="168592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49" y="419099"/>
                  </a:moveTo>
                  <a:lnTo>
                    <a:pt x="161502" y="413565"/>
                  </a:lnTo>
                  <a:lnTo>
                    <a:pt x="117395" y="397801"/>
                  </a:lnTo>
                  <a:lnTo>
                    <a:pt x="78487" y="373064"/>
                  </a:lnTo>
                  <a:lnTo>
                    <a:pt x="46035" y="340612"/>
                  </a:lnTo>
                  <a:lnTo>
                    <a:pt x="21298" y="301704"/>
                  </a:lnTo>
                  <a:lnTo>
                    <a:pt x="5534" y="257597"/>
                  </a:lnTo>
                  <a:lnTo>
                    <a:pt x="0" y="209549"/>
                  </a:lnTo>
                  <a:lnTo>
                    <a:pt x="5534" y="161502"/>
                  </a:lnTo>
                  <a:lnTo>
                    <a:pt x="21298" y="117395"/>
                  </a:lnTo>
                  <a:lnTo>
                    <a:pt x="46035" y="78487"/>
                  </a:lnTo>
                  <a:lnTo>
                    <a:pt x="78487" y="46035"/>
                  </a:lnTo>
                  <a:lnTo>
                    <a:pt x="117395" y="21298"/>
                  </a:lnTo>
                  <a:lnTo>
                    <a:pt x="161502" y="5534"/>
                  </a:lnTo>
                  <a:lnTo>
                    <a:pt x="209549" y="0"/>
                  </a:lnTo>
                  <a:lnTo>
                    <a:pt x="250622" y="4063"/>
                  </a:lnTo>
                  <a:lnTo>
                    <a:pt x="289741" y="15951"/>
                  </a:lnTo>
                  <a:lnTo>
                    <a:pt x="325808" y="35206"/>
                  </a:lnTo>
                  <a:lnTo>
                    <a:pt x="357724" y="61375"/>
                  </a:lnTo>
                  <a:lnTo>
                    <a:pt x="383893" y="93291"/>
                  </a:lnTo>
                  <a:lnTo>
                    <a:pt x="403148" y="129358"/>
                  </a:lnTo>
                  <a:lnTo>
                    <a:pt x="415036" y="168477"/>
                  </a:lnTo>
                  <a:lnTo>
                    <a:pt x="419099" y="209549"/>
                  </a:lnTo>
                  <a:lnTo>
                    <a:pt x="413565" y="257597"/>
                  </a:lnTo>
                  <a:lnTo>
                    <a:pt x="397801" y="301704"/>
                  </a:lnTo>
                  <a:lnTo>
                    <a:pt x="373064" y="340612"/>
                  </a:lnTo>
                  <a:lnTo>
                    <a:pt x="340612" y="373064"/>
                  </a:lnTo>
                  <a:lnTo>
                    <a:pt x="301704" y="397801"/>
                  </a:lnTo>
                  <a:lnTo>
                    <a:pt x="257597" y="413565"/>
                  </a:lnTo>
                  <a:lnTo>
                    <a:pt x="209549" y="4190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92150" y="2211451"/>
            <a:ext cx="1775460" cy="701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0D9487"/>
                </a:solidFill>
                <a:latin typeface="Arial"/>
                <a:cs typeface="Arial"/>
              </a:rPr>
              <a:t>229,474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950" spc="-10" b="1">
                <a:solidFill>
                  <a:srgbClr val="0F172A"/>
                </a:solidFill>
                <a:latin typeface="Arial"/>
                <a:cs typeface="Arial"/>
              </a:rPr>
              <a:t>CLEANED</a:t>
            </a:r>
            <a:r>
              <a:rPr dirty="0" sz="950" spc="-1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0F172A"/>
                </a:solidFill>
                <a:latin typeface="Arial"/>
                <a:cs typeface="Arial"/>
              </a:rPr>
              <a:t>PATIENT</a:t>
            </a:r>
            <a:r>
              <a:rPr dirty="0" sz="950" spc="-10" b="1">
                <a:solidFill>
                  <a:srgbClr val="0F172A"/>
                </a:solidFill>
                <a:latin typeface="Arial"/>
                <a:cs typeface="Arial"/>
              </a:rPr>
              <a:t> RECORDS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2150" y="3021202"/>
            <a:ext cx="18548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Rigorously</a:t>
            </a:r>
            <a:r>
              <a:rPr dirty="0" sz="900" spc="-3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preprocessed</a:t>
            </a:r>
            <a:r>
              <a:rPr dirty="0" sz="900" spc="-3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healthcare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dataset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structured</a:t>
            </a:r>
            <a:r>
              <a:rPr dirty="0" sz="90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for</a:t>
            </a:r>
            <a:r>
              <a:rPr dirty="0" sz="90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high-precision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model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training.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88347" y="1469072"/>
            <a:ext cx="2567305" cy="2443480"/>
            <a:chOff x="3288347" y="1469072"/>
            <a:chExt cx="2567305" cy="2443480"/>
          </a:xfrm>
        </p:grpSpPr>
        <p:sp>
          <p:nvSpPr>
            <p:cNvPr id="15" name="object 15"/>
            <p:cNvSpPr/>
            <p:nvPr/>
          </p:nvSpPr>
          <p:spPr>
            <a:xfrm>
              <a:off x="3295649" y="1476375"/>
              <a:ext cx="2552700" cy="2428875"/>
            </a:xfrm>
            <a:custGeom>
              <a:avLst/>
              <a:gdLst/>
              <a:ahLst/>
              <a:cxnLst/>
              <a:rect l="l" t="t" r="r" b="b"/>
              <a:pathLst>
                <a:path w="2552700" h="2428875">
                  <a:moveTo>
                    <a:pt x="2400317" y="2428799"/>
                  </a:moveTo>
                  <a:lnTo>
                    <a:pt x="152382" y="2428799"/>
                  </a:lnTo>
                  <a:lnTo>
                    <a:pt x="104218" y="2421031"/>
                  </a:lnTo>
                  <a:lnTo>
                    <a:pt x="62387" y="2399398"/>
                  </a:lnTo>
                  <a:lnTo>
                    <a:pt x="29401" y="2366412"/>
                  </a:lnTo>
                  <a:lnTo>
                    <a:pt x="7768" y="2324581"/>
                  </a:lnTo>
                  <a:lnTo>
                    <a:pt x="0" y="2276417"/>
                  </a:lnTo>
                  <a:lnTo>
                    <a:pt x="0" y="152382"/>
                  </a:lnTo>
                  <a:lnTo>
                    <a:pt x="7768" y="104218"/>
                  </a:lnTo>
                  <a:lnTo>
                    <a:pt x="29401" y="62387"/>
                  </a:lnTo>
                  <a:lnTo>
                    <a:pt x="62387" y="29401"/>
                  </a:lnTo>
                  <a:lnTo>
                    <a:pt x="104218" y="7768"/>
                  </a:lnTo>
                  <a:lnTo>
                    <a:pt x="152382" y="0"/>
                  </a:lnTo>
                  <a:lnTo>
                    <a:pt x="2400317" y="0"/>
                  </a:lnTo>
                  <a:lnTo>
                    <a:pt x="2458631" y="11599"/>
                  </a:lnTo>
                  <a:lnTo>
                    <a:pt x="2508067" y="44631"/>
                  </a:lnTo>
                  <a:lnTo>
                    <a:pt x="2541100" y="94068"/>
                  </a:lnTo>
                  <a:lnTo>
                    <a:pt x="2552699" y="152382"/>
                  </a:lnTo>
                  <a:lnTo>
                    <a:pt x="2552699" y="2276417"/>
                  </a:lnTo>
                  <a:lnTo>
                    <a:pt x="2544931" y="2324581"/>
                  </a:lnTo>
                  <a:lnTo>
                    <a:pt x="2523298" y="2366412"/>
                  </a:lnTo>
                  <a:lnTo>
                    <a:pt x="2490312" y="2399398"/>
                  </a:lnTo>
                  <a:lnTo>
                    <a:pt x="2448481" y="2421031"/>
                  </a:lnTo>
                  <a:lnTo>
                    <a:pt x="2400317" y="242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95649" y="1476375"/>
              <a:ext cx="2552700" cy="2428875"/>
            </a:xfrm>
            <a:custGeom>
              <a:avLst/>
              <a:gdLst/>
              <a:ahLst/>
              <a:cxnLst/>
              <a:rect l="l" t="t" r="r" b="b"/>
              <a:pathLst>
                <a:path w="2552700" h="2428875">
                  <a:moveTo>
                    <a:pt x="0" y="152382"/>
                  </a:moveTo>
                  <a:lnTo>
                    <a:pt x="7768" y="104218"/>
                  </a:lnTo>
                  <a:lnTo>
                    <a:pt x="29401" y="62387"/>
                  </a:lnTo>
                  <a:lnTo>
                    <a:pt x="62387" y="29401"/>
                  </a:lnTo>
                  <a:lnTo>
                    <a:pt x="104218" y="7768"/>
                  </a:lnTo>
                  <a:lnTo>
                    <a:pt x="152382" y="0"/>
                  </a:lnTo>
                  <a:lnTo>
                    <a:pt x="2400317" y="0"/>
                  </a:lnTo>
                  <a:lnTo>
                    <a:pt x="2458631" y="11599"/>
                  </a:lnTo>
                  <a:lnTo>
                    <a:pt x="2508067" y="44631"/>
                  </a:lnTo>
                  <a:lnTo>
                    <a:pt x="2541100" y="94068"/>
                  </a:lnTo>
                  <a:lnTo>
                    <a:pt x="2552699" y="152382"/>
                  </a:lnTo>
                  <a:lnTo>
                    <a:pt x="2552699" y="2276417"/>
                  </a:lnTo>
                  <a:lnTo>
                    <a:pt x="2544931" y="2324581"/>
                  </a:lnTo>
                  <a:lnTo>
                    <a:pt x="2523298" y="2366412"/>
                  </a:lnTo>
                  <a:lnTo>
                    <a:pt x="2490312" y="2399398"/>
                  </a:lnTo>
                  <a:lnTo>
                    <a:pt x="2448481" y="2421031"/>
                  </a:lnTo>
                  <a:lnTo>
                    <a:pt x="2400317" y="2428799"/>
                  </a:lnTo>
                  <a:lnTo>
                    <a:pt x="152382" y="2428799"/>
                  </a:lnTo>
                  <a:lnTo>
                    <a:pt x="104218" y="2421031"/>
                  </a:lnTo>
                  <a:lnTo>
                    <a:pt x="62387" y="2399398"/>
                  </a:lnTo>
                  <a:lnTo>
                    <a:pt x="29401" y="2366412"/>
                  </a:lnTo>
                  <a:lnTo>
                    <a:pt x="7768" y="2324581"/>
                  </a:lnTo>
                  <a:lnTo>
                    <a:pt x="0" y="2276417"/>
                  </a:lnTo>
                  <a:lnTo>
                    <a:pt x="0" y="152382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95649" y="1476375"/>
              <a:ext cx="2552700" cy="57785"/>
            </a:xfrm>
            <a:custGeom>
              <a:avLst/>
              <a:gdLst/>
              <a:ahLst/>
              <a:cxnLst/>
              <a:rect l="l" t="t" r="r" b="b"/>
              <a:pathLst>
                <a:path w="2552700" h="57784">
                  <a:moveTo>
                    <a:pt x="25240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531648" y="0"/>
                  </a:lnTo>
                  <a:lnTo>
                    <a:pt x="2538935" y="3018"/>
                  </a:lnTo>
                  <a:lnTo>
                    <a:pt x="2549681" y="13764"/>
                  </a:lnTo>
                  <a:lnTo>
                    <a:pt x="2552699" y="21051"/>
                  </a:lnTo>
                  <a:lnTo>
                    <a:pt x="2552699" y="28649"/>
                  </a:lnTo>
                  <a:lnTo>
                    <a:pt x="2550448" y="39801"/>
                  </a:lnTo>
                  <a:lnTo>
                    <a:pt x="2544308" y="48908"/>
                  </a:lnTo>
                  <a:lnTo>
                    <a:pt x="2535201" y="55048"/>
                  </a:lnTo>
                  <a:lnTo>
                    <a:pt x="2524049" y="572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05199" y="168592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49" y="419099"/>
                  </a:moveTo>
                  <a:lnTo>
                    <a:pt x="161502" y="413565"/>
                  </a:lnTo>
                  <a:lnTo>
                    <a:pt x="117395" y="397801"/>
                  </a:lnTo>
                  <a:lnTo>
                    <a:pt x="78487" y="373064"/>
                  </a:lnTo>
                  <a:lnTo>
                    <a:pt x="46035" y="340612"/>
                  </a:lnTo>
                  <a:lnTo>
                    <a:pt x="21298" y="301704"/>
                  </a:lnTo>
                  <a:lnTo>
                    <a:pt x="5534" y="257597"/>
                  </a:lnTo>
                  <a:lnTo>
                    <a:pt x="0" y="209549"/>
                  </a:lnTo>
                  <a:lnTo>
                    <a:pt x="5534" y="161502"/>
                  </a:lnTo>
                  <a:lnTo>
                    <a:pt x="21298" y="117395"/>
                  </a:lnTo>
                  <a:lnTo>
                    <a:pt x="46035" y="78487"/>
                  </a:lnTo>
                  <a:lnTo>
                    <a:pt x="78487" y="46035"/>
                  </a:lnTo>
                  <a:lnTo>
                    <a:pt x="117395" y="21298"/>
                  </a:lnTo>
                  <a:lnTo>
                    <a:pt x="161502" y="5534"/>
                  </a:lnTo>
                  <a:lnTo>
                    <a:pt x="209549" y="0"/>
                  </a:lnTo>
                  <a:lnTo>
                    <a:pt x="250622" y="4063"/>
                  </a:lnTo>
                  <a:lnTo>
                    <a:pt x="289741" y="15951"/>
                  </a:lnTo>
                  <a:lnTo>
                    <a:pt x="325808" y="35206"/>
                  </a:lnTo>
                  <a:lnTo>
                    <a:pt x="357724" y="61375"/>
                  </a:lnTo>
                  <a:lnTo>
                    <a:pt x="383893" y="93291"/>
                  </a:lnTo>
                  <a:lnTo>
                    <a:pt x="403148" y="129358"/>
                  </a:lnTo>
                  <a:lnTo>
                    <a:pt x="415036" y="168477"/>
                  </a:lnTo>
                  <a:lnTo>
                    <a:pt x="419099" y="209549"/>
                  </a:lnTo>
                  <a:lnTo>
                    <a:pt x="413565" y="257597"/>
                  </a:lnTo>
                  <a:lnTo>
                    <a:pt x="397801" y="301704"/>
                  </a:lnTo>
                  <a:lnTo>
                    <a:pt x="373064" y="340612"/>
                  </a:lnTo>
                  <a:lnTo>
                    <a:pt x="340612" y="373064"/>
                  </a:lnTo>
                  <a:lnTo>
                    <a:pt x="301704" y="397801"/>
                  </a:lnTo>
                  <a:lnTo>
                    <a:pt x="257597" y="413565"/>
                  </a:lnTo>
                  <a:lnTo>
                    <a:pt x="209549" y="4190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511550" y="2211451"/>
            <a:ext cx="1957070" cy="701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0D9487"/>
                </a:solidFill>
                <a:latin typeface="Arial"/>
                <a:cs typeface="Arial"/>
              </a:rPr>
              <a:t>79.47%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950" b="1">
                <a:solidFill>
                  <a:srgbClr val="0F172A"/>
                </a:solidFill>
                <a:latin typeface="Arial"/>
                <a:cs typeface="Arial"/>
              </a:rPr>
              <a:t>CLINICAL</a:t>
            </a:r>
            <a:r>
              <a:rPr dirty="0" sz="950" spc="-5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72A"/>
                </a:solidFill>
                <a:latin typeface="Arial"/>
                <a:cs typeface="Arial"/>
              </a:rPr>
              <a:t>RECALL</a:t>
            </a:r>
            <a:r>
              <a:rPr dirty="0" sz="950" spc="-5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F172A"/>
                </a:solidFill>
                <a:latin typeface="Arial"/>
                <a:cs typeface="Arial"/>
              </a:rPr>
              <a:t>(SENSITIVITY)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1550" y="3021202"/>
            <a:ext cx="19919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Optimized</a:t>
            </a:r>
            <a:r>
              <a:rPr dirty="0" sz="900" spc="-3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to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identify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potential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diabetes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risk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early,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minimizing</a:t>
            </a:r>
            <a:r>
              <a:rPr dirty="0" sz="90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false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negatives</a:t>
            </a:r>
            <a:r>
              <a:rPr dirty="0" sz="90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64738B"/>
                </a:solidFill>
                <a:latin typeface="Arial MT"/>
                <a:cs typeface="Arial MT"/>
              </a:rPr>
              <a:t>in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screening.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07747" y="1469072"/>
            <a:ext cx="2567305" cy="2443480"/>
            <a:chOff x="6107747" y="1469072"/>
            <a:chExt cx="2567305" cy="2443480"/>
          </a:xfrm>
        </p:grpSpPr>
        <p:sp>
          <p:nvSpPr>
            <p:cNvPr id="22" name="object 22"/>
            <p:cNvSpPr/>
            <p:nvPr/>
          </p:nvSpPr>
          <p:spPr>
            <a:xfrm>
              <a:off x="6115049" y="1476375"/>
              <a:ext cx="2552700" cy="2428875"/>
            </a:xfrm>
            <a:custGeom>
              <a:avLst/>
              <a:gdLst/>
              <a:ahLst/>
              <a:cxnLst/>
              <a:rect l="l" t="t" r="r" b="b"/>
              <a:pathLst>
                <a:path w="2552700" h="2428875">
                  <a:moveTo>
                    <a:pt x="2400317" y="2428799"/>
                  </a:moveTo>
                  <a:lnTo>
                    <a:pt x="152382" y="2428799"/>
                  </a:lnTo>
                  <a:lnTo>
                    <a:pt x="104218" y="2421031"/>
                  </a:lnTo>
                  <a:lnTo>
                    <a:pt x="62387" y="2399398"/>
                  </a:lnTo>
                  <a:lnTo>
                    <a:pt x="29401" y="2366412"/>
                  </a:lnTo>
                  <a:lnTo>
                    <a:pt x="7768" y="2324581"/>
                  </a:lnTo>
                  <a:lnTo>
                    <a:pt x="0" y="2276417"/>
                  </a:lnTo>
                  <a:lnTo>
                    <a:pt x="0" y="152382"/>
                  </a:lnTo>
                  <a:lnTo>
                    <a:pt x="7768" y="104218"/>
                  </a:lnTo>
                  <a:lnTo>
                    <a:pt x="29401" y="62387"/>
                  </a:lnTo>
                  <a:lnTo>
                    <a:pt x="62387" y="29401"/>
                  </a:lnTo>
                  <a:lnTo>
                    <a:pt x="104218" y="7768"/>
                  </a:lnTo>
                  <a:lnTo>
                    <a:pt x="152382" y="0"/>
                  </a:lnTo>
                  <a:lnTo>
                    <a:pt x="2400317" y="0"/>
                  </a:lnTo>
                  <a:lnTo>
                    <a:pt x="2458631" y="11599"/>
                  </a:lnTo>
                  <a:lnTo>
                    <a:pt x="2508067" y="44631"/>
                  </a:lnTo>
                  <a:lnTo>
                    <a:pt x="2541100" y="94068"/>
                  </a:lnTo>
                  <a:lnTo>
                    <a:pt x="2552699" y="152382"/>
                  </a:lnTo>
                  <a:lnTo>
                    <a:pt x="2552699" y="2276417"/>
                  </a:lnTo>
                  <a:lnTo>
                    <a:pt x="2544931" y="2324581"/>
                  </a:lnTo>
                  <a:lnTo>
                    <a:pt x="2523298" y="2366412"/>
                  </a:lnTo>
                  <a:lnTo>
                    <a:pt x="2490312" y="2399398"/>
                  </a:lnTo>
                  <a:lnTo>
                    <a:pt x="2448482" y="2421031"/>
                  </a:lnTo>
                  <a:lnTo>
                    <a:pt x="2400317" y="242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115049" y="1476375"/>
              <a:ext cx="2552700" cy="2428875"/>
            </a:xfrm>
            <a:custGeom>
              <a:avLst/>
              <a:gdLst/>
              <a:ahLst/>
              <a:cxnLst/>
              <a:rect l="l" t="t" r="r" b="b"/>
              <a:pathLst>
                <a:path w="2552700" h="2428875">
                  <a:moveTo>
                    <a:pt x="0" y="152382"/>
                  </a:moveTo>
                  <a:lnTo>
                    <a:pt x="7768" y="104218"/>
                  </a:lnTo>
                  <a:lnTo>
                    <a:pt x="29401" y="62387"/>
                  </a:lnTo>
                  <a:lnTo>
                    <a:pt x="62387" y="29401"/>
                  </a:lnTo>
                  <a:lnTo>
                    <a:pt x="104218" y="7768"/>
                  </a:lnTo>
                  <a:lnTo>
                    <a:pt x="152382" y="0"/>
                  </a:lnTo>
                  <a:lnTo>
                    <a:pt x="2400317" y="0"/>
                  </a:lnTo>
                  <a:lnTo>
                    <a:pt x="2458631" y="11599"/>
                  </a:lnTo>
                  <a:lnTo>
                    <a:pt x="2508067" y="44631"/>
                  </a:lnTo>
                  <a:lnTo>
                    <a:pt x="2541100" y="94068"/>
                  </a:lnTo>
                  <a:lnTo>
                    <a:pt x="2552699" y="152382"/>
                  </a:lnTo>
                  <a:lnTo>
                    <a:pt x="2552699" y="2276417"/>
                  </a:lnTo>
                  <a:lnTo>
                    <a:pt x="2544931" y="2324581"/>
                  </a:lnTo>
                  <a:lnTo>
                    <a:pt x="2523298" y="2366412"/>
                  </a:lnTo>
                  <a:lnTo>
                    <a:pt x="2490312" y="2399398"/>
                  </a:lnTo>
                  <a:lnTo>
                    <a:pt x="2448482" y="2421031"/>
                  </a:lnTo>
                  <a:lnTo>
                    <a:pt x="2400317" y="2428799"/>
                  </a:lnTo>
                  <a:lnTo>
                    <a:pt x="152382" y="2428799"/>
                  </a:lnTo>
                  <a:lnTo>
                    <a:pt x="104218" y="2421031"/>
                  </a:lnTo>
                  <a:lnTo>
                    <a:pt x="62387" y="2399398"/>
                  </a:lnTo>
                  <a:lnTo>
                    <a:pt x="29401" y="2366412"/>
                  </a:lnTo>
                  <a:lnTo>
                    <a:pt x="7768" y="2324581"/>
                  </a:lnTo>
                  <a:lnTo>
                    <a:pt x="0" y="2276417"/>
                  </a:lnTo>
                  <a:lnTo>
                    <a:pt x="0" y="152382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115049" y="1476375"/>
              <a:ext cx="2552700" cy="57785"/>
            </a:xfrm>
            <a:custGeom>
              <a:avLst/>
              <a:gdLst/>
              <a:ahLst/>
              <a:cxnLst/>
              <a:rect l="l" t="t" r="r" b="b"/>
              <a:pathLst>
                <a:path w="2552700" h="57784">
                  <a:moveTo>
                    <a:pt x="25240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531648" y="0"/>
                  </a:lnTo>
                  <a:lnTo>
                    <a:pt x="2538935" y="3018"/>
                  </a:lnTo>
                  <a:lnTo>
                    <a:pt x="2549681" y="13764"/>
                  </a:lnTo>
                  <a:lnTo>
                    <a:pt x="2552699" y="21051"/>
                  </a:lnTo>
                  <a:lnTo>
                    <a:pt x="2552699" y="28649"/>
                  </a:lnTo>
                  <a:lnTo>
                    <a:pt x="2550448" y="39801"/>
                  </a:lnTo>
                  <a:lnTo>
                    <a:pt x="2544308" y="48908"/>
                  </a:lnTo>
                  <a:lnTo>
                    <a:pt x="2535201" y="55048"/>
                  </a:lnTo>
                  <a:lnTo>
                    <a:pt x="2524049" y="572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24599" y="168592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49" y="419099"/>
                  </a:moveTo>
                  <a:lnTo>
                    <a:pt x="161502" y="413565"/>
                  </a:lnTo>
                  <a:lnTo>
                    <a:pt x="117395" y="397801"/>
                  </a:lnTo>
                  <a:lnTo>
                    <a:pt x="78487" y="373064"/>
                  </a:lnTo>
                  <a:lnTo>
                    <a:pt x="46035" y="340612"/>
                  </a:lnTo>
                  <a:lnTo>
                    <a:pt x="21298" y="301704"/>
                  </a:lnTo>
                  <a:lnTo>
                    <a:pt x="5534" y="257597"/>
                  </a:lnTo>
                  <a:lnTo>
                    <a:pt x="0" y="209549"/>
                  </a:lnTo>
                  <a:lnTo>
                    <a:pt x="5534" y="161502"/>
                  </a:lnTo>
                  <a:lnTo>
                    <a:pt x="21298" y="117395"/>
                  </a:lnTo>
                  <a:lnTo>
                    <a:pt x="46035" y="78487"/>
                  </a:lnTo>
                  <a:lnTo>
                    <a:pt x="78487" y="46035"/>
                  </a:lnTo>
                  <a:lnTo>
                    <a:pt x="117395" y="21298"/>
                  </a:lnTo>
                  <a:lnTo>
                    <a:pt x="161502" y="5534"/>
                  </a:lnTo>
                  <a:lnTo>
                    <a:pt x="209549" y="0"/>
                  </a:lnTo>
                  <a:lnTo>
                    <a:pt x="250621" y="4063"/>
                  </a:lnTo>
                  <a:lnTo>
                    <a:pt x="289741" y="15951"/>
                  </a:lnTo>
                  <a:lnTo>
                    <a:pt x="325808" y="35206"/>
                  </a:lnTo>
                  <a:lnTo>
                    <a:pt x="357724" y="61375"/>
                  </a:lnTo>
                  <a:lnTo>
                    <a:pt x="383893" y="93291"/>
                  </a:lnTo>
                  <a:lnTo>
                    <a:pt x="403148" y="129358"/>
                  </a:lnTo>
                  <a:lnTo>
                    <a:pt x="415036" y="168477"/>
                  </a:lnTo>
                  <a:lnTo>
                    <a:pt x="419099" y="209549"/>
                  </a:lnTo>
                  <a:lnTo>
                    <a:pt x="413565" y="257597"/>
                  </a:lnTo>
                  <a:lnTo>
                    <a:pt x="397801" y="301704"/>
                  </a:lnTo>
                  <a:lnTo>
                    <a:pt x="373064" y="340612"/>
                  </a:lnTo>
                  <a:lnTo>
                    <a:pt x="340612" y="373064"/>
                  </a:lnTo>
                  <a:lnTo>
                    <a:pt x="301704" y="397801"/>
                  </a:lnTo>
                  <a:lnTo>
                    <a:pt x="257597" y="413565"/>
                  </a:lnTo>
                  <a:lnTo>
                    <a:pt x="209549" y="4190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330950" y="2211451"/>
            <a:ext cx="1398270" cy="701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0F172A"/>
                </a:solidFill>
                <a:latin typeface="Arial"/>
                <a:cs typeface="Arial"/>
              </a:rPr>
              <a:t>0.8187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950" b="1">
                <a:solidFill>
                  <a:srgbClr val="0F172A"/>
                </a:solidFill>
                <a:latin typeface="Arial"/>
                <a:cs typeface="Arial"/>
              </a:rPr>
              <a:t>TEST</a:t>
            </a:r>
            <a:r>
              <a:rPr dirty="0" sz="950" spc="-1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0F172A"/>
                </a:solidFill>
                <a:latin typeface="Arial"/>
                <a:cs typeface="Arial"/>
              </a:rPr>
              <a:t>ROC-</a:t>
            </a:r>
            <a:r>
              <a:rPr dirty="0" sz="950" b="1">
                <a:solidFill>
                  <a:srgbClr val="0F172A"/>
                </a:solidFill>
                <a:latin typeface="Arial"/>
                <a:cs typeface="Arial"/>
              </a:rPr>
              <a:t>AUC</a:t>
            </a:r>
            <a:r>
              <a:rPr dirty="0" sz="950" spc="-10" b="1">
                <a:solidFill>
                  <a:srgbClr val="0F172A"/>
                </a:solidFill>
                <a:latin typeface="Arial"/>
                <a:cs typeface="Arial"/>
              </a:rPr>
              <a:t> SCORE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30950" y="3021202"/>
            <a:ext cx="19875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Demonstrates</a:t>
            </a:r>
            <a:r>
              <a:rPr dirty="0" sz="90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strong</a:t>
            </a:r>
            <a:r>
              <a:rPr dirty="0" sz="900" spc="-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overall classification</a:t>
            </a:r>
            <a:r>
              <a:rPr dirty="0" sz="900" spc="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discrimination</a:t>
            </a:r>
            <a:r>
              <a:rPr dirty="0" sz="900" spc="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across</a:t>
            </a:r>
            <a:r>
              <a:rPr dirty="0" sz="900" spc="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64738B"/>
                </a:solidFill>
                <a:latin typeface="Arial MT"/>
                <a:cs typeface="Arial MT"/>
              </a:rPr>
              <a:t>test </a:t>
            </a:r>
            <a:r>
              <a:rPr dirty="0" sz="900">
                <a:solidFill>
                  <a:srgbClr val="64738B"/>
                </a:solidFill>
                <a:latin typeface="Arial MT"/>
                <a:cs typeface="Arial MT"/>
              </a:rPr>
              <a:t>set</a:t>
            </a:r>
            <a:r>
              <a:rPr dirty="0" sz="900" spc="-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4738B"/>
                </a:solidFill>
                <a:latin typeface="Arial MT"/>
                <a:cs typeface="Arial MT"/>
              </a:rPr>
              <a:t>evaluations.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6250" y="4095750"/>
            <a:ext cx="8191500" cy="514984"/>
          </a:xfrm>
          <a:custGeom>
            <a:avLst/>
            <a:gdLst/>
            <a:ahLst/>
            <a:cxnLst/>
            <a:rect l="l" t="t" r="r" b="b"/>
            <a:pathLst>
              <a:path w="8191500" h="514985">
                <a:moveTo>
                  <a:pt x="8077167" y="514499"/>
                </a:moveTo>
                <a:lnTo>
                  <a:pt x="114332" y="514499"/>
                </a:lnTo>
                <a:lnTo>
                  <a:pt x="69828" y="505515"/>
                </a:lnTo>
                <a:lnTo>
                  <a:pt x="33487" y="481012"/>
                </a:lnTo>
                <a:lnTo>
                  <a:pt x="8984" y="444671"/>
                </a:lnTo>
                <a:lnTo>
                  <a:pt x="0" y="400167"/>
                </a:lnTo>
                <a:lnTo>
                  <a:pt x="0" y="114331"/>
                </a:lnTo>
                <a:lnTo>
                  <a:pt x="8984" y="69828"/>
                </a:lnTo>
                <a:lnTo>
                  <a:pt x="33487" y="33487"/>
                </a:lnTo>
                <a:lnTo>
                  <a:pt x="69828" y="8984"/>
                </a:lnTo>
                <a:lnTo>
                  <a:pt x="114332" y="0"/>
                </a:lnTo>
                <a:lnTo>
                  <a:pt x="8077167" y="0"/>
                </a:lnTo>
                <a:lnTo>
                  <a:pt x="8120920" y="8703"/>
                </a:lnTo>
                <a:lnTo>
                  <a:pt x="8158012" y="33486"/>
                </a:lnTo>
                <a:lnTo>
                  <a:pt x="8182797" y="70579"/>
                </a:lnTo>
                <a:lnTo>
                  <a:pt x="8191499" y="114331"/>
                </a:lnTo>
                <a:lnTo>
                  <a:pt x="8191499" y="400167"/>
                </a:lnTo>
                <a:lnTo>
                  <a:pt x="8182515" y="444671"/>
                </a:lnTo>
                <a:lnTo>
                  <a:pt x="8158012" y="481012"/>
                </a:lnTo>
                <a:lnTo>
                  <a:pt x="8121671" y="505515"/>
                </a:lnTo>
                <a:lnTo>
                  <a:pt x="8077167" y="5144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96950" y="4190694"/>
            <a:ext cx="7683500" cy="744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655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CCFAF1"/>
                </a:solidFill>
                <a:latin typeface="Arial"/>
                <a:cs typeface="Arial"/>
              </a:rPr>
              <a:t>Clinical</a:t>
            </a:r>
            <a:r>
              <a:rPr dirty="0" sz="950" spc="-25" b="1">
                <a:solidFill>
                  <a:srgbClr val="CCFAF1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CFAF1"/>
                </a:solidFill>
                <a:latin typeface="Arial"/>
                <a:cs typeface="Arial"/>
              </a:rPr>
              <a:t>Utility:</a:t>
            </a:r>
            <a:r>
              <a:rPr dirty="0" sz="950" spc="-10" b="1">
                <a:solidFill>
                  <a:srgbClr val="CCFAF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GlucoScan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synthesizes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patient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health</a:t>
            </a:r>
            <a:r>
              <a:rPr dirty="0" sz="950" spc="-10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parameters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to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deliver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non-diagnostic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preliminary</a:t>
            </a:r>
            <a:r>
              <a:rPr dirty="0" sz="950" spc="-10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risk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estimates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for</a:t>
            </a:r>
            <a:r>
              <a:rPr dirty="0" sz="950" spc="-1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BD4E1"/>
                </a:solidFill>
                <a:latin typeface="Arial MT"/>
                <a:cs typeface="Arial MT"/>
              </a:rPr>
              <a:t>early</a:t>
            </a:r>
            <a:r>
              <a:rPr dirty="0" sz="950" spc="-10">
                <a:solidFill>
                  <a:srgbClr val="CBD4E1"/>
                </a:solidFill>
                <a:latin typeface="Arial MT"/>
                <a:cs typeface="Arial MT"/>
              </a:rPr>
              <a:t> healthcare intervention.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900">
                <a:solidFill>
                  <a:srgbClr val="94A3B8"/>
                </a:solidFill>
                <a:latin typeface="Arial MT"/>
                <a:cs typeface="Arial MT"/>
              </a:rPr>
              <a:t>Page</a:t>
            </a:r>
            <a:r>
              <a:rPr dirty="0" sz="900" spc="-20">
                <a:solidFill>
                  <a:srgbClr val="94A3B8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6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5362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Reposed</a:t>
            </a:r>
            <a:r>
              <a:rPr dirty="0" spc="-110"/>
              <a:t> </a:t>
            </a:r>
            <a:r>
              <a:rPr dirty="0" spc="-55"/>
              <a:t>Team</a:t>
            </a:r>
            <a:r>
              <a:rPr dirty="0" spc="-70"/>
              <a:t> </a:t>
            </a:r>
            <a:r>
              <a:rPr dirty="0" spc="-10"/>
              <a:t>Contributions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8814" y="1388416"/>
            <a:ext cx="8106409" cy="3018155"/>
            <a:chOff x="518814" y="1388416"/>
            <a:chExt cx="8106409" cy="3018155"/>
          </a:xfrm>
        </p:grpSpPr>
        <p:sp>
          <p:nvSpPr>
            <p:cNvPr id="4" name="object 4"/>
            <p:cNvSpPr/>
            <p:nvPr/>
          </p:nvSpPr>
          <p:spPr>
            <a:xfrm>
              <a:off x="523577" y="1393179"/>
              <a:ext cx="8096884" cy="3008630"/>
            </a:xfrm>
            <a:custGeom>
              <a:avLst/>
              <a:gdLst/>
              <a:ahLst/>
              <a:cxnLst/>
              <a:rect l="l" t="t" r="r" b="b"/>
              <a:pathLst>
                <a:path w="8096884" h="3008629">
                  <a:moveTo>
                    <a:pt x="0" y="22440"/>
                  </a:moveTo>
                  <a:lnTo>
                    <a:pt x="1761" y="13704"/>
                  </a:lnTo>
                  <a:lnTo>
                    <a:pt x="6571" y="6573"/>
                  </a:lnTo>
                  <a:lnTo>
                    <a:pt x="13704" y="1761"/>
                  </a:lnTo>
                  <a:lnTo>
                    <a:pt x="22440" y="0"/>
                  </a:lnTo>
                  <a:lnTo>
                    <a:pt x="8074400" y="0"/>
                  </a:lnTo>
                  <a:lnTo>
                    <a:pt x="8080354" y="0"/>
                  </a:lnTo>
                  <a:lnTo>
                    <a:pt x="8086061" y="2362"/>
                  </a:lnTo>
                  <a:lnTo>
                    <a:pt x="8090272" y="6573"/>
                  </a:lnTo>
                  <a:lnTo>
                    <a:pt x="8094479" y="10779"/>
                  </a:lnTo>
                  <a:lnTo>
                    <a:pt x="8096842" y="16488"/>
                  </a:lnTo>
                  <a:lnTo>
                    <a:pt x="8096842" y="22440"/>
                  </a:lnTo>
                  <a:lnTo>
                    <a:pt x="8096842" y="2985894"/>
                  </a:lnTo>
                  <a:lnTo>
                    <a:pt x="8095079" y="2994630"/>
                  </a:lnTo>
                  <a:lnTo>
                    <a:pt x="8090269" y="3001763"/>
                  </a:lnTo>
                  <a:lnTo>
                    <a:pt x="8083136" y="3006573"/>
                  </a:lnTo>
                  <a:lnTo>
                    <a:pt x="8074400" y="3008338"/>
                  </a:lnTo>
                  <a:lnTo>
                    <a:pt x="22440" y="3008338"/>
                  </a:lnTo>
                  <a:lnTo>
                    <a:pt x="13704" y="3006573"/>
                  </a:lnTo>
                  <a:lnTo>
                    <a:pt x="6571" y="3001763"/>
                  </a:lnTo>
                  <a:lnTo>
                    <a:pt x="1761" y="2994630"/>
                  </a:lnTo>
                  <a:lnTo>
                    <a:pt x="0" y="2985894"/>
                  </a:lnTo>
                  <a:lnTo>
                    <a:pt x="0" y="2244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8340" y="1397942"/>
              <a:ext cx="8087359" cy="428625"/>
            </a:xfrm>
            <a:custGeom>
              <a:avLst/>
              <a:gdLst/>
              <a:ahLst/>
              <a:cxnLst/>
              <a:rect l="l" t="t" r="r" b="b"/>
              <a:pathLst>
                <a:path w="8087359" h="428625">
                  <a:moveTo>
                    <a:pt x="8087319" y="428399"/>
                  </a:moveTo>
                  <a:lnTo>
                    <a:pt x="0" y="428399"/>
                  </a:lnTo>
                  <a:lnTo>
                    <a:pt x="0" y="0"/>
                  </a:lnTo>
                  <a:lnTo>
                    <a:pt x="8087319" y="0"/>
                  </a:lnTo>
                  <a:lnTo>
                    <a:pt x="8087319" y="428399"/>
                  </a:lnTo>
                  <a:close/>
                </a:path>
              </a:pathLst>
            </a:custGeom>
            <a:solidFill>
              <a:srgbClr val="FFFFFF">
                <a:alpha val="3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28414" y="1397942"/>
              <a:ext cx="1732280" cy="428625"/>
            </a:xfrm>
            <a:custGeom>
              <a:avLst/>
              <a:gdLst/>
              <a:ahLst/>
              <a:cxnLst/>
              <a:rect l="l" t="t" r="r" b="b"/>
              <a:pathLst>
                <a:path w="1732280" h="428625">
                  <a:moveTo>
                    <a:pt x="1732282" y="428399"/>
                  </a:moveTo>
                  <a:lnTo>
                    <a:pt x="0" y="428399"/>
                  </a:lnTo>
                  <a:lnTo>
                    <a:pt x="0" y="18699"/>
                  </a:lnTo>
                  <a:lnTo>
                    <a:pt x="1467" y="11420"/>
                  </a:lnTo>
                  <a:lnTo>
                    <a:pt x="5475" y="5475"/>
                  </a:lnTo>
                  <a:lnTo>
                    <a:pt x="11420" y="1467"/>
                  </a:lnTo>
                  <a:lnTo>
                    <a:pt x="18699" y="0"/>
                  </a:lnTo>
                  <a:lnTo>
                    <a:pt x="1732282" y="0"/>
                  </a:lnTo>
                  <a:lnTo>
                    <a:pt x="1732282" y="428399"/>
                  </a:lnTo>
                  <a:close/>
                </a:path>
              </a:pathLst>
            </a:custGeom>
            <a:solidFill>
              <a:srgbClr val="F4A3A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65287" y="1455871"/>
            <a:ext cx="97663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272525"/>
                </a:solidFill>
                <a:latin typeface="Roboto"/>
                <a:cs typeface="Roboto"/>
              </a:rPr>
              <a:t>Team</a:t>
            </a:r>
            <a:r>
              <a:rPr dirty="0" sz="1150" spc="-25" b="1">
                <a:solidFill>
                  <a:srgbClr val="272525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272525"/>
                </a:solidFill>
                <a:latin typeface="Roboto"/>
                <a:cs typeface="Roboto"/>
              </a:rPr>
              <a:t>Member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60699" y="1397941"/>
            <a:ext cx="6355080" cy="428625"/>
          </a:xfrm>
          <a:custGeom>
            <a:avLst/>
            <a:gdLst/>
            <a:ahLst/>
            <a:cxnLst/>
            <a:rect l="l" t="t" r="r" b="b"/>
            <a:pathLst>
              <a:path w="6355080" h="428625">
                <a:moveTo>
                  <a:pt x="6354960" y="428399"/>
                </a:moveTo>
                <a:lnTo>
                  <a:pt x="0" y="428399"/>
                </a:lnTo>
                <a:lnTo>
                  <a:pt x="0" y="0"/>
                </a:lnTo>
                <a:lnTo>
                  <a:pt x="6341218" y="0"/>
                </a:lnTo>
                <a:lnTo>
                  <a:pt x="6345975" y="1968"/>
                </a:lnTo>
                <a:lnTo>
                  <a:pt x="6352989" y="8982"/>
                </a:lnTo>
                <a:lnTo>
                  <a:pt x="6354960" y="13739"/>
                </a:lnTo>
                <a:lnTo>
                  <a:pt x="6354960" y="428399"/>
                </a:lnTo>
                <a:close/>
              </a:path>
            </a:pathLst>
          </a:custGeom>
          <a:solidFill>
            <a:srgbClr val="F4A3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99952" y="1455871"/>
            <a:ext cx="236728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272525"/>
                </a:solidFill>
                <a:latin typeface="Roboto"/>
                <a:cs typeface="Roboto"/>
              </a:rPr>
              <a:t>Proposed</a:t>
            </a:r>
            <a:r>
              <a:rPr dirty="0" sz="1150" spc="-20" b="1">
                <a:solidFill>
                  <a:srgbClr val="272525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272525"/>
                </a:solidFill>
                <a:latin typeface="Roboto"/>
                <a:cs typeface="Roboto"/>
              </a:rPr>
              <a:t>Responsibility</a:t>
            </a:r>
            <a:r>
              <a:rPr dirty="0" sz="1150" spc="-15" b="1">
                <a:solidFill>
                  <a:srgbClr val="272525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272525"/>
                </a:solidFill>
                <a:latin typeface="Roboto"/>
                <a:cs typeface="Roboto"/>
              </a:rPr>
              <a:t>(Review-</a:t>
            </a:r>
            <a:r>
              <a:rPr dirty="0" sz="1150" spc="-25" b="1">
                <a:solidFill>
                  <a:srgbClr val="272525"/>
                </a:solidFill>
                <a:latin typeface="Roboto"/>
                <a:cs typeface="Roboto"/>
              </a:rPr>
              <a:t>0)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339" y="1826342"/>
            <a:ext cx="8087359" cy="428625"/>
          </a:xfrm>
          <a:custGeom>
            <a:avLst/>
            <a:gdLst/>
            <a:ahLst/>
            <a:cxnLst/>
            <a:rect l="l" t="t" r="r" b="b"/>
            <a:pathLst>
              <a:path w="8087359" h="428625">
                <a:moveTo>
                  <a:pt x="8087317" y="428399"/>
                </a:moveTo>
                <a:lnTo>
                  <a:pt x="0" y="428399"/>
                </a:lnTo>
                <a:lnTo>
                  <a:pt x="0" y="0"/>
                </a:lnTo>
                <a:lnTo>
                  <a:pt x="8087317" y="0"/>
                </a:lnTo>
                <a:lnTo>
                  <a:pt x="8087317" y="4283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65287" y="1884273"/>
            <a:ext cx="4330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Aarjav </a:t>
            </a: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jain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952" y="1884273"/>
            <a:ext cx="45866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Dataset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research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&amp;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collection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—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identify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public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datasets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and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document attributes.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8339" y="2254743"/>
            <a:ext cx="8087359" cy="428625"/>
          </a:xfrm>
          <a:custGeom>
            <a:avLst/>
            <a:gdLst/>
            <a:ahLst/>
            <a:cxnLst/>
            <a:rect l="l" t="t" r="r" b="b"/>
            <a:pathLst>
              <a:path w="8087359" h="428625">
                <a:moveTo>
                  <a:pt x="8087317" y="428399"/>
                </a:moveTo>
                <a:lnTo>
                  <a:pt x="0" y="428399"/>
                </a:lnTo>
                <a:lnTo>
                  <a:pt x="0" y="0"/>
                </a:lnTo>
                <a:lnTo>
                  <a:pt x="8087317" y="0"/>
                </a:lnTo>
                <a:lnTo>
                  <a:pt x="8087317" y="428399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5287" y="2312676"/>
            <a:ext cx="9925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Samarth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Khare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952" y="2312676"/>
            <a:ext cx="41763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Data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preprocessing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—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clean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data,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handle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missing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values,</a:t>
            </a: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feature engineering.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8339" y="2683148"/>
            <a:ext cx="8087359" cy="428625"/>
          </a:xfrm>
          <a:custGeom>
            <a:avLst/>
            <a:gdLst/>
            <a:ahLst/>
            <a:cxnLst/>
            <a:rect l="l" t="t" r="r" b="b"/>
            <a:pathLst>
              <a:path w="8087359" h="428625">
                <a:moveTo>
                  <a:pt x="8087317" y="428399"/>
                </a:moveTo>
                <a:lnTo>
                  <a:pt x="0" y="428399"/>
                </a:lnTo>
                <a:lnTo>
                  <a:pt x="0" y="0"/>
                </a:lnTo>
                <a:lnTo>
                  <a:pt x="8087317" y="0"/>
                </a:lnTo>
                <a:lnTo>
                  <a:pt x="8087317" y="4283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65287" y="2741078"/>
            <a:ext cx="6965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Aryan 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Srivastava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952" y="2741078"/>
            <a:ext cx="453072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Machine-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learning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model</a:t>
            </a:r>
            <a:r>
              <a:rPr dirty="0" sz="1150" spc="-3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—</a:t>
            </a:r>
            <a:r>
              <a:rPr dirty="0" sz="1150" spc="-3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study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and</a:t>
            </a:r>
            <a:r>
              <a:rPr dirty="0" sz="1150" spc="-3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implement</a:t>
            </a:r>
            <a:r>
              <a:rPr dirty="0" sz="1150" spc="-3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suitable</a:t>
            </a:r>
            <a:r>
              <a:rPr dirty="0" sz="1150" spc="-3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classical</a:t>
            </a:r>
            <a:r>
              <a:rPr dirty="0" sz="1150" spc="-3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ML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algorithms.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8339" y="3111549"/>
            <a:ext cx="8087359" cy="428625"/>
          </a:xfrm>
          <a:custGeom>
            <a:avLst/>
            <a:gdLst/>
            <a:ahLst/>
            <a:cxnLst/>
            <a:rect l="l" t="t" r="r" b="b"/>
            <a:pathLst>
              <a:path w="8087359" h="428625">
                <a:moveTo>
                  <a:pt x="8087317" y="428399"/>
                </a:moveTo>
                <a:lnTo>
                  <a:pt x="0" y="428399"/>
                </a:lnTo>
                <a:lnTo>
                  <a:pt x="0" y="0"/>
                </a:lnTo>
                <a:lnTo>
                  <a:pt x="8087317" y="0"/>
                </a:lnTo>
                <a:lnTo>
                  <a:pt x="8087317" y="428399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65287" y="3169478"/>
            <a:ext cx="6965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Aryan 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Srivastava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9952" y="3169478"/>
            <a:ext cx="46628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Model</a:t>
            </a:r>
            <a:r>
              <a:rPr dirty="0" sz="1150" spc="-3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testing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&amp;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evaluation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—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performance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metrics,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B3535"/>
                </a:solidFill>
                <a:latin typeface="Roboto"/>
                <a:cs typeface="Roboto"/>
              </a:rPr>
              <a:t>cross-</a:t>
            </a: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validation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and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comparison.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8339" y="3539951"/>
            <a:ext cx="8087359" cy="428625"/>
          </a:xfrm>
          <a:custGeom>
            <a:avLst/>
            <a:gdLst/>
            <a:ahLst/>
            <a:cxnLst/>
            <a:rect l="l" t="t" r="r" b="b"/>
            <a:pathLst>
              <a:path w="8087359" h="428625">
                <a:moveTo>
                  <a:pt x="8087317" y="428399"/>
                </a:moveTo>
                <a:lnTo>
                  <a:pt x="0" y="428399"/>
                </a:lnTo>
                <a:lnTo>
                  <a:pt x="0" y="0"/>
                </a:lnTo>
                <a:lnTo>
                  <a:pt x="8087317" y="0"/>
                </a:lnTo>
                <a:lnTo>
                  <a:pt x="8087317" y="4283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65287" y="3597879"/>
            <a:ext cx="80391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Ishan</a:t>
            </a:r>
            <a:r>
              <a:rPr dirty="0" sz="1150" spc="-6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Bharti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99952" y="3597879"/>
            <a:ext cx="502412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User</a:t>
            </a:r>
            <a:r>
              <a:rPr dirty="0" sz="1150" spc="-4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interface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—</a:t>
            </a:r>
            <a:r>
              <a:rPr dirty="0" sz="1150" spc="-4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build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a</a:t>
            </a:r>
            <a:r>
              <a:rPr dirty="0" sz="1150" spc="-4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simple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demo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UI</a:t>
            </a:r>
            <a:r>
              <a:rPr dirty="0" sz="1150" spc="-4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for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entering</a:t>
            </a:r>
            <a:r>
              <a:rPr dirty="0" sz="1150" spc="-4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parameters</a:t>
            </a:r>
            <a:r>
              <a:rPr dirty="0" sz="1150" spc="-4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and</a:t>
            </a:r>
            <a:r>
              <a:rPr dirty="0" sz="1150" spc="-4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showing results.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8339" y="3968353"/>
            <a:ext cx="8087359" cy="428625"/>
          </a:xfrm>
          <a:custGeom>
            <a:avLst/>
            <a:gdLst/>
            <a:ahLst/>
            <a:cxnLst/>
            <a:rect l="l" t="t" r="r" b="b"/>
            <a:pathLst>
              <a:path w="8087359" h="428625">
                <a:moveTo>
                  <a:pt x="8087317" y="428399"/>
                </a:moveTo>
                <a:lnTo>
                  <a:pt x="0" y="428399"/>
                </a:lnTo>
                <a:lnTo>
                  <a:pt x="0" y="0"/>
                </a:lnTo>
                <a:lnTo>
                  <a:pt x="8087317" y="0"/>
                </a:lnTo>
                <a:lnTo>
                  <a:pt x="8087317" y="428399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5287" y="4026282"/>
            <a:ext cx="13366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Shubhankar</a:t>
            </a:r>
            <a:r>
              <a:rPr dirty="0" sz="1150" spc="1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Sharma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952" y="4026282"/>
            <a:ext cx="482981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Documentation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&amp;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presentation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—</a:t>
            </a: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 literature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review,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write</a:t>
            </a:r>
            <a:r>
              <a:rPr dirty="0" sz="1150" spc="-20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report</a:t>
            </a:r>
            <a:r>
              <a:rPr dirty="0" sz="1150" spc="-2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535"/>
                </a:solidFill>
                <a:latin typeface="Roboto"/>
                <a:cs typeface="Roboto"/>
              </a:rPr>
              <a:t>and</a:t>
            </a:r>
            <a:r>
              <a:rPr dirty="0" sz="1150" spc="-5">
                <a:solidFill>
                  <a:srgbClr val="3B3535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535"/>
                </a:solidFill>
                <a:latin typeface="Roboto"/>
                <a:cs typeface="Roboto"/>
              </a:rPr>
              <a:t>prepare slides.</a:t>
            </a:r>
            <a:endParaRPr sz="1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250" y="342900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1409699" y="228599"/>
                </a:moveTo>
                <a:lnTo>
                  <a:pt x="114299" y="228599"/>
                </a:lnTo>
                <a:lnTo>
                  <a:pt x="69809" y="219617"/>
                </a:lnTo>
                <a:lnTo>
                  <a:pt x="33477" y="195122"/>
                </a:lnTo>
                <a:lnTo>
                  <a:pt x="8982" y="158790"/>
                </a:lnTo>
                <a:lnTo>
                  <a:pt x="0" y="114299"/>
                </a:lnTo>
                <a:lnTo>
                  <a:pt x="8982" y="69809"/>
                </a:lnTo>
                <a:lnTo>
                  <a:pt x="33477" y="33477"/>
                </a:lnTo>
                <a:lnTo>
                  <a:pt x="69809" y="8982"/>
                </a:lnTo>
                <a:lnTo>
                  <a:pt x="114299" y="0"/>
                </a:lnTo>
                <a:lnTo>
                  <a:pt x="1409699" y="0"/>
                </a:lnTo>
                <a:lnTo>
                  <a:pt x="1453440" y="8700"/>
                </a:lnTo>
                <a:lnTo>
                  <a:pt x="1490522" y="33477"/>
                </a:lnTo>
                <a:lnTo>
                  <a:pt x="1515299" y="70559"/>
                </a:lnTo>
                <a:lnTo>
                  <a:pt x="1523999" y="114299"/>
                </a:lnTo>
                <a:lnTo>
                  <a:pt x="1515017" y="158790"/>
                </a:lnTo>
                <a:lnTo>
                  <a:pt x="1490522" y="195122"/>
                </a:lnTo>
                <a:lnTo>
                  <a:pt x="1454190" y="219617"/>
                </a:lnTo>
                <a:lnTo>
                  <a:pt x="1409699" y="228599"/>
                </a:lnTo>
                <a:close/>
              </a:path>
            </a:pathLst>
          </a:custGeom>
          <a:solidFill>
            <a:srgbClr val="CCFA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8063" y="375411"/>
            <a:ext cx="13792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D9487"/>
                </a:solidFill>
                <a:latin typeface="Arial"/>
                <a:cs typeface="Arial"/>
              </a:rPr>
              <a:t>SOURCES</a:t>
            </a:r>
            <a:r>
              <a:rPr dirty="0" sz="850" spc="-20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D9487"/>
                </a:solidFill>
                <a:latin typeface="Arial"/>
                <a:cs typeface="Arial"/>
              </a:rPr>
              <a:t>&amp;</a:t>
            </a:r>
            <a:r>
              <a:rPr dirty="0" sz="850" spc="-20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D9487"/>
                </a:solidFill>
                <a:latin typeface="Arial"/>
                <a:cs typeface="Arial"/>
              </a:rPr>
              <a:t>RESOURCES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63550" y="472790"/>
            <a:ext cx="5965190" cy="716280"/>
          </a:xfrm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pc="-10" b="1">
                <a:solidFill>
                  <a:srgbClr val="0F172A"/>
                </a:solidFill>
                <a:latin typeface="Arial"/>
                <a:cs typeface="Arial"/>
              </a:rPr>
              <a:t>References</a:t>
            </a:r>
            <a:r>
              <a:rPr dirty="0" spc="-4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F172A"/>
                </a:solidFill>
                <a:latin typeface="Arial"/>
                <a:cs typeface="Arial"/>
              </a:rPr>
              <a:t>&amp;</a:t>
            </a:r>
            <a:r>
              <a:rPr dirty="0" spc="-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D9487"/>
                </a:solidFill>
                <a:latin typeface="Arial"/>
                <a:cs typeface="Arial"/>
              </a:rPr>
              <a:t>Documentation</a:t>
            </a: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050">
                <a:solidFill>
                  <a:srgbClr val="64738B"/>
                </a:solidFill>
              </a:rPr>
              <a:t>Key</a:t>
            </a:r>
            <a:r>
              <a:rPr dirty="0" sz="1050" spc="-10">
                <a:solidFill>
                  <a:srgbClr val="64738B"/>
                </a:solidFill>
              </a:rPr>
              <a:t> datasets, technical documentation,</a:t>
            </a:r>
            <a:r>
              <a:rPr dirty="0" sz="1050" spc="-5">
                <a:solidFill>
                  <a:srgbClr val="64738B"/>
                </a:solidFill>
              </a:rPr>
              <a:t> </a:t>
            </a:r>
            <a:r>
              <a:rPr dirty="0" sz="1050">
                <a:solidFill>
                  <a:srgbClr val="64738B"/>
                </a:solidFill>
              </a:rPr>
              <a:t>and</a:t>
            </a:r>
            <a:r>
              <a:rPr dirty="0" sz="1050" spc="-10">
                <a:solidFill>
                  <a:srgbClr val="64738B"/>
                </a:solidFill>
              </a:rPr>
              <a:t> foundational research supporting</a:t>
            </a:r>
            <a:r>
              <a:rPr dirty="0" sz="1050" spc="-5">
                <a:solidFill>
                  <a:srgbClr val="64738B"/>
                </a:solidFill>
              </a:rPr>
              <a:t> </a:t>
            </a:r>
            <a:r>
              <a:rPr dirty="0" sz="1050">
                <a:solidFill>
                  <a:srgbClr val="64738B"/>
                </a:solidFill>
              </a:rPr>
              <a:t>the</a:t>
            </a:r>
            <a:r>
              <a:rPr dirty="0" sz="1050" spc="-10">
                <a:solidFill>
                  <a:srgbClr val="64738B"/>
                </a:solidFill>
              </a:rPr>
              <a:t> GlucoScan project.</a:t>
            </a:r>
            <a:endParaRPr sz="1050"/>
          </a:p>
        </p:txBody>
      </p:sp>
      <p:grpSp>
        <p:nvGrpSpPr>
          <p:cNvPr id="5" name="object 5"/>
          <p:cNvGrpSpPr/>
          <p:nvPr/>
        </p:nvGrpSpPr>
        <p:grpSpPr>
          <a:xfrm>
            <a:off x="469100" y="1373974"/>
            <a:ext cx="2567305" cy="1538605"/>
            <a:chOff x="469100" y="1373974"/>
            <a:chExt cx="2567305" cy="1538605"/>
          </a:xfrm>
        </p:grpSpPr>
        <p:sp>
          <p:nvSpPr>
            <p:cNvPr id="6" name="object 6"/>
            <p:cNvSpPr/>
            <p:nvPr/>
          </p:nvSpPr>
          <p:spPr>
            <a:xfrm>
              <a:off x="476250" y="1381124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2438399" y="1523999"/>
                  </a:move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6250" y="1381124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6249" y="1381124"/>
              <a:ext cx="2552700" cy="38100"/>
            </a:xfrm>
            <a:custGeom>
              <a:avLst/>
              <a:gdLst/>
              <a:ahLst/>
              <a:cxnLst/>
              <a:rect l="l" t="t" r="r" b="b"/>
              <a:pathLst>
                <a:path w="2552700" h="38100">
                  <a:moveTo>
                    <a:pt x="25336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538702" y="0"/>
                  </a:lnTo>
                  <a:lnTo>
                    <a:pt x="2543547" y="2006"/>
                  </a:lnTo>
                  <a:lnTo>
                    <a:pt x="2550692" y="9152"/>
                  </a:lnTo>
                  <a:lnTo>
                    <a:pt x="2552699" y="13997"/>
                  </a:lnTo>
                  <a:lnTo>
                    <a:pt x="2552699" y="19049"/>
                  </a:lnTo>
                  <a:lnTo>
                    <a:pt x="2551202" y="26465"/>
                  </a:lnTo>
                  <a:lnTo>
                    <a:pt x="2547120" y="32520"/>
                  </a:lnTo>
                  <a:lnTo>
                    <a:pt x="2541065" y="36602"/>
                  </a:lnTo>
                  <a:lnTo>
                    <a:pt x="2533649" y="380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15716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2" y="257984"/>
                  </a:lnTo>
                  <a:lnTo>
                    <a:pt x="292683" y="292683"/>
                  </a:lnTo>
                  <a:lnTo>
                    <a:pt x="257984" y="319492"/>
                  </a:lnTo>
                  <a:lnTo>
                    <a:pt x="217028" y="336775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54050" y="1864273"/>
            <a:ext cx="2171065" cy="64897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Kaggle.com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Source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of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public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healthcare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and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disease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datasets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for</a:t>
            </a:r>
            <a:r>
              <a:rPr dirty="0" sz="950" spc="-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research</a:t>
            </a:r>
            <a:r>
              <a:rPr dirty="0" sz="950" spc="-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and</a:t>
            </a:r>
            <a:r>
              <a:rPr dirty="0" sz="950" spc="-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education.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88500" y="1373974"/>
            <a:ext cx="2567305" cy="1538605"/>
            <a:chOff x="3288500" y="1373974"/>
            <a:chExt cx="2567305" cy="1538605"/>
          </a:xfrm>
        </p:grpSpPr>
        <p:sp>
          <p:nvSpPr>
            <p:cNvPr id="12" name="object 12"/>
            <p:cNvSpPr/>
            <p:nvPr/>
          </p:nvSpPr>
          <p:spPr>
            <a:xfrm>
              <a:off x="3295650" y="1381124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2438399" y="1523999"/>
                  </a:move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95650" y="1381124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95650" y="1381124"/>
              <a:ext cx="2552700" cy="38100"/>
            </a:xfrm>
            <a:custGeom>
              <a:avLst/>
              <a:gdLst/>
              <a:ahLst/>
              <a:cxnLst/>
              <a:rect l="l" t="t" r="r" b="b"/>
              <a:pathLst>
                <a:path w="2552700" h="38100">
                  <a:moveTo>
                    <a:pt x="25336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538702" y="0"/>
                  </a:lnTo>
                  <a:lnTo>
                    <a:pt x="2543547" y="2006"/>
                  </a:lnTo>
                  <a:lnTo>
                    <a:pt x="2550692" y="9152"/>
                  </a:lnTo>
                  <a:lnTo>
                    <a:pt x="2552699" y="13997"/>
                  </a:lnTo>
                  <a:lnTo>
                    <a:pt x="2552699" y="19049"/>
                  </a:lnTo>
                  <a:lnTo>
                    <a:pt x="2551202" y="26465"/>
                  </a:lnTo>
                  <a:lnTo>
                    <a:pt x="2547120" y="32520"/>
                  </a:lnTo>
                  <a:lnTo>
                    <a:pt x="2541065" y="36602"/>
                  </a:lnTo>
                  <a:lnTo>
                    <a:pt x="2533649" y="380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05200" y="15716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1" y="257984"/>
                  </a:lnTo>
                  <a:lnTo>
                    <a:pt x="292683" y="292683"/>
                  </a:lnTo>
                  <a:lnTo>
                    <a:pt x="257983" y="319492"/>
                  </a:lnTo>
                  <a:lnTo>
                    <a:pt x="217028" y="336775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473450" y="1864736"/>
            <a:ext cx="2041525" cy="74866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000" b="1">
                <a:solidFill>
                  <a:srgbClr val="0F172A"/>
                </a:solidFill>
                <a:latin typeface="Arial"/>
                <a:cs typeface="Arial"/>
              </a:rPr>
              <a:t>Scikit-learn</a:t>
            </a:r>
            <a:r>
              <a:rPr dirty="0" sz="1000" spc="5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F172A"/>
                </a:solidFill>
                <a:latin typeface="Arial"/>
                <a:cs typeface="Arial"/>
              </a:rPr>
              <a:t>Documentation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3400"/>
              </a:lnSpc>
              <a:spcBef>
                <a:spcPts val="600"/>
              </a:spcBef>
            </a:pP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Reference</a:t>
            </a:r>
            <a:r>
              <a:rPr dirty="0" sz="850" spc="5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for</a:t>
            </a:r>
            <a:r>
              <a:rPr dirty="0" sz="850" spc="5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classical</a:t>
            </a:r>
            <a:r>
              <a:rPr dirty="0" sz="850" spc="5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machine-</a:t>
            </a:r>
            <a:r>
              <a:rPr dirty="0" sz="850" spc="-10">
                <a:solidFill>
                  <a:srgbClr val="64738B"/>
                </a:solidFill>
                <a:latin typeface="Arial MT"/>
                <a:cs typeface="Arial MT"/>
              </a:rPr>
              <a:t>learning </a:t>
            </a: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algorithms,</a:t>
            </a:r>
            <a:r>
              <a:rPr dirty="0" sz="850" spc="4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preprocessing</a:t>
            </a:r>
            <a:r>
              <a:rPr dirty="0" sz="850" spc="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tools,</a:t>
            </a:r>
            <a:r>
              <a:rPr dirty="0" sz="850" spc="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64738B"/>
                </a:solidFill>
                <a:latin typeface="Arial MT"/>
                <a:cs typeface="Arial MT"/>
              </a:rPr>
              <a:t>and </a:t>
            </a:r>
            <a:r>
              <a:rPr dirty="0" sz="850">
                <a:solidFill>
                  <a:srgbClr val="64738B"/>
                </a:solidFill>
                <a:latin typeface="Arial MT"/>
                <a:cs typeface="Arial MT"/>
              </a:rPr>
              <a:t>evaluation</a:t>
            </a:r>
            <a:r>
              <a:rPr dirty="0" sz="850" spc="7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64738B"/>
                </a:solidFill>
                <a:latin typeface="Arial MT"/>
                <a:cs typeface="Arial MT"/>
              </a:rPr>
              <a:t>metrics.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07900" y="1373974"/>
            <a:ext cx="2567305" cy="1538605"/>
            <a:chOff x="6107900" y="1373974"/>
            <a:chExt cx="2567305" cy="1538605"/>
          </a:xfrm>
        </p:grpSpPr>
        <p:sp>
          <p:nvSpPr>
            <p:cNvPr id="18" name="object 18"/>
            <p:cNvSpPr/>
            <p:nvPr/>
          </p:nvSpPr>
          <p:spPr>
            <a:xfrm>
              <a:off x="6115050" y="1381124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2438399" y="1523999"/>
                  </a:move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15050" y="1381124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15050" y="1381124"/>
              <a:ext cx="2552700" cy="38100"/>
            </a:xfrm>
            <a:custGeom>
              <a:avLst/>
              <a:gdLst/>
              <a:ahLst/>
              <a:cxnLst/>
              <a:rect l="l" t="t" r="r" b="b"/>
              <a:pathLst>
                <a:path w="2552700" h="38100">
                  <a:moveTo>
                    <a:pt x="25336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538702" y="0"/>
                  </a:lnTo>
                  <a:lnTo>
                    <a:pt x="2543547" y="2006"/>
                  </a:lnTo>
                  <a:lnTo>
                    <a:pt x="2550692" y="9152"/>
                  </a:lnTo>
                  <a:lnTo>
                    <a:pt x="2552699" y="13997"/>
                  </a:lnTo>
                  <a:lnTo>
                    <a:pt x="2552699" y="19049"/>
                  </a:lnTo>
                  <a:lnTo>
                    <a:pt x="2551202" y="26465"/>
                  </a:lnTo>
                  <a:lnTo>
                    <a:pt x="2547120" y="32520"/>
                  </a:lnTo>
                  <a:lnTo>
                    <a:pt x="2541065" y="36602"/>
                  </a:lnTo>
                  <a:lnTo>
                    <a:pt x="2533649" y="380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24600" y="15716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1" y="257984"/>
                  </a:lnTo>
                  <a:lnTo>
                    <a:pt x="292683" y="292683"/>
                  </a:lnTo>
                  <a:lnTo>
                    <a:pt x="257983" y="319492"/>
                  </a:lnTo>
                  <a:lnTo>
                    <a:pt x="217028" y="336775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292850" y="1864273"/>
            <a:ext cx="2016125" cy="79375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 b="1">
                <a:solidFill>
                  <a:srgbClr val="0F172A"/>
                </a:solidFill>
                <a:latin typeface="Arial"/>
                <a:cs typeface="Arial"/>
              </a:rPr>
              <a:t>Python</a:t>
            </a:r>
            <a:r>
              <a:rPr dirty="0" sz="1100" spc="-7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Documentation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Language</a:t>
            </a:r>
            <a:r>
              <a:rPr dirty="0" sz="950" spc="-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reference</a:t>
            </a:r>
            <a:r>
              <a:rPr dirty="0" sz="950" spc="-3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and</a:t>
            </a:r>
            <a:r>
              <a:rPr dirty="0" sz="950" spc="-3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standard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library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documentation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for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core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project logic.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9100" y="3040850"/>
            <a:ext cx="2567305" cy="1538605"/>
            <a:chOff x="469100" y="3040850"/>
            <a:chExt cx="2567305" cy="1538605"/>
          </a:xfrm>
        </p:grpSpPr>
        <p:sp>
          <p:nvSpPr>
            <p:cNvPr id="24" name="object 24"/>
            <p:cNvSpPr/>
            <p:nvPr/>
          </p:nvSpPr>
          <p:spPr>
            <a:xfrm>
              <a:off x="476250" y="3048000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2438399" y="1523999"/>
                  </a:move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76250" y="3048000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76249" y="3048000"/>
              <a:ext cx="2552700" cy="38100"/>
            </a:xfrm>
            <a:custGeom>
              <a:avLst/>
              <a:gdLst/>
              <a:ahLst/>
              <a:cxnLst/>
              <a:rect l="l" t="t" r="r" b="b"/>
              <a:pathLst>
                <a:path w="2552700" h="38100">
                  <a:moveTo>
                    <a:pt x="25336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538702" y="0"/>
                  </a:lnTo>
                  <a:lnTo>
                    <a:pt x="2543547" y="2006"/>
                  </a:lnTo>
                  <a:lnTo>
                    <a:pt x="2550692" y="9152"/>
                  </a:lnTo>
                  <a:lnTo>
                    <a:pt x="2552699" y="13997"/>
                  </a:lnTo>
                  <a:lnTo>
                    <a:pt x="2552699" y="19049"/>
                  </a:lnTo>
                  <a:lnTo>
                    <a:pt x="2551202" y="26465"/>
                  </a:lnTo>
                  <a:lnTo>
                    <a:pt x="2547120" y="32520"/>
                  </a:lnTo>
                  <a:lnTo>
                    <a:pt x="2541065" y="36602"/>
                  </a:lnTo>
                  <a:lnTo>
                    <a:pt x="2533649" y="380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85800" y="32385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5871" y="336775"/>
                  </a:lnTo>
                  <a:lnTo>
                    <a:pt x="84915" y="319491"/>
                  </a:lnTo>
                  <a:lnTo>
                    <a:pt x="50216" y="292683"/>
                  </a:lnTo>
                  <a:lnTo>
                    <a:pt x="23407" y="257983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2" y="257983"/>
                  </a:lnTo>
                  <a:lnTo>
                    <a:pt x="292683" y="292683"/>
                  </a:lnTo>
                  <a:lnTo>
                    <a:pt x="257984" y="319491"/>
                  </a:lnTo>
                  <a:lnTo>
                    <a:pt x="217028" y="336775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54050" y="3531148"/>
            <a:ext cx="2191385" cy="79375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 b="1">
                <a:solidFill>
                  <a:srgbClr val="0F172A"/>
                </a:solidFill>
                <a:latin typeface="Arial"/>
                <a:cs typeface="Arial"/>
              </a:rPr>
              <a:t>Relevant</a:t>
            </a:r>
            <a:r>
              <a:rPr dirty="0" sz="1100" spc="-5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Research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Peer-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reviewed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studies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on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ML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approaches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to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diabetes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and</a:t>
            </a:r>
            <a:r>
              <a:rPr dirty="0" sz="950" spc="-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disease-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risk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prediction</a:t>
            </a:r>
            <a:r>
              <a:rPr dirty="0" sz="950" spc="-6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(literature</a:t>
            </a:r>
            <a:r>
              <a:rPr dirty="0" sz="950" spc="-5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review).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288500" y="3040850"/>
            <a:ext cx="2567305" cy="1538605"/>
            <a:chOff x="3288500" y="3040850"/>
            <a:chExt cx="2567305" cy="1538605"/>
          </a:xfrm>
        </p:grpSpPr>
        <p:sp>
          <p:nvSpPr>
            <p:cNvPr id="30" name="object 30"/>
            <p:cNvSpPr/>
            <p:nvPr/>
          </p:nvSpPr>
          <p:spPr>
            <a:xfrm>
              <a:off x="3295650" y="3048000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2438399" y="1523999"/>
                  </a:move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295650" y="3048000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95650" y="3048000"/>
              <a:ext cx="2552700" cy="38100"/>
            </a:xfrm>
            <a:custGeom>
              <a:avLst/>
              <a:gdLst/>
              <a:ahLst/>
              <a:cxnLst/>
              <a:rect l="l" t="t" r="r" b="b"/>
              <a:pathLst>
                <a:path w="2552700" h="38100">
                  <a:moveTo>
                    <a:pt x="25336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538702" y="0"/>
                  </a:lnTo>
                  <a:lnTo>
                    <a:pt x="2543547" y="2006"/>
                  </a:lnTo>
                  <a:lnTo>
                    <a:pt x="2550692" y="9152"/>
                  </a:lnTo>
                  <a:lnTo>
                    <a:pt x="2552699" y="13997"/>
                  </a:lnTo>
                  <a:lnTo>
                    <a:pt x="2552699" y="19049"/>
                  </a:lnTo>
                  <a:lnTo>
                    <a:pt x="2551202" y="26465"/>
                  </a:lnTo>
                  <a:lnTo>
                    <a:pt x="2547120" y="32520"/>
                  </a:lnTo>
                  <a:lnTo>
                    <a:pt x="2541065" y="36602"/>
                  </a:lnTo>
                  <a:lnTo>
                    <a:pt x="2533649" y="380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505200" y="32385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5871" y="336775"/>
                  </a:lnTo>
                  <a:lnTo>
                    <a:pt x="84915" y="319491"/>
                  </a:lnTo>
                  <a:lnTo>
                    <a:pt x="50216" y="292683"/>
                  </a:lnTo>
                  <a:lnTo>
                    <a:pt x="23407" y="257983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1" y="257983"/>
                  </a:lnTo>
                  <a:lnTo>
                    <a:pt x="292683" y="292683"/>
                  </a:lnTo>
                  <a:lnTo>
                    <a:pt x="257983" y="319491"/>
                  </a:lnTo>
                  <a:lnTo>
                    <a:pt x="217028" y="336775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473450" y="3531148"/>
            <a:ext cx="2115185" cy="79375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 b="1">
                <a:solidFill>
                  <a:srgbClr val="0F172A"/>
                </a:solidFill>
                <a:latin typeface="Arial"/>
                <a:cs typeface="Arial"/>
              </a:rPr>
              <a:t>Streamlit</a:t>
            </a:r>
            <a:r>
              <a:rPr dirty="0" sz="1100" spc="-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Documentation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Used</a:t>
            </a:r>
            <a:r>
              <a:rPr dirty="0" sz="950" spc="-3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to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build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the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interactive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web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app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interface,</a:t>
            </a:r>
            <a:r>
              <a:rPr dirty="0" sz="950" spc="-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including</a:t>
            </a:r>
            <a:r>
              <a:rPr dirty="0" sz="950" spc="-4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inputs,</a:t>
            </a:r>
            <a:r>
              <a:rPr dirty="0" sz="950" spc="-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outputs,</a:t>
            </a:r>
            <a:r>
              <a:rPr dirty="0" sz="950" spc="-4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and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real-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time</a:t>
            </a:r>
            <a:r>
              <a:rPr dirty="0" sz="950" spc="-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result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 display.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107900" y="3040850"/>
            <a:ext cx="2567305" cy="1538605"/>
            <a:chOff x="6107900" y="3040850"/>
            <a:chExt cx="2567305" cy="1538605"/>
          </a:xfrm>
        </p:grpSpPr>
        <p:sp>
          <p:nvSpPr>
            <p:cNvPr id="36" name="object 36"/>
            <p:cNvSpPr/>
            <p:nvPr/>
          </p:nvSpPr>
          <p:spPr>
            <a:xfrm>
              <a:off x="6115050" y="3048000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2438399" y="1523999"/>
                  </a:move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115050" y="3048000"/>
              <a:ext cx="2552700" cy="1524000"/>
            </a:xfrm>
            <a:custGeom>
              <a:avLst/>
              <a:gdLst/>
              <a:ahLst/>
              <a:cxnLst/>
              <a:rect l="l" t="t" r="r" b="b"/>
              <a:pathLst>
                <a:path w="2552700" h="15240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438399" y="0"/>
                  </a:lnTo>
                  <a:lnTo>
                    <a:pt x="2482140" y="8700"/>
                  </a:lnTo>
                  <a:lnTo>
                    <a:pt x="2519222" y="33477"/>
                  </a:lnTo>
                  <a:lnTo>
                    <a:pt x="2543999" y="70559"/>
                  </a:lnTo>
                  <a:lnTo>
                    <a:pt x="2552699" y="114299"/>
                  </a:lnTo>
                  <a:lnTo>
                    <a:pt x="2552699" y="1409699"/>
                  </a:lnTo>
                  <a:lnTo>
                    <a:pt x="2543717" y="1454190"/>
                  </a:lnTo>
                  <a:lnTo>
                    <a:pt x="2519222" y="1490522"/>
                  </a:lnTo>
                  <a:lnTo>
                    <a:pt x="2482890" y="1515017"/>
                  </a:lnTo>
                  <a:lnTo>
                    <a:pt x="2438399" y="1523999"/>
                  </a:lnTo>
                  <a:lnTo>
                    <a:pt x="114299" y="1523999"/>
                  </a:lnTo>
                  <a:lnTo>
                    <a:pt x="69809" y="1515017"/>
                  </a:lnTo>
                  <a:lnTo>
                    <a:pt x="33477" y="1490522"/>
                  </a:lnTo>
                  <a:lnTo>
                    <a:pt x="8982" y="1454190"/>
                  </a:lnTo>
                  <a:lnTo>
                    <a:pt x="0" y="1409699"/>
                  </a:lnTo>
                  <a:lnTo>
                    <a:pt x="0" y="114299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115050" y="3048000"/>
              <a:ext cx="2552700" cy="38100"/>
            </a:xfrm>
            <a:custGeom>
              <a:avLst/>
              <a:gdLst/>
              <a:ahLst/>
              <a:cxnLst/>
              <a:rect l="l" t="t" r="r" b="b"/>
              <a:pathLst>
                <a:path w="2552700" h="38100">
                  <a:moveTo>
                    <a:pt x="25336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538702" y="0"/>
                  </a:lnTo>
                  <a:lnTo>
                    <a:pt x="2543547" y="2006"/>
                  </a:lnTo>
                  <a:lnTo>
                    <a:pt x="2550692" y="9152"/>
                  </a:lnTo>
                  <a:lnTo>
                    <a:pt x="2552699" y="13997"/>
                  </a:lnTo>
                  <a:lnTo>
                    <a:pt x="2552699" y="19049"/>
                  </a:lnTo>
                  <a:lnTo>
                    <a:pt x="2551202" y="26465"/>
                  </a:lnTo>
                  <a:lnTo>
                    <a:pt x="2547120" y="32520"/>
                  </a:lnTo>
                  <a:lnTo>
                    <a:pt x="2541065" y="36602"/>
                  </a:lnTo>
                  <a:lnTo>
                    <a:pt x="2533649" y="380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324600" y="32385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5871" y="336775"/>
                  </a:lnTo>
                  <a:lnTo>
                    <a:pt x="84915" y="319491"/>
                  </a:lnTo>
                  <a:lnTo>
                    <a:pt x="50216" y="292683"/>
                  </a:lnTo>
                  <a:lnTo>
                    <a:pt x="23407" y="257983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1" y="257983"/>
                  </a:lnTo>
                  <a:lnTo>
                    <a:pt x="292683" y="292683"/>
                  </a:lnTo>
                  <a:lnTo>
                    <a:pt x="257983" y="319491"/>
                  </a:lnTo>
                  <a:lnTo>
                    <a:pt x="217028" y="336775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292850" y="3531148"/>
            <a:ext cx="2169795" cy="79375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 b="1">
                <a:solidFill>
                  <a:srgbClr val="0F172A"/>
                </a:solidFill>
                <a:latin typeface="Arial"/>
                <a:cs typeface="Arial"/>
              </a:rPr>
              <a:t>Pandas</a:t>
            </a:r>
            <a:r>
              <a:rPr dirty="0" sz="1100" spc="-7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F172A"/>
                </a:solidFill>
                <a:latin typeface="Arial"/>
                <a:cs typeface="Arial"/>
              </a:rPr>
              <a:t>Documentation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Used</a:t>
            </a:r>
            <a:r>
              <a:rPr dirty="0" sz="9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for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data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loading,</a:t>
            </a:r>
            <a:r>
              <a:rPr dirty="0" sz="950" spc="-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cleaning, preprocessing,</a:t>
            </a:r>
            <a:r>
              <a:rPr dirty="0" sz="950" spc="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and</a:t>
            </a:r>
            <a:r>
              <a:rPr dirty="0" sz="950" spc="1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tabular</a:t>
            </a:r>
            <a:r>
              <a:rPr dirty="0" sz="950" spc="2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manipulation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throughout</a:t>
            </a:r>
            <a:r>
              <a:rPr dirty="0" sz="950" spc="-3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4738B"/>
                </a:solidFill>
                <a:latin typeface="Arial MT"/>
                <a:cs typeface="Arial MT"/>
              </a:rPr>
              <a:t>the</a:t>
            </a:r>
            <a:r>
              <a:rPr dirty="0" sz="950" spc="-3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4738B"/>
                </a:solidFill>
                <a:latin typeface="Arial MT"/>
                <a:cs typeface="Arial MT"/>
              </a:rPr>
              <a:t>project.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92783" y="4771898"/>
            <a:ext cx="387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94A3B8"/>
                </a:solidFill>
                <a:latin typeface="Arial MT"/>
                <a:cs typeface="Arial MT"/>
              </a:rPr>
              <a:t>Page</a:t>
            </a:r>
            <a:r>
              <a:rPr dirty="0" sz="900" spc="-20">
                <a:solidFill>
                  <a:srgbClr val="94A3B8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9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1626" y="1518487"/>
            <a:ext cx="7213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D9487"/>
                </a:solidFill>
                <a:latin typeface="Arial"/>
                <a:cs typeface="Arial"/>
              </a:rPr>
              <a:t>GLUCOSCAN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solidFill>
                  <a:srgbClr val="0F172A"/>
                </a:solidFill>
                <a:latin typeface="Arial"/>
                <a:cs typeface="Arial"/>
              </a:rPr>
              <a:t>Thank</a:t>
            </a:r>
            <a:r>
              <a:rPr dirty="0" sz="4400" spc="-23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4400" spc="-40" b="1">
                <a:solidFill>
                  <a:srgbClr val="0F172A"/>
                </a:solidFill>
                <a:latin typeface="Arial"/>
                <a:cs typeface="Arial"/>
              </a:rPr>
              <a:t>You!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0917" y="2699030"/>
            <a:ext cx="2580640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D9487"/>
                </a:solidFill>
                <a:latin typeface="Arial"/>
                <a:cs typeface="Arial"/>
              </a:rPr>
              <a:t>Questions</a:t>
            </a:r>
            <a:r>
              <a:rPr dirty="0" sz="1500" spc="-35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D9487"/>
                </a:solidFill>
                <a:latin typeface="Arial"/>
                <a:cs typeface="Arial"/>
              </a:rPr>
              <a:t>&amp;</a:t>
            </a:r>
            <a:r>
              <a:rPr dirty="0" sz="1500" spc="-30" b="1">
                <a:solidFill>
                  <a:srgbClr val="0D948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D9487"/>
                </a:solidFill>
                <a:latin typeface="Arial"/>
                <a:cs typeface="Arial"/>
              </a:rPr>
              <a:t>Discussion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75"/>
              </a:spcBef>
            </a:pPr>
            <a:r>
              <a:rPr dirty="0" sz="1050" spc="-10">
                <a:solidFill>
                  <a:srgbClr val="64738B"/>
                </a:solidFill>
                <a:latin typeface="Arial MT"/>
                <a:cs typeface="Arial MT"/>
              </a:rPr>
              <a:t>AI-</a:t>
            </a:r>
            <a:r>
              <a:rPr dirty="0" sz="1050">
                <a:solidFill>
                  <a:srgbClr val="64738B"/>
                </a:solidFill>
                <a:latin typeface="Arial MT"/>
                <a:cs typeface="Arial MT"/>
              </a:rPr>
              <a:t>Driven</a:t>
            </a:r>
            <a:r>
              <a:rPr dirty="0" sz="1050" spc="-4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4738B"/>
                </a:solidFill>
                <a:latin typeface="Arial MT"/>
                <a:cs typeface="Arial MT"/>
              </a:rPr>
              <a:t>Diabetes</a:t>
            </a:r>
            <a:r>
              <a:rPr dirty="0" sz="10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64738B"/>
                </a:solidFill>
                <a:latin typeface="Arial MT"/>
                <a:cs typeface="Arial MT"/>
              </a:rPr>
              <a:t>Risk</a:t>
            </a:r>
            <a:r>
              <a:rPr dirty="0" sz="1050" spc="-6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64738B"/>
                </a:solidFill>
                <a:latin typeface="Arial MT"/>
                <a:cs typeface="Arial MT"/>
              </a:rPr>
              <a:t>Assessment</a:t>
            </a:r>
            <a:r>
              <a:rPr dirty="0" sz="1050" spc="-25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64738B"/>
                </a:solidFill>
                <a:latin typeface="Arial MT"/>
                <a:cs typeface="Arial MT"/>
              </a:rPr>
              <a:t>Portal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81500" y="3476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6820" y="375968"/>
                </a:lnTo>
                <a:lnTo>
                  <a:pt x="106723" y="361637"/>
                </a:lnTo>
                <a:lnTo>
                  <a:pt x="71352" y="339149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lnTo>
                  <a:pt x="5031" y="146820"/>
                </a:lnTo>
                <a:lnTo>
                  <a:pt x="19362" y="106723"/>
                </a:lnTo>
                <a:lnTo>
                  <a:pt x="41850" y="71352"/>
                </a:lnTo>
                <a:lnTo>
                  <a:pt x="71352" y="41850"/>
                </a:lnTo>
                <a:lnTo>
                  <a:pt x="106723" y="19362"/>
                </a:lnTo>
                <a:lnTo>
                  <a:pt x="146820" y="5031"/>
                </a:lnTo>
                <a:lnTo>
                  <a:pt x="190499" y="0"/>
                </a:lnTo>
                <a:lnTo>
                  <a:pt x="227838" y="3694"/>
                </a:lnTo>
                <a:lnTo>
                  <a:pt x="296189" y="32006"/>
                </a:lnTo>
                <a:lnTo>
                  <a:pt x="348993" y="84810"/>
                </a:lnTo>
                <a:lnTo>
                  <a:pt x="377305" y="153161"/>
                </a:lnTo>
                <a:lnTo>
                  <a:pt x="380999" y="190499"/>
                </a:lnTo>
                <a:lnTo>
                  <a:pt x="375968" y="234179"/>
                </a:lnTo>
                <a:lnTo>
                  <a:pt x="361637" y="274276"/>
                </a:lnTo>
                <a:lnTo>
                  <a:pt x="339149" y="309647"/>
                </a:lnTo>
                <a:lnTo>
                  <a:pt x="309647" y="339149"/>
                </a:lnTo>
                <a:lnTo>
                  <a:pt x="274276" y="361637"/>
                </a:lnTo>
                <a:lnTo>
                  <a:pt x="234179" y="375968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2026-10-01T07:54:01Z</dcterms:created>
  <dcterms:modified xsi:type="dcterms:W3CDTF">2026-10-01T07:54:01Z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2026-10-01T00:00:00Z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2026-10-01T00:00:00Z</vt:filetime>
  </property>
</Properties>
</file>